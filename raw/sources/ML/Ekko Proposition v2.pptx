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9" r:id="rId1"/>
    <p:sldMasterId id="2147483903" r:id="rId2"/>
    <p:sldMasterId id="2147483905" r:id="rId3"/>
  </p:sldMasterIdLst>
  <p:notesMasterIdLst>
    <p:notesMasterId r:id="rId27"/>
  </p:notesMasterIdLst>
  <p:sldIdLst>
    <p:sldId id="2072" r:id="rId4"/>
    <p:sldId id="2302" r:id="rId5"/>
    <p:sldId id="2113" r:id="rId6"/>
    <p:sldId id="2268" r:id="rId7"/>
    <p:sldId id="2269" r:id="rId8"/>
    <p:sldId id="2270" r:id="rId9"/>
    <p:sldId id="2271" r:id="rId10"/>
    <p:sldId id="2249" r:id="rId11"/>
    <p:sldId id="2248" r:id="rId12"/>
    <p:sldId id="2262" r:id="rId13"/>
    <p:sldId id="2256" r:id="rId14"/>
    <p:sldId id="2263" r:id="rId15"/>
    <p:sldId id="2264" r:id="rId16"/>
    <p:sldId id="2257" r:id="rId17"/>
    <p:sldId id="2265" r:id="rId18"/>
    <p:sldId id="2259" r:id="rId19"/>
    <p:sldId id="2260" r:id="rId20"/>
    <p:sldId id="2252" r:id="rId21"/>
    <p:sldId id="2267" r:id="rId22"/>
    <p:sldId id="2255" r:id="rId23"/>
    <p:sldId id="2250" r:id="rId24"/>
    <p:sldId id="2185" r:id="rId25"/>
    <p:sldId id="2254" r:id="rId26"/>
  </p:sldIdLst>
  <p:sldSz cx="9906000" cy="6858000" type="A4"/>
  <p:notesSz cx="6858000" cy="9144000"/>
  <p:defaultTextStyle>
    <a:defPPr>
      <a:defRPr lang="en-US"/>
    </a:defPPr>
    <a:lvl1pPr marL="0" algn="l" defTabSz="957608" rtl="0" eaLnBrk="1" latinLnBrk="0" hangingPunct="1">
      <a:defRPr sz="1886" kern="1200">
        <a:solidFill>
          <a:schemeClr val="tx1"/>
        </a:solidFill>
        <a:latin typeface="+mn-lt"/>
        <a:ea typeface="+mn-ea"/>
        <a:cs typeface="+mn-cs"/>
      </a:defRPr>
    </a:lvl1pPr>
    <a:lvl2pPr marL="478803" algn="l" defTabSz="957608" rtl="0" eaLnBrk="1" latinLnBrk="0" hangingPunct="1">
      <a:defRPr sz="1886" kern="1200">
        <a:solidFill>
          <a:schemeClr val="tx1"/>
        </a:solidFill>
        <a:latin typeface="+mn-lt"/>
        <a:ea typeface="+mn-ea"/>
        <a:cs typeface="+mn-cs"/>
      </a:defRPr>
    </a:lvl2pPr>
    <a:lvl3pPr marL="957608" algn="l" defTabSz="957608" rtl="0" eaLnBrk="1" latinLnBrk="0" hangingPunct="1">
      <a:defRPr sz="1886" kern="1200">
        <a:solidFill>
          <a:schemeClr val="tx1"/>
        </a:solidFill>
        <a:latin typeface="+mn-lt"/>
        <a:ea typeface="+mn-ea"/>
        <a:cs typeface="+mn-cs"/>
      </a:defRPr>
    </a:lvl3pPr>
    <a:lvl4pPr marL="1436412" algn="l" defTabSz="957608" rtl="0" eaLnBrk="1" latinLnBrk="0" hangingPunct="1">
      <a:defRPr sz="1886" kern="1200">
        <a:solidFill>
          <a:schemeClr val="tx1"/>
        </a:solidFill>
        <a:latin typeface="+mn-lt"/>
        <a:ea typeface="+mn-ea"/>
        <a:cs typeface="+mn-cs"/>
      </a:defRPr>
    </a:lvl4pPr>
    <a:lvl5pPr marL="1915215" algn="l" defTabSz="957608" rtl="0" eaLnBrk="1" latinLnBrk="0" hangingPunct="1">
      <a:defRPr sz="1886" kern="1200">
        <a:solidFill>
          <a:schemeClr val="tx1"/>
        </a:solidFill>
        <a:latin typeface="+mn-lt"/>
        <a:ea typeface="+mn-ea"/>
        <a:cs typeface="+mn-cs"/>
      </a:defRPr>
    </a:lvl5pPr>
    <a:lvl6pPr marL="2394021" algn="l" defTabSz="957608" rtl="0" eaLnBrk="1" latinLnBrk="0" hangingPunct="1">
      <a:defRPr sz="1886" kern="1200">
        <a:solidFill>
          <a:schemeClr val="tx1"/>
        </a:solidFill>
        <a:latin typeface="+mn-lt"/>
        <a:ea typeface="+mn-ea"/>
        <a:cs typeface="+mn-cs"/>
      </a:defRPr>
    </a:lvl6pPr>
    <a:lvl7pPr marL="2872824" algn="l" defTabSz="957608" rtl="0" eaLnBrk="1" latinLnBrk="0" hangingPunct="1">
      <a:defRPr sz="1886" kern="1200">
        <a:solidFill>
          <a:schemeClr val="tx1"/>
        </a:solidFill>
        <a:latin typeface="+mn-lt"/>
        <a:ea typeface="+mn-ea"/>
        <a:cs typeface="+mn-cs"/>
      </a:defRPr>
    </a:lvl7pPr>
    <a:lvl8pPr marL="3351629" algn="l" defTabSz="957608" rtl="0" eaLnBrk="1" latinLnBrk="0" hangingPunct="1">
      <a:defRPr sz="1886" kern="1200">
        <a:solidFill>
          <a:schemeClr val="tx1"/>
        </a:solidFill>
        <a:latin typeface="+mn-lt"/>
        <a:ea typeface="+mn-ea"/>
        <a:cs typeface="+mn-cs"/>
      </a:defRPr>
    </a:lvl8pPr>
    <a:lvl9pPr marL="3830431" algn="l" defTabSz="957608" rtl="0" eaLnBrk="1" latinLnBrk="0" hangingPunct="1">
      <a:defRPr sz="188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56" userDrawn="1">
          <p15:clr>
            <a:srgbClr val="A4A3A4"/>
          </p15:clr>
        </p15:guide>
        <p15:guide id="2" orient="horz" pos="210" userDrawn="1">
          <p15:clr>
            <a:srgbClr val="A4A3A4"/>
          </p15:clr>
        </p15:guide>
        <p15:guide id="3" pos="5792" userDrawn="1">
          <p15:clr>
            <a:srgbClr val="A4A3A4"/>
          </p15:clr>
        </p15:guide>
        <p15:guide id="4" pos="447" userDrawn="1">
          <p15:clr>
            <a:srgbClr val="A4A3A4"/>
          </p15:clr>
        </p15:guide>
        <p15:guide id="5" pos="31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2033"/>
    <a:srgbClr val="283655"/>
    <a:srgbClr val="1C263E"/>
    <a:srgbClr val="182028"/>
    <a:srgbClr val="2C3550"/>
    <a:srgbClr val="12141E"/>
    <a:srgbClr val="2A3957"/>
    <a:srgbClr val="2750F0"/>
    <a:srgbClr val="19D3F0"/>
    <a:srgbClr val="FF421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89" autoAdjust="0"/>
    <p:restoredTop sz="95400" autoAdjust="0"/>
  </p:normalViewPr>
  <p:slideViewPr>
    <p:cSldViewPr snapToGrid="0" snapToObjects="1">
      <p:cViewPr varScale="1">
        <p:scale>
          <a:sx n="105" d="100"/>
          <a:sy n="105" d="100"/>
        </p:scale>
        <p:origin x="360" y="184"/>
      </p:cViewPr>
      <p:guideLst>
        <p:guide orient="horz" pos="4056"/>
        <p:guide orient="horz" pos="210"/>
        <p:guide pos="5792"/>
        <p:guide pos="447"/>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17864"/>
    </p:cViewPr>
  </p:sorter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71C09D-A141-6C4B-AB96-4DFDAE77D827}" type="doc">
      <dgm:prSet loTypeId="urn:microsoft.com/office/officeart/2005/8/layout/orgChart1" loCatId="" qsTypeId="urn:microsoft.com/office/officeart/2005/8/quickstyle/simple1" qsCatId="simple" csTypeId="urn:microsoft.com/office/officeart/2005/8/colors/accent1_2" csCatId="accent1" phldr="1"/>
      <dgm:spPr/>
      <dgm:t>
        <a:bodyPr/>
        <a:lstStyle/>
        <a:p>
          <a:endParaRPr lang="en-US"/>
        </a:p>
      </dgm:t>
    </dgm:pt>
    <dgm:pt modelId="{579FE4E4-6679-BB4A-B2C4-2FF047D60B92}">
      <dgm:prSet phldrT="[Text]"/>
      <dgm:spPr>
        <a:noFill/>
        <a:ln>
          <a:solidFill>
            <a:schemeClr val="bg1">
              <a:lumMod val="75000"/>
            </a:schemeClr>
          </a:solidFill>
        </a:ln>
      </dgm:spPr>
      <dgm:t>
        <a:bodyPr/>
        <a:lstStyle/>
        <a:p>
          <a:r>
            <a:rPr lang="en-US" dirty="0" err="1">
              <a:solidFill>
                <a:schemeClr val="accent1"/>
              </a:solidFill>
            </a:rPr>
            <a:t>daisee</a:t>
          </a:r>
          <a:endParaRPr lang="en-US" dirty="0">
            <a:solidFill>
              <a:schemeClr val="accent1"/>
            </a:solidFill>
          </a:endParaRPr>
        </a:p>
      </dgm:t>
    </dgm:pt>
    <dgm:pt modelId="{BD6AA2D9-01A0-9B44-91E2-11DC3705EA4E}" type="parTrans" cxnId="{57C043D6-F82B-954D-ADDE-FE61CA97440C}">
      <dgm:prSet/>
      <dgm:spPr/>
      <dgm:t>
        <a:bodyPr/>
        <a:lstStyle/>
        <a:p>
          <a:endParaRPr lang="en-US"/>
        </a:p>
      </dgm:t>
    </dgm:pt>
    <dgm:pt modelId="{3DE7DF6F-EA03-7447-B870-5A5F4635B417}" type="sibTrans" cxnId="{57C043D6-F82B-954D-ADDE-FE61CA97440C}">
      <dgm:prSet/>
      <dgm:spPr/>
      <dgm:t>
        <a:bodyPr/>
        <a:lstStyle/>
        <a:p>
          <a:endParaRPr lang="en-US"/>
        </a:p>
      </dgm:t>
    </dgm:pt>
    <dgm:pt modelId="{9DED64CC-1D3B-E34B-977B-7C0011187489}">
      <dgm:prSet/>
      <dgm:spPr>
        <a:solidFill>
          <a:schemeClr val="accent3">
            <a:lumMod val="20000"/>
            <a:lumOff val="80000"/>
          </a:schemeClr>
        </a:solidFill>
      </dgm:spPr>
      <dgm:t>
        <a:bodyPr/>
        <a:lstStyle/>
        <a:p>
          <a:r>
            <a:rPr lang="en-US" dirty="0">
              <a:solidFill>
                <a:schemeClr val="tx1"/>
              </a:solidFill>
            </a:rPr>
            <a:t>Listen</a:t>
          </a:r>
        </a:p>
      </dgm:t>
    </dgm:pt>
    <dgm:pt modelId="{D9A477B7-C4D1-974C-9303-FB2315039450}" type="parTrans" cxnId="{B3FF2AF8-EDF1-3547-B0D6-82C7B9A1C1E9}">
      <dgm:prSet/>
      <dgm:spPr/>
      <dgm:t>
        <a:bodyPr/>
        <a:lstStyle/>
        <a:p>
          <a:endParaRPr lang="en-US"/>
        </a:p>
      </dgm:t>
    </dgm:pt>
    <dgm:pt modelId="{7C49E94E-7D04-2E4B-B5E5-6065198B0CEF}" type="sibTrans" cxnId="{B3FF2AF8-EDF1-3547-B0D6-82C7B9A1C1E9}">
      <dgm:prSet/>
      <dgm:spPr/>
      <dgm:t>
        <a:bodyPr/>
        <a:lstStyle/>
        <a:p>
          <a:endParaRPr lang="en-US"/>
        </a:p>
      </dgm:t>
    </dgm:pt>
    <dgm:pt modelId="{327B0858-1A6B-CD44-BECE-3ECAA100045D}">
      <dgm:prSet/>
      <dgm:spPr>
        <a:noFill/>
        <a:ln>
          <a:solidFill>
            <a:schemeClr val="bg1">
              <a:lumMod val="75000"/>
            </a:schemeClr>
          </a:solidFill>
        </a:ln>
      </dgm:spPr>
      <dgm:t>
        <a:bodyPr/>
        <a:lstStyle/>
        <a:p>
          <a:pPr>
            <a:lnSpc>
              <a:spcPct val="100000"/>
            </a:lnSpc>
          </a:pPr>
          <a:r>
            <a:rPr lang="en-US" dirty="0">
              <a:solidFill>
                <a:schemeClr val="accent1"/>
              </a:solidFill>
            </a:rPr>
            <a:t>Medical Diagnosis</a:t>
          </a:r>
        </a:p>
      </dgm:t>
    </dgm:pt>
    <dgm:pt modelId="{3071E72B-23DF-6B40-BF86-28427CBAF4D3}" type="parTrans" cxnId="{92BE614E-77A4-E24B-B9F1-9C88B7E39897}">
      <dgm:prSet/>
      <dgm:spPr/>
      <dgm:t>
        <a:bodyPr/>
        <a:lstStyle/>
        <a:p>
          <a:endParaRPr lang="en-US"/>
        </a:p>
      </dgm:t>
    </dgm:pt>
    <dgm:pt modelId="{41A50389-C0BC-544E-9377-35665266FEC8}" type="sibTrans" cxnId="{92BE614E-77A4-E24B-B9F1-9C88B7E39897}">
      <dgm:prSet/>
      <dgm:spPr/>
      <dgm:t>
        <a:bodyPr/>
        <a:lstStyle/>
        <a:p>
          <a:endParaRPr lang="en-US"/>
        </a:p>
      </dgm:t>
    </dgm:pt>
    <dgm:pt modelId="{0896253A-7272-D342-8E41-5C7CAA02F24A}">
      <dgm:prSet/>
      <dgm:spPr>
        <a:solidFill>
          <a:schemeClr val="accent3">
            <a:lumMod val="60000"/>
            <a:lumOff val="40000"/>
          </a:schemeClr>
        </a:solidFill>
      </dgm:spPr>
      <dgm:t>
        <a:bodyPr/>
        <a:lstStyle/>
        <a:p>
          <a:r>
            <a:rPr lang="en-US" dirty="0"/>
            <a:t>Compliance</a:t>
          </a:r>
        </a:p>
      </dgm:t>
    </dgm:pt>
    <dgm:pt modelId="{178202DA-6F1A-584B-9045-85629663C3F1}" type="parTrans" cxnId="{2C7E2D71-D56B-AA4B-BEE5-31878C776C5D}">
      <dgm:prSet/>
      <dgm:spPr/>
      <dgm:t>
        <a:bodyPr/>
        <a:lstStyle/>
        <a:p>
          <a:endParaRPr lang="en-US"/>
        </a:p>
      </dgm:t>
    </dgm:pt>
    <dgm:pt modelId="{A15508C3-1212-CC43-9064-CAB178BE8236}" type="sibTrans" cxnId="{2C7E2D71-D56B-AA4B-BEE5-31878C776C5D}">
      <dgm:prSet/>
      <dgm:spPr/>
      <dgm:t>
        <a:bodyPr/>
        <a:lstStyle/>
        <a:p>
          <a:endParaRPr lang="en-US"/>
        </a:p>
      </dgm:t>
    </dgm:pt>
    <dgm:pt modelId="{B028DEAC-E8DD-7449-AC03-586E3B71E9A7}">
      <dgm:prSet/>
      <dgm:spPr>
        <a:solidFill>
          <a:schemeClr val="accent3">
            <a:lumMod val="60000"/>
            <a:lumOff val="40000"/>
          </a:schemeClr>
        </a:solidFill>
      </dgm:spPr>
      <dgm:t>
        <a:bodyPr/>
        <a:lstStyle/>
        <a:p>
          <a:r>
            <a:rPr lang="en-US" dirty="0"/>
            <a:t>Performance</a:t>
          </a:r>
        </a:p>
      </dgm:t>
    </dgm:pt>
    <dgm:pt modelId="{CC007B1D-BB53-834B-9CF1-C65726C1BA04}" type="parTrans" cxnId="{F940D594-855A-E24E-B5B5-F69673F0C91F}">
      <dgm:prSet/>
      <dgm:spPr/>
      <dgm:t>
        <a:bodyPr/>
        <a:lstStyle/>
        <a:p>
          <a:endParaRPr lang="en-US"/>
        </a:p>
      </dgm:t>
    </dgm:pt>
    <dgm:pt modelId="{27479ED3-D369-8440-97E4-1FECE65FBE8F}" type="sibTrans" cxnId="{F940D594-855A-E24E-B5B5-F69673F0C91F}">
      <dgm:prSet/>
      <dgm:spPr/>
      <dgm:t>
        <a:bodyPr/>
        <a:lstStyle/>
        <a:p>
          <a:endParaRPr lang="en-US"/>
        </a:p>
      </dgm:t>
    </dgm:pt>
    <dgm:pt modelId="{735AC0E8-F75C-E341-97C6-74AF0F1029C3}">
      <dgm:prSet/>
      <dgm:spPr>
        <a:solidFill>
          <a:schemeClr val="accent3">
            <a:lumMod val="60000"/>
            <a:lumOff val="40000"/>
          </a:schemeClr>
        </a:solidFill>
      </dgm:spPr>
      <dgm:t>
        <a:bodyPr/>
        <a:lstStyle/>
        <a:p>
          <a:r>
            <a:rPr lang="en-US" dirty="0"/>
            <a:t>Experience</a:t>
          </a:r>
        </a:p>
      </dgm:t>
    </dgm:pt>
    <dgm:pt modelId="{D0D07BAF-478C-F843-A29C-EFC96C82967C}" type="parTrans" cxnId="{58DC2C63-C0A3-7440-AEF0-53F461C5A633}">
      <dgm:prSet/>
      <dgm:spPr/>
      <dgm:t>
        <a:bodyPr/>
        <a:lstStyle/>
        <a:p>
          <a:endParaRPr lang="en-US"/>
        </a:p>
      </dgm:t>
    </dgm:pt>
    <dgm:pt modelId="{B2AA2BFA-14A1-E241-BB81-9512FA7B39AD}" type="sibTrans" cxnId="{58DC2C63-C0A3-7440-AEF0-53F461C5A633}">
      <dgm:prSet/>
      <dgm:spPr/>
      <dgm:t>
        <a:bodyPr/>
        <a:lstStyle/>
        <a:p>
          <a:endParaRPr lang="en-US"/>
        </a:p>
      </dgm:t>
    </dgm:pt>
    <dgm:pt modelId="{AD3C75A5-2775-B846-8A2C-752088ACDCE0}">
      <dgm:prSet custT="1"/>
      <dgm:spPr>
        <a:solidFill>
          <a:schemeClr val="accent3">
            <a:lumMod val="50000"/>
          </a:schemeClr>
        </a:solidFill>
      </dgm:spPr>
      <dgm:t>
        <a:bodyPr/>
        <a:lstStyle/>
        <a:p>
          <a:r>
            <a:rPr lang="en-US" sz="1000" dirty="0"/>
            <a:t>Beginner</a:t>
          </a:r>
        </a:p>
      </dgm:t>
    </dgm:pt>
    <dgm:pt modelId="{B10E7333-5B45-654C-8B25-29F02A22A46A}" type="parTrans" cxnId="{1B2C61B1-66B3-3F46-8891-5BEF6A588E70}">
      <dgm:prSet/>
      <dgm:spPr/>
      <dgm:t>
        <a:bodyPr/>
        <a:lstStyle/>
        <a:p>
          <a:endParaRPr lang="en-US"/>
        </a:p>
      </dgm:t>
    </dgm:pt>
    <dgm:pt modelId="{863A096F-EB40-2148-BBDF-D114C2F83314}" type="sibTrans" cxnId="{1B2C61B1-66B3-3F46-8891-5BEF6A588E70}">
      <dgm:prSet/>
      <dgm:spPr/>
      <dgm:t>
        <a:bodyPr/>
        <a:lstStyle/>
        <a:p>
          <a:endParaRPr lang="en-US"/>
        </a:p>
      </dgm:t>
    </dgm:pt>
    <dgm:pt modelId="{BE41ECE8-2796-BF48-B09C-2987580C85DD}">
      <dgm:prSet custT="1"/>
      <dgm:spPr>
        <a:solidFill>
          <a:schemeClr val="accent3">
            <a:lumMod val="50000"/>
          </a:schemeClr>
        </a:solidFill>
      </dgm:spPr>
      <dgm:t>
        <a:bodyPr/>
        <a:lstStyle/>
        <a:p>
          <a:r>
            <a:rPr lang="en-US" sz="1000" dirty="0"/>
            <a:t>Intermediate</a:t>
          </a:r>
        </a:p>
      </dgm:t>
    </dgm:pt>
    <dgm:pt modelId="{0FB4303F-5633-3A41-91B9-CF9221CB14CE}" type="parTrans" cxnId="{F50C01E4-CD1F-0D45-97D2-0A5C3A542E70}">
      <dgm:prSet/>
      <dgm:spPr/>
      <dgm:t>
        <a:bodyPr/>
        <a:lstStyle/>
        <a:p>
          <a:endParaRPr lang="en-US"/>
        </a:p>
      </dgm:t>
    </dgm:pt>
    <dgm:pt modelId="{3CEC529D-5144-5C46-980C-389333CA1AD1}" type="sibTrans" cxnId="{F50C01E4-CD1F-0D45-97D2-0A5C3A542E70}">
      <dgm:prSet/>
      <dgm:spPr/>
      <dgm:t>
        <a:bodyPr/>
        <a:lstStyle/>
        <a:p>
          <a:endParaRPr lang="en-US"/>
        </a:p>
      </dgm:t>
    </dgm:pt>
    <dgm:pt modelId="{7B1B646D-65BD-3241-BB57-962DCAE8F9D5}">
      <dgm:prSet custT="1"/>
      <dgm:spPr>
        <a:solidFill>
          <a:schemeClr val="accent3">
            <a:lumMod val="50000"/>
          </a:schemeClr>
        </a:solidFill>
      </dgm:spPr>
      <dgm:t>
        <a:bodyPr/>
        <a:lstStyle/>
        <a:p>
          <a:r>
            <a:rPr lang="en-US" sz="1000" dirty="0"/>
            <a:t>Advanced</a:t>
          </a:r>
        </a:p>
      </dgm:t>
    </dgm:pt>
    <dgm:pt modelId="{F711EDD3-183E-B34C-9F40-AC4E2B8C2A5C}" type="parTrans" cxnId="{BB833F19-146F-BD4D-86FF-DF87AD4D24DE}">
      <dgm:prSet/>
      <dgm:spPr/>
      <dgm:t>
        <a:bodyPr/>
        <a:lstStyle/>
        <a:p>
          <a:endParaRPr lang="en-US"/>
        </a:p>
      </dgm:t>
    </dgm:pt>
    <dgm:pt modelId="{2920DB70-1C57-0B4F-B3CB-A39228D07287}" type="sibTrans" cxnId="{BB833F19-146F-BD4D-86FF-DF87AD4D24DE}">
      <dgm:prSet/>
      <dgm:spPr/>
      <dgm:t>
        <a:bodyPr/>
        <a:lstStyle/>
        <a:p>
          <a:endParaRPr lang="en-US"/>
        </a:p>
      </dgm:t>
    </dgm:pt>
    <dgm:pt modelId="{ED71514A-A1AF-3643-834D-CF068C3ED064}">
      <dgm:prSet custT="1"/>
      <dgm:spPr>
        <a:solidFill>
          <a:schemeClr val="accent3">
            <a:lumMod val="50000"/>
          </a:schemeClr>
        </a:solidFill>
      </dgm:spPr>
      <dgm:t>
        <a:bodyPr/>
        <a:lstStyle/>
        <a:p>
          <a:r>
            <a:rPr lang="en-US" sz="1000" dirty="0"/>
            <a:t>Beginner</a:t>
          </a:r>
        </a:p>
      </dgm:t>
    </dgm:pt>
    <dgm:pt modelId="{044D4A22-6891-0046-B2D3-E81264901B33}" type="parTrans" cxnId="{903252D2-E554-284D-BB25-DA4EA960D24B}">
      <dgm:prSet/>
      <dgm:spPr/>
      <dgm:t>
        <a:bodyPr/>
        <a:lstStyle/>
        <a:p>
          <a:endParaRPr lang="en-US"/>
        </a:p>
      </dgm:t>
    </dgm:pt>
    <dgm:pt modelId="{5AB052F6-68A1-D14A-BBD0-7DDDDCD16918}" type="sibTrans" cxnId="{903252D2-E554-284D-BB25-DA4EA960D24B}">
      <dgm:prSet/>
      <dgm:spPr/>
      <dgm:t>
        <a:bodyPr/>
        <a:lstStyle/>
        <a:p>
          <a:endParaRPr lang="en-US"/>
        </a:p>
      </dgm:t>
    </dgm:pt>
    <dgm:pt modelId="{02CF91FF-8656-254A-8AC9-0FE57B50D85E}">
      <dgm:prSet custT="1"/>
      <dgm:spPr>
        <a:solidFill>
          <a:schemeClr val="accent3">
            <a:lumMod val="50000"/>
          </a:schemeClr>
        </a:solidFill>
      </dgm:spPr>
      <dgm:t>
        <a:bodyPr/>
        <a:lstStyle/>
        <a:p>
          <a:r>
            <a:rPr lang="en-US" sz="1000" dirty="0"/>
            <a:t>Intermediate</a:t>
          </a:r>
        </a:p>
      </dgm:t>
    </dgm:pt>
    <dgm:pt modelId="{D261179D-3CF5-E441-A994-00B081C9650B}" type="parTrans" cxnId="{82857A3F-D726-3643-AE48-0B53DC2BCBEB}">
      <dgm:prSet/>
      <dgm:spPr/>
      <dgm:t>
        <a:bodyPr/>
        <a:lstStyle/>
        <a:p>
          <a:endParaRPr lang="en-US"/>
        </a:p>
      </dgm:t>
    </dgm:pt>
    <dgm:pt modelId="{F0299457-DB06-FF4F-9021-6E7E83E4126E}" type="sibTrans" cxnId="{82857A3F-D726-3643-AE48-0B53DC2BCBEB}">
      <dgm:prSet/>
      <dgm:spPr/>
      <dgm:t>
        <a:bodyPr/>
        <a:lstStyle/>
        <a:p>
          <a:endParaRPr lang="en-US"/>
        </a:p>
      </dgm:t>
    </dgm:pt>
    <dgm:pt modelId="{1D7CF7A7-FAEA-2348-9754-FE5D9CDAA888}">
      <dgm:prSet custT="1"/>
      <dgm:spPr>
        <a:solidFill>
          <a:schemeClr val="accent3">
            <a:lumMod val="50000"/>
          </a:schemeClr>
        </a:solidFill>
      </dgm:spPr>
      <dgm:t>
        <a:bodyPr/>
        <a:lstStyle/>
        <a:p>
          <a:r>
            <a:rPr lang="en-US" sz="1000" dirty="0"/>
            <a:t>Advanced</a:t>
          </a:r>
        </a:p>
      </dgm:t>
    </dgm:pt>
    <dgm:pt modelId="{E5C8F1EC-596F-6146-A7D1-C760EDE05F22}" type="parTrans" cxnId="{1B881B90-7409-7F47-B81E-CCE10CDA38EC}">
      <dgm:prSet/>
      <dgm:spPr/>
      <dgm:t>
        <a:bodyPr/>
        <a:lstStyle/>
        <a:p>
          <a:endParaRPr lang="en-US"/>
        </a:p>
      </dgm:t>
    </dgm:pt>
    <dgm:pt modelId="{83F62D45-0ED2-2045-950E-E94CDB1BA92C}" type="sibTrans" cxnId="{1B881B90-7409-7F47-B81E-CCE10CDA38EC}">
      <dgm:prSet/>
      <dgm:spPr/>
      <dgm:t>
        <a:bodyPr/>
        <a:lstStyle/>
        <a:p>
          <a:endParaRPr lang="en-US"/>
        </a:p>
      </dgm:t>
    </dgm:pt>
    <dgm:pt modelId="{5800BECF-1D2B-6240-A8D5-3F662D7AF1D9}">
      <dgm:prSet custT="1"/>
      <dgm:spPr>
        <a:solidFill>
          <a:schemeClr val="accent3">
            <a:lumMod val="50000"/>
          </a:schemeClr>
        </a:solidFill>
      </dgm:spPr>
      <dgm:t>
        <a:bodyPr/>
        <a:lstStyle/>
        <a:p>
          <a:r>
            <a:rPr lang="en-US" sz="1000" dirty="0"/>
            <a:t>Beginner</a:t>
          </a:r>
        </a:p>
      </dgm:t>
    </dgm:pt>
    <dgm:pt modelId="{7609BFEC-6BBC-6241-83EE-F7A2107CAB16}" type="parTrans" cxnId="{2BB97F6B-BD70-7E41-A429-4EBC625C7915}">
      <dgm:prSet/>
      <dgm:spPr/>
      <dgm:t>
        <a:bodyPr/>
        <a:lstStyle/>
        <a:p>
          <a:endParaRPr lang="en-US"/>
        </a:p>
      </dgm:t>
    </dgm:pt>
    <dgm:pt modelId="{D24B8C13-6C45-8045-ABD1-B592F7E918BF}" type="sibTrans" cxnId="{2BB97F6B-BD70-7E41-A429-4EBC625C7915}">
      <dgm:prSet/>
      <dgm:spPr/>
      <dgm:t>
        <a:bodyPr/>
        <a:lstStyle/>
        <a:p>
          <a:endParaRPr lang="en-US"/>
        </a:p>
      </dgm:t>
    </dgm:pt>
    <dgm:pt modelId="{FFF2E61D-8B31-5440-BFF6-A11847C55424}">
      <dgm:prSet custT="1"/>
      <dgm:spPr>
        <a:solidFill>
          <a:schemeClr val="accent3">
            <a:lumMod val="50000"/>
          </a:schemeClr>
        </a:solidFill>
      </dgm:spPr>
      <dgm:t>
        <a:bodyPr/>
        <a:lstStyle/>
        <a:p>
          <a:r>
            <a:rPr lang="en-US" sz="1000" dirty="0"/>
            <a:t>Intermediate</a:t>
          </a:r>
        </a:p>
      </dgm:t>
    </dgm:pt>
    <dgm:pt modelId="{0E50FB17-4152-DC46-A515-8D51946B3E9E}" type="parTrans" cxnId="{66A7E0A2-75BF-2D49-A486-8C765B7EC563}">
      <dgm:prSet/>
      <dgm:spPr/>
      <dgm:t>
        <a:bodyPr/>
        <a:lstStyle/>
        <a:p>
          <a:endParaRPr lang="en-US"/>
        </a:p>
      </dgm:t>
    </dgm:pt>
    <dgm:pt modelId="{DE000975-F675-D44B-AC2D-57258DB39B14}" type="sibTrans" cxnId="{66A7E0A2-75BF-2D49-A486-8C765B7EC563}">
      <dgm:prSet/>
      <dgm:spPr/>
      <dgm:t>
        <a:bodyPr/>
        <a:lstStyle/>
        <a:p>
          <a:endParaRPr lang="en-US"/>
        </a:p>
      </dgm:t>
    </dgm:pt>
    <dgm:pt modelId="{EC5569B5-B74C-8A44-86E1-24E7931D9970}">
      <dgm:prSet custT="1"/>
      <dgm:spPr>
        <a:solidFill>
          <a:schemeClr val="accent3">
            <a:lumMod val="50000"/>
          </a:schemeClr>
        </a:solidFill>
      </dgm:spPr>
      <dgm:t>
        <a:bodyPr/>
        <a:lstStyle/>
        <a:p>
          <a:r>
            <a:rPr lang="en-US" sz="1000" dirty="0"/>
            <a:t>Advanced</a:t>
          </a:r>
        </a:p>
      </dgm:t>
    </dgm:pt>
    <dgm:pt modelId="{91014C6B-9A35-4B43-B3A0-93865C5B7198}" type="parTrans" cxnId="{A8AAD57A-80FC-2642-9AE5-5FC83BED4736}">
      <dgm:prSet/>
      <dgm:spPr/>
      <dgm:t>
        <a:bodyPr/>
        <a:lstStyle/>
        <a:p>
          <a:endParaRPr lang="en-US"/>
        </a:p>
      </dgm:t>
    </dgm:pt>
    <dgm:pt modelId="{C04A7BD7-4C9D-0E45-9E03-7A9818D39EB7}" type="sibTrans" cxnId="{A8AAD57A-80FC-2642-9AE5-5FC83BED4736}">
      <dgm:prSet/>
      <dgm:spPr/>
      <dgm:t>
        <a:bodyPr/>
        <a:lstStyle/>
        <a:p>
          <a:endParaRPr lang="en-US"/>
        </a:p>
      </dgm:t>
    </dgm:pt>
    <dgm:pt modelId="{10E5EBF5-DF0E-9740-92CD-58263BF97BB2}">
      <dgm:prSet/>
      <dgm:spPr>
        <a:solidFill>
          <a:schemeClr val="accent3">
            <a:lumMod val="20000"/>
            <a:lumOff val="80000"/>
          </a:schemeClr>
        </a:solidFill>
      </dgm:spPr>
      <dgm:t>
        <a:bodyPr/>
        <a:lstStyle/>
        <a:p>
          <a:r>
            <a:rPr lang="en-US" dirty="0">
              <a:solidFill>
                <a:schemeClr val="tx1"/>
              </a:solidFill>
            </a:rPr>
            <a:t>Dialogue</a:t>
          </a:r>
        </a:p>
      </dgm:t>
    </dgm:pt>
    <dgm:pt modelId="{BC01DBAA-DE6C-3A48-9D42-8B13FFF88C7C}" type="parTrans" cxnId="{79195E5B-4046-9845-A28C-23B68FF0CECB}">
      <dgm:prSet/>
      <dgm:spPr/>
      <dgm:t>
        <a:bodyPr/>
        <a:lstStyle/>
        <a:p>
          <a:endParaRPr lang="en-US"/>
        </a:p>
      </dgm:t>
    </dgm:pt>
    <dgm:pt modelId="{72C9BA41-90E7-5A45-8FC9-19A87B25F0C4}" type="sibTrans" cxnId="{79195E5B-4046-9845-A28C-23B68FF0CECB}">
      <dgm:prSet/>
      <dgm:spPr/>
      <dgm:t>
        <a:bodyPr/>
        <a:lstStyle/>
        <a:p>
          <a:endParaRPr lang="en-US"/>
        </a:p>
      </dgm:t>
    </dgm:pt>
    <dgm:pt modelId="{ECFFC85B-3144-7E4C-9F61-1A0CC8B4C35B}">
      <dgm:prSet/>
      <dgm:spPr>
        <a:solidFill>
          <a:schemeClr val="accent3">
            <a:lumMod val="60000"/>
            <a:lumOff val="40000"/>
          </a:schemeClr>
        </a:solidFill>
      </dgm:spPr>
      <dgm:t>
        <a:bodyPr/>
        <a:lstStyle/>
        <a:p>
          <a:r>
            <a:rPr lang="en-US" dirty="0"/>
            <a:t>Chatbot</a:t>
          </a:r>
        </a:p>
      </dgm:t>
    </dgm:pt>
    <dgm:pt modelId="{927EF117-1EE0-1A4F-BC59-42854529EF76}" type="parTrans" cxnId="{53BB66C6-986D-DF49-85BF-2B2BBD46DC48}">
      <dgm:prSet/>
      <dgm:spPr/>
      <dgm:t>
        <a:bodyPr/>
        <a:lstStyle/>
        <a:p>
          <a:endParaRPr lang="en-US"/>
        </a:p>
      </dgm:t>
    </dgm:pt>
    <dgm:pt modelId="{EC35D483-1DAD-CF47-947B-2333430830DB}" type="sibTrans" cxnId="{53BB66C6-986D-DF49-85BF-2B2BBD46DC48}">
      <dgm:prSet/>
      <dgm:spPr/>
      <dgm:t>
        <a:bodyPr/>
        <a:lstStyle/>
        <a:p>
          <a:endParaRPr lang="en-US"/>
        </a:p>
      </dgm:t>
    </dgm:pt>
    <dgm:pt modelId="{D75DD541-5521-7D4E-864E-D24F64187C30}">
      <dgm:prSet phldrT="[Text]"/>
      <dgm:spPr>
        <a:noFill/>
        <a:ln>
          <a:solidFill>
            <a:schemeClr val="bg1">
              <a:lumMod val="75000"/>
            </a:schemeClr>
          </a:solidFill>
        </a:ln>
      </dgm:spPr>
      <dgm:t>
        <a:bodyPr/>
        <a:lstStyle/>
        <a:p>
          <a:r>
            <a:rPr lang="en-US" dirty="0">
              <a:solidFill>
                <a:schemeClr val="accent1"/>
              </a:solidFill>
            </a:rPr>
            <a:t>Transforming Customer Experience</a:t>
          </a:r>
        </a:p>
      </dgm:t>
    </dgm:pt>
    <dgm:pt modelId="{4C8495D1-9835-F746-B92A-D14FD851FFBB}" type="parTrans" cxnId="{14B0808F-7C62-3C4A-B59D-121726ED2095}">
      <dgm:prSet/>
      <dgm:spPr/>
      <dgm:t>
        <a:bodyPr/>
        <a:lstStyle/>
        <a:p>
          <a:endParaRPr lang="en-US"/>
        </a:p>
      </dgm:t>
    </dgm:pt>
    <dgm:pt modelId="{3BD40D86-D7E2-F749-A2AF-296EAAC94176}" type="sibTrans" cxnId="{14B0808F-7C62-3C4A-B59D-121726ED2095}">
      <dgm:prSet/>
      <dgm:spPr/>
      <dgm:t>
        <a:bodyPr/>
        <a:lstStyle/>
        <a:p>
          <a:endParaRPr lang="en-US"/>
        </a:p>
      </dgm:t>
    </dgm:pt>
    <dgm:pt modelId="{A0F3C328-8AF1-8941-A843-D9A11AEB7FE1}" type="pres">
      <dgm:prSet presAssocID="{3D71C09D-A141-6C4B-AB96-4DFDAE77D827}" presName="hierChild1" presStyleCnt="0">
        <dgm:presLayoutVars>
          <dgm:orgChart val="1"/>
          <dgm:chPref val="1"/>
          <dgm:dir/>
          <dgm:animOne val="branch"/>
          <dgm:animLvl val="lvl"/>
          <dgm:resizeHandles/>
        </dgm:presLayoutVars>
      </dgm:prSet>
      <dgm:spPr/>
    </dgm:pt>
    <dgm:pt modelId="{7114F0BE-BE22-8041-9668-A837B78E921A}" type="pres">
      <dgm:prSet presAssocID="{579FE4E4-6679-BB4A-B2C4-2FF047D60B92}" presName="hierRoot1" presStyleCnt="0">
        <dgm:presLayoutVars>
          <dgm:hierBranch val="init"/>
        </dgm:presLayoutVars>
      </dgm:prSet>
      <dgm:spPr/>
    </dgm:pt>
    <dgm:pt modelId="{3560C579-464F-3142-9B86-92C48C50A555}" type="pres">
      <dgm:prSet presAssocID="{579FE4E4-6679-BB4A-B2C4-2FF047D60B92}" presName="rootComposite1" presStyleCnt="0"/>
      <dgm:spPr/>
    </dgm:pt>
    <dgm:pt modelId="{8B3CE69B-3BDD-2144-8B40-3E8439602C0A}" type="pres">
      <dgm:prSet presAssocID="{579FE4E4-6679-BB4A-B2C4-2FF047D60B92}" presName="rootText1" presStyleLbl="node0" presStyleIdx="0" presStyleCnt="1">
        <dgm:presLayoutVars>
          <dgm:chPref val="3"/>
        </dgm:presLayoutVars>
      </dgm:prSet>
      <dgm:spPr/>
    </dgm:pt>
    <dgm:pt modelId="{1C14C44D-50AB-9C4D-8EAC-0CE0ABCB3DE1}" type="pres">
      <dgm:prSet presAssocID="{579FE4E4-6679-BB4A-B2C4-2FF047D60B92}" presName="rootConnector1" presStyleLbl="node1" presStyleIdx="0" presStyleCnt="0"/>
      <dgm:spPr/>
    </dgm:pt>
    <dgm:pt modelId="{5288DE7B-C332-5F4D-9B52-CAF67D5E6725}" type="pres">
      <dgm:prSet presAssocID="{579FE4E4-6679-BB4A-B2C4-2FF047D60B92}" presName="hierChild2" presStyleCnt="0"/>
      <dgm:spPr/>
    </dgm:pt>
    <dgm:pt modelId="{220E9F06-267C-A941-BA92-DA525C5F922C}" type="pres">
      <dgm:prSet presAssocID="{4C8495D1-9835-F746-B92A-D14FD851FFBB}" presName="Name37" presStyleLbl="parChTrans1D2" presStyleIdx="0" presStyleCnt="2"/>
      <dgm:spPr/>
    </dgm:pt>
    <dgm:pt modelId="{8F1DC924-86A7-694E-956A-A7108E565C42}" type="pres">
      <dgm:prSet presAssocID="{D75DD541-5521-7D4E-864E-D24F64187C30}" presName="hierRoot2" presStyleCnt="0">
        <dgm:presLayoutVars>
          <dgm:hierBranch val="init"/>
        </dgm:presLayoutVars>
      </dgm:prSet>
      <dgm:spPr/>
    </dgm:pt>
    <dgm:pt modelId="{2510DCE1-F585-5E4E-B55A-3CB300481461}" type="pres">
      <dgm:prSet presAssocID="{D75DD541-5521-7D4E-864E-D24F64187C30}" presName="rootComposite" presStyleCnt="0"/>
      <dgm:spPr/>
    </dgm:pt>
    <dgm:pt modelId="{FEC7F277-AAAD-E64A-A606-81A6DA6646F5}" type="pres">
      <dgm:prSet presAssocID="{D75DD541-5521-7D4E-864E-D24F64187C30}" presName="rootText" presStyleLbl="node2" presStyleIdx="0" presStyleCnt="2">
        <dgm:presLayoutVars>
          <dgm:chPref val="3"/>
        </dgm:presLayoutVars>
      </dgm:prSet>
      <dgm:spPr/>
    </dgm:pt>
    <dgm:pt modelId="{105F4567-01E6-814A-95CA-53EB7304C6A9}" type="pres">
      <dgm:prSet presAssocID="{D75DD541-5521-7D4E-864E-D24F64187C30}" presName="rootConnector" presStyleLbl="node2" presStyleIdx="0" presStyleCnt="2"/>
      <dgm:spPr/>
    </dgm:pt>
    <dgm:pt modelId="{D4837DB1-9469-9E48-A3E3-5000390FAD78}" type="pres">
      <dgm:prSet presAssocID="{D75DD541-5521-7D4E-864E-D24F64187C30}" presName="hierChild4" presStyleCnt="0"/>
      <dgm:spPr/>
    </dgm:pt>
    <dgm:pt modelId="{B888B38F-F58A-384E-AA5C-931982C67A06}" type="pres">
      <dgm:prSet presAssocID="{D9A477B7-C4D1-974C-9303-FB2315039450}" presName="Name37" presStyleLbl="parChTrans1D3" presStyleIdx="0" presStyleCnt="2"/>
      <dgm:spPr/>
    </dgm:pt>
    <dgm:pt modelId="{64012036-48F4-5D41-92D1-D6C549510E73}" type="pres">
      <dgm:prSet presAssocID="{9DED64CC-1D3B-E34B-977B-7C0011187489}" presName="hierRoot2" presStyleCnt="0">
        <dgm:presLayoutVars>
          <dgm:hierBranch val="init"/>
        </dgm:presLayoutVars>
      </dgm:prSet>
      <dgm:spPr/>
    </dgm:pt>
    <dgm:pt modelId="{1D3CC229-6E08-3342-9EBF-8E68018773EB}" type="pres">
      <dgm:prSet presAssocID="{9DED64CC-1D3B-E34B-977B-7C0011187489}" presName="rootComposite" presStyleCnt="0"/>
      <dgm:spPr/>
    </dgm:pt>
    <dgm:pt modelId="{2F98B852-B171-4D45-AFE6-71950F46B422}" type="pres">
      <dgm:prSet presAssocID="{9DED64CC-1D3B-E34B-977B-7C0011187489}" presName="rootText" presStyleLbl="node3" presStyleIdx="0" presStyleCnt="2">
        <dgm:presLayoutVars>
          <dgm:chPref val="3"/>
        </dgm:presLayoutVars>
      </dgm:prSet>
      <dgm:spPr/>
    </dgm:pt>
    <dgm:pt modelId="{C603BCE2-9161-E947-A2F2-AD52DACB6C8B}" type="pres">
      <dgm:prSet presAssocID="{9DED64CC-1D3B-E34B-977B-7C0011187489}" presName="rootConnector" presStyleLbl="node3" presStyleIdx="0" presStyleCnt="2"/>
      <dgm:spPr/>
    </dgm:pt>
    <dgm:pt modelId="{EC59DB19-9380-C04A-BA46-4E33625D25B9}" type="pres">
      <dgm:prSet presAssocID="{9DED64CC-1D3B-E34B-977B-7C0011187489}" presName="hierChild4" presStyleCnt="0"/>
      <dgm:spPr/>
    </dgm:pt>
    <dgm:pt modelId="{FFE131CB-A456-574C-A7F2-4E6832DB5D55}" type="pres">
      <dgm:prSet presAssocID="{178202DA-6F1A-584B-9045-85629663C3F1}" presName="Name37" presStyleLbl="parChTrans1D4" presStyleIdx="0" presStyleCnt="13"/>
      <dgm:spPr/>
    </dgm:pt>
    <dgm:pt modelId="{EB412830-C82F-7547-8FE1-477912667897}" type="pres">
      <dgm:prSet presAssocID="{0896253A-7272-D342-8E41-5C7CAA02F24A}" presName="hierRoot2" presStyleCnt="0">
        <dgm:presLayoutVars>
          <dgm:hierBranch val="init"/>
        </dgm:presLayoutVars>
      </dgm:prSet>
      <dgm:spPr/>
    </dgm:pt>
    <dgm:pt modelId="{ECCF2663-5F55-3C43-A59F-BDDCA2D82A26}" type="pres">
      <dgm:prSet presAssocID="{0896253A-7272-D342-8E41-5C7CAA02F24A}" presName="rootComposite" presStyleCnt="0"/>
      <dgm:spPr/>
    </dgm:pt>
    <dgm:pt modelId="{CF88FF67-3E34-E148-A64B-BE617C749A03}" type="pres">
      <dgm:prSet presAssocID="{0896253A-7272-D342-8E41-5C7CAA02F24A}" presName="rootText" presStyleLbl="node4" presStyleIdx="0" presStyleCnt="13">
        <dgm:presLayoutVars>
          <dgm:chPref val="3"/>
        </dgm:presLayoutVars>
      </dgm:prSet>
      <dgm:spPr/>
    </dgm:pt>
    <dgm:pt modelId="{4FA9E05E-E4E7-0743-B0F1-FD945F22293B}" type="pres">
      <dgm:prSet presAssocID="{0896253A-7272-D342-8E41-5C7CAA02F24A}" presName="rootConnector" presStyleLbl="node4" presStyleIdx="0" presStyleCnt="13"/>
      <dgm:spPr/>
    </dgm:pt>
    <dgm:pt modelId="{EA5753BA-0D5B-0A42-99D7-95C9185D34F1}" type="pres">
      <dgm:prSet presAssocID="{0896253A-7272-D342-8E41-5C7CAA02F24A}" presName="hierChild4" presStyleCnt="0"/>
      <dgm:spPr/>
    </dgm:pt>
    <dgm:pt modelId="{7AE9A330-AD9C-524C-AA14-10C1AC64346A}" type="pres">
      <dgm:prSet presAssocID="{B10E7333-5B45-654C-8B25-29F02A22A46A}" presName="Name37" presStyleLbl="parChTrans1D4" presStyleIdx="1" presStyleCnt="13"/>
      <dgm:spPr/>
    </dgm:pt>
    <dgm:pt modelId="{B482D918-AAF3-0C48-A820-4F6568F5FBEF}" type="pres">
      <dgm:prSet presAssocID="{AD3C75A5-2775-B846-8A2C-752088ACDCE0}" presName="hierRoot2" presStyleCnt="0">
        <dgm:presLayoutVars>
          <dgm:hierBranch val="init"/>
        </dgm:presLayoutVars>
      </dgm:prSet>
      <dgm:spPr/>
    </dgm:pt>
    <dgm:pt modelId="{C0123A98-D9EE-B340-8559-B4960E3819F0}" type="pres">
      <dgm:prSet presAssocID="{AD3C75A5-2775-B846-8A2C-752088ACDCE0}" presName="rootComposite" presStyleCnt="0"/>
      <dgm:spPr/>
    </dgm:pt>
    <dgm:pt modelId="{73E921FB-3C48-464D-8C17-AB029415B342}" type="pres">
      <dgm:prSet presAssocID="{AD3C75A5-2775-B846-8A2C-752088ACDCE0}" presName="rootText" presStyleLbl="node4" presStyleIdx="1" presStyleCnt="13" custScaleY="47805">
        <dgm:presLayoutVars>
          <dgm:chPref val="3"/>
        </dgm:presLayoutVars>
      </dgm:prSet>
      <dgm:spPr/>
    </dgm:pt>
    <dgm:pt modelId="{CED16B74-7C8E-E94D-96EA-A29892A6E9C6}" type="pres">
      <dgm:prSet presAssocID="{AD3C75A5-2775-B846-8A2C-752088ACDCE0}" presName="rootConnector" presStyleLbl="node4" presStyleIdx="1" presStyleCnt="13"/>
      <dgm:spPr/>
    </dgm:pt>
    <dgm:pt modelId="{97E1F51A-C1AC-9C4A-82FC-54DA9973D798}" type="pres">
      <dgm:prSet presAssocID="{AD3C75A5-2775-B846-8A2C-752088ACDCE0}" presName="hierChild4" presStyleCnt="0"/>
      <dgm:spPr/>
    </dgm:pt>
    <dgm:pt modelId="{7CA5BBF1-6789-A54E-B560-F7E3410E74F0}" type="pres">
      <dgm:prSet presAssocID="{AD3C75A5-2775-B846-8A2C-752088ACDCE0}" presName="hierChild5" presStyleCnt="0"/>
      <dgm:spPr/>
    </dgm:pt>
    <dgm:pt modelId="{12D9E596-68CD-E042-9CA9-7E4D5B1336E9}" type="pres">
      <dgm:prSet presAssocID="{0FB4303F-5633-3A41-91B9-CF9221CB14CE}" presName="Name37" presStyleLbl="parChTrans1D4" presStyleIdx="2" presStyleCnt="13"/>
      <dgm:spPr/>
    </dgm:pt>
    <dgm:pt modelId="{993D39D1-EADA-8946-9560-0E3EA015752D}" type="pres">
      <dgm:prSet presAssocID="{BE41ECE8-2796-BF48-B09C-2987580C85DD}" presName="hierRoot2" presStyleCnt="0">
        <dgm:presLayoutVars>
          <dgm:hierBranch val="init"/>
        </dgm:presLayoutVars>
      </dgm:prSet>
      <dgm:spPr/>
    </dgm:pt>
    <dgm:pt modelId="{C57280AA-65B8-D348-A05D-3B382CD8626F}" type="pres">
      <dgm:prSet presAssocID="{BE41ECE8-2796-BF48-B09C-2987580C85DD}" presName="rootComposite" presStyleCnt="0"/>
      <dgm:spPr/>
    </dgm:pt>
    <dgm:pt modelId="{D0292905-24FD-BA46-82CD-0F5ECF2D4B47}" type="pres">
      <dgm:prSet presAssocID="{BE41ECE8-2796-BF48-B09C-2987580C85DD}" presName="rootText" presStyleLbl="node4" presStyleIdx="2" presStyleCnt="13" custScaleY="47805">
        <dgm:presLayoutVars>
          <dgm:chPref val="3"/>
        </dgm:presLayoutVars>
      </dgm:prSet>
      <dgm:spPr/>
    </dgm:pt>
    <dgm:pt modelId="{965B498C-C016-7847-B260-1A78E6B5EB59}" type="pres">
      <dgm:prSet presAssocID="{BE41ECE8-2796-BF48-B09C-2987580C85DD}" presName="rootConnector" presStyleLbl="node4" presStyleIdx="2" presStyleCnt="13"/>
      <dgm:spPr/>
    </dgm:pt>
    <dgm:pt modelId="{8ED20DC7-B6C6-E14E-A222-DF80762CFC7A}" type="pres">
      <dgm:prSet presAssocID="{BE41ECE8-2796-BF48-B09C-2987580C85DD}" presName="hierChild4" presStyleCnt="0"/>
      <dgm:spPr/>
    </dgm:pt>
    <dgm:pt modelId="{14CA465D-C7E8-C745-B06B-82FB9D98335A}" type="pres">
      <dgm:prSet presAssocID="{BE41ECE8-2796-BF48-B09C-2987580C85DD}" presName="hierChild5" presStyleCnt="0"/>
      <dgm:spPr/>
    </dgm:pt>
    <dgm:pt modelId="{C2454405-6CFB-B446-BB13-9F7EE5AB205B}" type="pres">
      <dgm:prSet presAssocID="{F711EDD3-183E-B34C-9F40-AC4E2B8C2A5C}" presName="Name37" presStyleLbl="parChTrans1D4" presStyleIdx="3" presStyleCnt="13"/>
      <dgm:spPr/>
    </dgm:pt>
    <dgm:pt modelId="{E60F83D1-DD04-214B-85DC-C433AAB6EA84}" type="pres">
      <dgm:prSet presAssocID="{7B1B646D-65BD-3241-BB57-962DCAE8F9D5}" presName="hierRoot2" presStyleCnt="0">
        <dgm:presLayoutVars>
          <dgm:hierBranch val="init"/>
        </dgm:presLayoutVars>
      </dgm:prSet>
      <dgm:spPr/>
    </dgm:pt>
    <dgm:pt modelId="{AE339DC4-8A3A-1E45-8497-6C601B5FB2FE}" type="pres">
      <dgm:prSet presAssocID="{7B1B646D-65BD-3241-BB57-962DCAE8F9D5}" presName="rootComposite" presStyleCnt="0"/>
      <dgm:spPr/>
    </dgm:pt>
    <dgm:pt modelId="{1B8169BC-7F22-FF47-B5F1-847AD742194B}" type="pres">
      <dgm:prSet presAssocID="{7B1B646D-65BD-3241-BB57-962DCAE8F9D5}" presName="rootText" presStyleLbl="node4" presStyleIdx="3" presStyleCnt="13" custScaleY="47805">
        <dgm:presLayoutVars>
          <dgm:chPref val="3"/>
        </dgm:presLayoutVars>
      </dgm:prSet>
      <dgm:spPr/>
    </dgm:pt>
    <dgm:pt modelId="{E1F4472D-6B59-1446-B831-22920AA5E117}" type="pres">
      <dgm:prSet presAssocID="{7B1B646D-65BD-3241-BB57-962DCAE8F9D5}" presName="rootConnector" presStyleLbl="node4" presStyleIdx="3" presStyleCnt="13"/>
      <dgm:spPr/>
    </dgm:pt>
    <dgm:pt modelId="{6BF61325-EF6F-A546-8F6B-71F16B7179AA}" type="pres">
      <dgm:prSet presAssocID="{7B1B646D-65BD-3241-BB57-962DCAE8F9D5}" presName="hierChild4" presStyleCnt="0"/>
      <dgm:spPr/>
    </dgm:pt>
    <dgm:pt modelId="{BB472215-02C6-7B46-9AC0-514F319AC81E}" type="pres">
      <dgm:prSet presAssocID="{7B1B646D-65BD-3241-BB57-962DCAE8F9D5}" presName="hierChild5" presStyleCnt="0"/>
      <dgm:spPr/>
    </dgm:pt>
    <dgm:pt modelId="{336D61DD-2CB5-304D-B976-BD8AEE302108}" type="pres">
      <dgm:prSet presAssocID="{0896253A-7272-D342-8E41-5C7CAA02F24A}" presName="hierChild5" presStyleCnt="0"/>
      <dgm:spPr/>
    </dgm:pt>
    <dgm:pt modelId="{D8CD167E-DDF5-8C4E-86E3-377487EE04D9}" type="pres">
      <dgm:prSet presAssocID="{CC007B1D-BB53-834B-9CF1-C65726C1BA04}" presName="Name37" presStyleLbl="parChTrans1D4" presStyleIdx="4" presStyleCnt="13"/>
      <dgm:spPr/>
    </dgm:pt>
    <dgm:pt modelId="{BDB031DC-25BF-D241-ACB8-B3F23FA245D5}" type="pres">
      <dgm:prSet presAssocID="{B028DEAC-E8DD-7449-AC03-586E3B71E9A7}" presName="hierRoot2" presStyleCnt="0">
        <dgm:presLayoutVars>
          <dgm:hierBranch val="init"/>
        </dgm:presLayoutVars>
      </dgm:prSet>
      <dgm:spPr/>
    </dgm:pt>
    <dgm:pt modelId="{53A3355B-7DAD-4441-B56B-7BE5ED220220}" type="pres">
      <dgm:prSet presAssocID="{B028DEAC-E8DD-7449-AC03-586E3B71E9A7}" presName="rootComposite" presStyleCnt="0"/>
      <dgm:spPr/>
    </dgm:pt>
    <dgm:pt modelId="{8FD0620E-1D24-8140-8667-7416AB630991}" type="pres">
      <dgm:prSet presAssocID="{B028DEAC-E8DD-7449-AC03-586E3B71E9A7}" presName="rootText" presStyleLbl="node4" presStyleIdx="4" presStyleCnt="13">
        <dgm:presLayoutVars>
          <dgm:chPref val="3"/>
        </dgm:presLayoutVars>
      </dgm:prSet>
      <dgm:spPr/>
    </dgm:pt>
    <dgm:pt modelId="{9F362E50-81C5-BE45-A116-246990750CE5}" type="pres">
      <dgm:prSet presAssocID="{B028DEAC-E8DD-7449-AC03-586E3B71E9A7}" presName="rootConnector" presStyleLbl="node4" presStyleIdx="4" presStyleCnt="13"/>
      <dgm:spPr/>
    </dgm:pt>
    <dgm:pt modelId="{A3B54241-A1F9-CF4C-81BC-039F15E598F3}" type="pres">
      <dgm:prSet presAssocID="{B028DEAC-E8DD-7449-AC03-586E3B71E9A7}" presName="hierChild4" presStyleCnt="0"/>
      <dgm:spPr/>
    </dgm:pt>
    <dgm:pt modelId="{D7FE95DC-9906-6F40-8E15-D490A4A38C4F}" type="pres">
      <dgm:prSet presAssocID="{044D4A22-6891-0046-B2D3-E81264901B33}" presName="Name37" presStyleLbl="parChTrans1D4" presStyleIdx="5" presStyleCnt="13"/>
      <dgm:spPr/>
    </dgm:pt>
    <dgm:pt modelId="{70641A37-C2DA-1540-9038-CED457DDE218}" type="pres">
      <dgm:prSet presAssocID="{ED71514A-A1AF-3643-834D-CF068C3ED064}" presName="hierRoot2" presStyleCnt="0">
        <dgm:presLayoutVars>
          <dgm:hierBranch val="init"/>
        </dgm:presLayoutVars>
      </dgm:prSet>
      <dgm:spPr/>
    </dgm:pt>
    <dgm:pt modelId="{71C1DB1F-D6E3-3942-A9AA-E33D1E3168F2}" type="pres">
      <dgm:prSet presAssocID="{ED71514A-A1AF-3643-834D-CF068C3ED064}" presName="rootComposite" presStyleCnt="0"/>
      <dgm:spPr/>
    </dgm:pt>
    <dgm:pt modelId="{EE78C392-4433-2148-8B39-E8AF680579BD}" type="pres">
      <dgm:prSet presAssocID="{ED71514A-A1AF-3643-834D-CF068C3ED064}" presName="rootText" presStyleLbl="node4" presStyleIdx="5" presStyleCnt="13" custScaleY="47805">
        <dgm:presLayoutVars>
          <dgm:chPref val="3"/>
        </dgm:presLayoutVars>
      </dgm:prSet>
      <dgm:spPr/>
    </dgm:pt>
    <dgm:pt modelId="{2BC24A50-1262-4741-A729-7FB339573361}" type="pres">
      <dgm:prSet presAssocID="{ED71514A-A1AF-3643-834D-CF068C3ED064}" presName="rootConnector" presStyleLbl="node4" presStyleIdx="5" presStyleCnt="13"/>
      <dgm:spPr/>
    </dgm:pt>
    <dgm:pt modelId="{EA226ED1-7847-DF44-AABF-98CAA214AB84}" type="pres">
      <dgm:prSet presAssocID="{ED71514A-A1AF-3643-834D-CF068C3ED064}" presName="hierChild4" presStyleCnt="0"/>
      <dgm:spPr/>
    </dgm:pt>
    <dgm:pt modelId="{DC33F87C-599B-3B4C-8C0D-425D1CE20747}" type="pres">
      <dgm:prSet presAssocID="{ED71514A-A1AF-3643-834D-CF068C3ED064}" presName="hierChild5" presStyleCnt="0"/>
      <dgm:spPr/>
    </dgm:pt>
    <dgm:pt modelId="{983D3C43-3D8C-7B44-8754-F9AA37F93603}" type="pres">
      <dgm:prSet presAssocID="{D261179D-3CF5-E441-A994-00B081C9650B}" presName="Name37" presStyleLbl="parChTrans1D4" presStyleIdx="6" presStyleCnt="13"/>
      <dgm:spPr/>
    </dgm:pt>
    <dgm:pt modelId="{AF7AD769-92BE-5B4E-AD16-73B71B0F58B0}" type="pres">
      <dgm:prSet presAssocID="{02CF91FF-8656-254A-8AC9-0FE57B50D85E}" presName="hierRoot2" presStyleCnt="0">
        <dgm:presLayoutVars>
          <dgm:hierBranch val="init"/>
        </dgm:presLayoutVars>
      </dgm:prSet>
      <dgm:spPr/>
    </dgm:pt>
    <dgm:pt modelId="{9C1C60A5-B021-B445-861D-2BBAEC84B418}" type="pres">
      <dgm:prSet presAssocID="{02CF91FF-8656-254A-8AC9-0FE57B50D85E}" presName="rootComposite" presStyleCnt="0"/>
      <dgm:spPr/>
    </dgm:pt>
    <dgm:pt modelId="{C94319C2-A8EA-4444-A7C4-9653372E39CC}" type="pres">
      <dgm:prSet presAssocID="{02CF91FF-8656-254A-8AC9-0FE57B50D85E}" presName="rootText" presStyleLbl="node4" presStyleIdx="6" presStyleCnt="13" custScaleY="47805">
        <dgm:presLayoutVars>
          <dgm:chPref val="3"/>
        </dgm:presLayoutVars>
      </dgm:prSet>
      <dgm:spPr/>
    </dgm:pt>
    <dgm:pt modelId="{43A20908-B29A-204C-9E4E-FDF301477E49}" type="pres">
      <dgm:prSet presAssocID="{02CF91FF-8656-254A-8AC9-0FE57B50D85E}" presName="rootConnector" presStyleLbl="node4" presStyleIdx="6" presStyleCnt="13"/>
      <dgm:spPr/>
    </dgm:pt>
    <dgm:pt modelId="{2745E645-0ACF-4E4D-A0CB-0EAAE459360F}" type="pres">
      <dgm:prSet presAssocID="{02CF91FF-8656-254A-8AC9-0FE57B50D85E}" presName="hierChild4" presStyleCnt="0"/>
      <dgm:spPr/>
    </dgm:pt>
    <dgm:pt modelId="{BEB9358B-F0D5-0D44-AA5C-0439732CE556}" type="pres">
      <dgm:prSet presAssocID="{02CF91FF-8656-254A-8AC9-0FE57B50D85E}" presName="hierChild5" presStyleCnt="0"/>
      <dgm:spPr/>
    </dgm:pt>
    <dgm:pt modelId="{99E045A3-20FB-2D4B-A203-37E7B0D3D038}" type="pres">
      <dgm:prSet presAssocID="{E5C8F1EC-596F-6146-A7D1-C760EDE05F22}" presName="Name37" presStyleLbl="parChTrans1D4" presStyleIdx="7" presStyleCnt="13"/>
      <dgm:spPr/>
    </dgm:pt>
    <dgm:pt modelId="{1FCBB13C-B223-F844-9636-9935B5163528}" type="pres">
      <dgm:prSet presAssocID="{1D7CF7A7-FAEA-2348-9754-FE5D9CDAA888}" presName="hierRoot2" presStyleCnt="0">
        <dgm:presLayoutVars>
          <dgm:hierBranch val="init"/>
        </dgm:presLayoutVars>
      </dgm:prSet>
      <dgm:spPr/>
    </dgm:pt>
    <dgm:pt modelId="{B0D677B2-2637-2F40-92A4-39B103F922CE}" type="pres">
      <dgm:prSet presAssocID="{1D7CF7A7-FAEA-2348-9754-FE5D9CDAA888}" presName="rootComposite" presStyleCnt="0"/>
      <dgm:spPr/>
    </dgm:pt>
    <dgm:pt modelId="{EE2EBE8B-D7E9-9448-A670-A950CC8B6DCC}" type="pres">
      <dgm:prSet presAssocID="{1D7CF7A7-FAEA-2348-9754-FE5D9CDAA888}" presName="rootText" presStyleLbl="node4" presStyleIdx="7" presStyleCnt="13" custScaleY="47805">
        <dgm:presLayoutVars>
          <dgm:chPref val="3"/>
        </dgm:presLayoutVars>
      </dgm:prSet>
      <dgm:spPr/>
    </dgm:pt>
    <dgm:pt modelId="{05E4B61C-1DDC-B540-BF4F-509DE1A36234}" type="pres">
      <dgm:prSet presAssocID="{1D7CF7A7-FAEA-2348-9754-FE5D9CDAA888}" presName="rootConnector" presStyleLbl="node4" presStyleIdx="7" presStyleCnt="13"/>
      <dgm:spPr/>
    </dgm:pt>
    <dgm:pt modelId="{9A493429-CA12-D941-B880-134889A958F7}" type="pres">
      <dgm:prSet presAssocID="{1D7CF7A7-FAEA-2348-9754-FE5D9CDAA888}" presName="hierChild4" presStyleCnt="0"/>
      <dgm:spPr/>
    </dgm:pt>
    <dgm:pt modelId="{4A4E181B-9DD1-3547-A729-A4CFD51479BA}" type="pres">
      <dgm:prSet presAssocID="{1D7CF7A7-FAEA-2348-9754-FE5D9CDAA888}" presName="hierChild5" presStyleCnt="0"/>
      <dgm:spPr/>
    </dgm:pt>
    <dgm:pt modelId="{5A74ABD3-40E8-0B49-B87A-C6C4122CB3E3}" type="pres">
      <dgm:prSet presAssocID="{B028DEAC-E8DD-7449-AC03-586E3B71E9A7}" presName="hierChild5" presStyleCnt="0"/>
      <dgm:spPr/>
    </dgm:pt>
    <dgm:pt modelId="{E5CB0813-05F5-0640-A4E8-196A88278595}" type="pres">
      <dgm:prSet presAssocID="{D0D07BAF-478C-F843-A29C-EFC96C82967C}" presName="Name37" presStyleLbl="parChTrans1D4" presStyleIdx="8" presStyleCnt="13"/>
      <dgm:spPr/>
    </dgm:pt>
    <dgm:pt modelId="{A30997CF-D04A-5B42-8DF4-61206806009D}" type="pres">
      <dgm:prSet presAssocID="{735AC0E8-F75C-E341-97C6-74AF0F1029C3}" presName="hierRoot2" presStyleCnt="0">
        <dgm:presLayoutVars>
          <dgm:hierBranch val="init"/>
        </dgm:presLayoutVars>
      </dgm:prSet>
      <dgm:spPr/>
    </dgm:pt>
    <dgm:pt modelId="{01276EC2-BD50-F04F-977B-DD4EE6FAD229}" type="pres">
      <dgm:prSet presAssocID="{735AC0E8-F75C-E341-97C6-74AF0F1029C3}" presName="rootComposite" presStyleCnt="0"/>
      <dgm:spPr/>
    </dgm:pt>
    <dgm:pt modelId="{80DBA5C9-695A-9140-BDE2-15BA40164C85}" type="pres">
      <dgm:prSet presAssocID="{735AC0E8-F75C-E341-97C6-74AF0F1029C3}" presName="rootText" presStyleLbl="node4" presStyleIdx="8" presStyleCnt="13">
        <dgm:presLayoutVars>
          <dgm:chPref val="3"/>
        </dgm:presLayoutVars>
      </dgm:prSet>
      <dgm:spPr/>
    </dgm:pt>
    <dgm:pt modelId="{159E0CAD-0B19-5B46-AC50-C9AAF65D1D8B}" type="pres">
      <dgm:prSet presAssocID="{735AC0E8-F75C-E341-97C6-74AF0F1029C3}" presName="rootConnector" presStyleLbl="node4" presStyleIdx="8" presStyleCnt="13"/>
      <dgm:spPr/>
    </dgm:pt>
    <dgm:pt modelId="{DB8AAF49-B0AC-0844-9030-62033EDD1249}" type="pres">
      <dgm:prSet presAssocID="{735AC0E8-F75C-E341-97C6-74AF0F1029C3}" presName="hierChild4" presStyleCnt="0"/>
      <dgm:spPr/>
    </dgm:pt>
    <dgm:pt modelId="{D78FEE65-0DE4-7244-94EB-903942DAC051}" type="pres">
      <dgm:prSet presAssocID="{7609BFEC-6BBC-6241-83EE-F7A2107CAB16}" presName="Name37" presStyleLbl="parChTrans1D4" presStyleIdx="9" presStyleCnt="13"/>
      <dgm:spPr/>
    </dgm:pt>
    <dgm:pt modelId="{E869522B-013C-804B-B56D-64DB283BA09B}" type="pres">
      <dgm:prSet presAssocID="{5800BECF-1D2B-6240-A8D5-3F662D7AF1D9}" presName="hierRoot2" presStyleCnt="0">
        <dgm:presLayoutVars>
          <dgm:hierBranch val="init"/>
        </dgm:presLayoutVars>
      </dgm:prSet>
      <dgm:spPr/>
    </dgm:pt>
    <dgm:pt modelId="{1E58DDCE-0D09-E340-8074-01C93BAB7914}" type="pres">
      <dgm:prSet presAssocID="{5800BECF-1D2B-6240-A8D5-3F662D7AF1D9}" presName="rootComposite" presStyleCnt="0"/>
      <dgm:spPr/>
    </dgm:pt>
    <dgm:pt modelId="{F7F1004D-1F41-3A46-8B74-523009A19AEE}" type="pres">
      <dgm:prSet presAssocID="{5800BECF-1D2B-6240-A8D5-3F662D7AF1D9}" presName="rootText" presStyleLbl="node4" presStyleIdx="9" presStyleCnt="13" custScaleY="47805">
        <dgm:presLayoutVars>
          <dgm:chPref val="3"/>
        </dgm:presLayoutVars>
      </dgm:prSet>
      <dgm:spPr/>
    </dgm:pt>
    <dgm:pt modelId="{FA934D0F-16F7-4D43-BECC-FED0442821E0}" type="pres">
      <dgm:prSet presAssocID="{5800BECF-1D2B-6240-A8D5-3F662D7AF1D9}" presName="rootConnector" presStyleLbl="node4" presStyleIdx="9" presStyleCnt="13"/>
      <dgm:spPr/>
    </dgm:pt>
    <dgm:pt modelId="{FE033D18-DA6B-5B44-856F-07512B189FD5}" type="pres">
      <dgm:prSet presAssocID="{5800BECF-1D2B-6240-A8D5-3F662D7AF1D9}" presName="hierChild4" presStyleCnt="0"/>
      <dgm:spPr/>
    </dgm:pt>
    <dgm:pt modelId="{46160A1B-DECE-6742-A7F4-61EDB3C1A154}" type="pres">
      <dgm:prSet presAssocID="{5800BECF-1D2B-6240-A8D5-3F662D7AF1D9}" presName="hierChild5" presStyleCnt="0"/>
      <dgm:spPr/>
    </dgm:pt>
    <dgm:pt modelId="{3749A9B7-472D-6F40-A119-E05DD5427672}" type="pres">
      <dgm:prSet presAssocID="{0E50FB17-4152-DC46-A515-8D51946B3E9E}" presName="Name37" presStyleLbl="parChTrans1D4" presStyleIdx="10" presStyleCnt="13"/>
      <dgm:spPr/>
    </dgm:pt>
    <dgm:pt modelId="{B33C5E43-3C3E-4B4E-B65B-31198F1F25D0}" type="pres">
      <dgm:prSet presAssocID="{FFF2E61D-8B31-5440-BFF6-A11847C55424}" presName="hierRoot2" presStyleCnt="0">
        <dgm:presLayoutVars>
          <dgm:hierBranch val="init"/>
        </dgm:presLayoutVars>
      </dgm:prSet>
      <dgm:spPr/>
    </dgm:pt>
    <dgm:pt modelId="{F44167A7-7F67-EE4F-A5A6-5F4CB9A9E8D6}" type="pres">
      <dgm:prSet presAssocID="{FFF2E61D-8B31-5440-BFF6-A11847C55424}" presName="rootComposite" presStyleCnt="0"/>
      <dgm:spPr/>
    </dgm:pt>
    <dgm:pt modelId="{6BDF96A6-FDC3-9D46-B0AB-D77BE918E5F7}" type="pres">
      <dgm:prSet presAssocID="{FFF2E61D-8B31-5440-BFF6-A11847C55424}" presName="rootText" presStyleLbl="node4" presStyleIdx="10" presStyleCnt="13" custScaleY="47805">
        <dgm:presLayoutVars>
          <dgm:chPref val="3"/>
        </dgm:presLayoutVars>
      </dgm:prSet>
      <dgm:spPr/>
    </dgm:pt>
    <dgm:pt modelId="{96A9689C-B342-5249-B733-CB327722A7AD}" type="pres">
      <dgm:prSet presAssocID="{FFF2E61D-8B31-5440-BFF6-A11847C55424}" presName="rootConnector" presStyleLbl="node4" presStyleIdx="10" presStyleCnt="13"/>
      <dgm:spPr/>
    </dgm:pt>
    <dgm:pt modelId="{5688B0D9-3426-3D4C-A826-063B5462EF77}" type="pres">
      <dgm:prSet presAssocID="{FFF2E61D-8B31-5440-BFF6-A11847C55424}" presName="hierChild4" presStyleCnt="0"/>
      <dgm:spPr/>
    </dgm:pt>
    <dgm:pt modelId="{DD84E12B-6D69-0141-9636-30DCE50C0E14}" type="pres">
      <dgm:prSet presAssocID="{FFF2E61D-8B31-5440-BFF6-A11847C55424}" presName="hierChild5" presStyleCnt="0"/>
      <dgm:spPr/>
    </dgm:pt>
    <dgm:pt modelId="{78C67511-B23B-3E43-9311-0D3B0872CD5F}" type="pres">
      <dgm:prSet presAssocID="{91014C6B-9A35-4B43-B3A0-93865C5B7198}" presName="Name37" presStyleLbl="parChTrans1D4" presStyleIdx="11" presStyleCnt="13"/>
      <dgm:spPr/>
    </dgm:pt>
    <dgm:pt modelId="{06E70F4D-34AD-B94C-BC46-17F2900125FC}" type="pres">
      <dgm:prSet presAssocID="{EC5569B5-B74C-8A44-86E1-24E7931D9970}" presName="hierRoot2" presStyleCnt="0">
        <dgm:presLayoutVars>
          <dgm:hierBranch val="init"/>
        </dgm:presLayoutVars>
      </dgm:prSet>
      <dgm:spPr/>
    </dgm:pt>
    <dgm:pt modelId="{AAEF73D7-EB2F-5245-B2A1-422F0847C6C8}" type="pres">
      <dgm:prSet presAssocID="{EC5569B5-B74C-8A44-86E1-24E7931D9970}" presName="rootComposite" presStyleCnt="0"/>
      <dgm:spPr/>
    </dgm:pt>
    <dgm:pt modelId="{3E3FA7DB-264A-1D48-848D-B975B0303ABE}" type="pres">
      <dgm:prSet presAssocID="{EC5569B5-B74C-8A44-86E1-24E7931D9970}" presName="rootText" presStyleLbl="node4" presStyleIdx="11" presStyleCnt="13" custScaleY="47805">
        <dgm:presLayoutVars>
          <dgm:chPref val="3"/>
        </dgm:presLayoutVars>
      </dgm:prSet>
      <dgm:spPr/>
    </dgm:pt>
    <dgm:pt modelId="{E4DDCFF2-D092-1542-9523-A55D35D9A677}" type="pres">
      <dgm:prSet presAssocID="{EC5569B5-B74C-8A44-86E1-24E7931D9970}" presName="rootConnector" presStyleLbl="node4" presStyleIdx="11" presStyleCnt="13"/>
      <dgm:spPr/>
    </dgm:pt>
    <dgm:pt modelId="{40940995-C8A2-4147-802D-BD9C610545A5}" type="pres">
      <dgm:prSet presAssocID="{EC5569B5-B74C-8A44-86E1-24E7931D9970}" presName="hierChild4" presStyleCnt="0"/>
      <dgm:spPr/>
    </dgm:pt>
    <dgm:pt modelId="{B6E68463-92C0-C14B-A170-908B1B4B9E67}" type="pres">
      <dgm:prSet presAssocID="{EC5569B5-B74C-8A44-86E1-24E7931D9970}" presName="hierChild5" presStyleCnt="0"/>
      <dgm:spPr/>
    </dgm:pt>
    <dgm:pt modelId="{F5FC0026-6DEE-044C-B312-EB183BC82565}" type="pres">
      <dgm:prSet presAssocID="{735AC0E8-F75C-E341-97C6-74AF0F1029C3}" presName="hierChild5" presStyleCnt="0"/>
      <dgm:spPr/>
    </dgm:pt>
    <dgm:pt modelId="{1F50C749-D4FA-EF4F-8897-85B9F4C1A97E}" type="pres">
      <dgm:prSet presAssocID="{9DED64CC-1D3B-E34B-977B-7C0011187489}" presName="hierChild5" presStyleCnt="0"/>
      <dgm:spPr/>
    </dgm:pt>
    <dgm:pt modelId="{0277C9A3-AA49-4240-A631-109EF978C244}" type="pres">
      <dgm:prSet presAssocID="{BC01DBAA-DE6C-3A48-9D42-8B13FFF88C7C}" presName="Name37" presStyleLbl="parChTrans1D3" presStyleIdx="1" presStyleCnt="2"/>
      <dgm:spPr/>
    </dgm:pt>
    <dgm:pt modelId="{F0AC1D64-5FCE-6B4F-BF24-D7EB39244651}" type="pres">
      <dgm:prSet presAssocID="{10E5EBF5-DF0E-9740-92CD-58263BF97BB2}" presName="hierRoot2" presStyleCnt="0">
        <dgm:presLayoutVars>
          <dgm:hierBranch val="init"/>
        </dgm:presLayoutVars>
      </dgm:prSet>
      <dgm:spPr/>
    </dgm:pt>
    <dgm:pt modelId="{CCF3165B-5463-1249-9F0F-99B15ABD8C4C}" type="pres">
      <dgm:prSet presAssocID="{10E5EBF5-DF0E-9740-92CD-58263BF97BB2}" presName="rootComposite" presStyleCnt="0"/>
      <dgm:spPr/>
    </dgm:pt>
    <dgm:pt modelId="{6A059010-6FA3-4341-8207-048B1D69FDA9}" type="pres">
      <dgm:prSet presAssocID="{10E5EBF5-DF0E-9740-92CD-58263BF97BB2}" presName="rootText" presStyleLbl="node3" presStyleIdx="1" presStyleCnt="2">
        <dgm:presLayoutVars>
          <dgm:chPref val="3"/>
        </dgm:presLayoutVars>
      </dgm:prSet>
      <dgm:spPr/>
    </dgm:pt>
    <dgm:pt modelId="{DC605AB0-AFFB-0E42-945F-645E55AA2E9B}" type="pres">
      <dgm:prSet presAssocID="{10E5EBF5-DF0E-9740-92CD-58263BF97BB2}" presName="rootConnector" presStyleLbl="node3" presStyleIdx="1" presStyleCnt="2"/>
      <dgm:spPr/>
    </dgm:pt>
    <dgm:pt modelId="{33F732E2-C6C4-9B4A-90A1-3AD8986130BF}" type="pres">
      <dgm:prSet presAssocID="{10E5EBF5-DF0E-9740-92CD-58263BF97BB2}" presName="hierChild4" presStyleCnt="0"/>
      <dgm:spPr/>
    </dgm:pt>
    <dgm:pt modelId="{306B1470-E1E4-D145-B61B-C53888285CEF}" type="pres">
      <dgm:prSet presAssocID="{927EF117-1EE0-1A4F-BC59-42854529EF76}" presName="Name37" presStyleLbl="parChTrans1D4" presStyleIdx="12" presStyleCnt="13"/>
      <dgm:spPr/>
    </dgm:pt>
    <dgm:pt modelId="{7A75C6BA-5545-0C4E-A93A-81AD7D70511B}" type="pres">
      <dgm:prSet presAssocID="{ECFFC85B-3144-7E4C-9F61-1A0CC8B4C35B}" presName="hierRoot2" presStyleCnt="0">
        <dgm:presLayoutVars>
          <dgm:hierBranch val="init"/>
        </dgm:presLayoutVars>
      </dgm:prSet>
      <dgm:spPr/>
    </dgm:pt>
    <dgm:pt modelId="{FA23CD38-AFC3-4C4B-B669-0CB1E3DF38F1}" type="pres">
      <dgm:prSet presAssocID="{ECFFC85B-3144-7E4C-9F61-1A0CC8B4C35B}" presName="rootComposite" presStyleCnt="0"/>
      <dgm:spPr/>
    </dgm:pt>
    <dgm:pt modelId="{85151305-4ED1-A44E-B3A8-FDFB18354DE4}" type="pres">
      <dgm:prSet presAssocID="{ECFFC85B-3144-7E4C-9F61-1A0CC8B4C35B}" presName="rootText" presStyleLbl="node4" presStyleIdx="12" presStyleCnt="13">
        <dgm:presLayoutVars>
          <dgm:chPref val="3"/>
        </dgm:presLayoutVars>
      </dgm:prSet>
      <dgm:spPr/>
    </dgm:pt>
    <dgm:pt modelId="{8F437699-3A09-C54E-92E3-C82D7551E51C}" type="pres">
      <dgm:prSet presAssocID="{ECFFC85B-3144-7E4C-9F61-1A0CC8B4C35B}" presName="rootConnector" presStyleLbl="node4" presStyleIdx="12" presStyleCnt="13"/>
      <dgm:spPr/>
    </dgm:pt>
    <dgm:pt modelId="{3713FB46-822A-1D4F-843E-50A2DD2158BD}" type="pres">
      <dgm:prSet presAssocID="{ECFFC85B-3144-7E4C-9F61-1A0CC8B4C35B}" presName="hierChild4" presStyleCnt="0"/>
      <dgm:spPr/>
    </dgm:pt>
    <dgm:pt modelId="{554AB22E-6E74-634F-81BF-9852D97A1158}" type="pres">
      <dgm:prSet presAssocID="{ECFFC85B-3144-7E4C-9F61-1A0CC8B4C35B}" presName="hierChild5" presStyleCnt="0"/>
      <dgm:spPr/>
    </dgm:pt>
    <dgm:pt modelId="{9212BA6A-F6A0-0F4E-8515-23EA2ABD636E}" type="pres">
      <dgm:prSet presAssocID="{10E5EBF5-DF0E-9740-92CD-58263BF97BB2}" presName="hierChild5" presStyleCnt="0"/>
      <dgm:spPr/>
    </dgm:pt>
    <dgm:pt modelId="{93ACD3BF-A751-3643-9CF8-AF0F28026751}" type="pres">
      <dgm:prSet presAssocID="{D75DD541-5521-7D4E-864E-D24F64187C30}" presName="hierChild5" presStyleCnt="0"/>
      <dgm:spPr/>
    </dgm:pt>
    <dgm:pt modelId="{B3A2A861-477F-A847-A394-2B8F13513D0C}" type="pres">
      <dgm:prSet presAssocID="{3071E72B-23DF-6B40-BF86-28427CBAF4D3}" presName="Name37" presStyleLbl="parChTrans1D2" presStyleIdx="1" presStyleCnt="2"/>
      <dgm:spPr/>
    </dgm:pt>
    <dgm:pt modelId="{3B1AB765-929F-1F45-99ED-FA32988862F1}" type="pres">
      <dgm:prSet presAssocID="{327B0858-1A6B-CD44-BECE-3ECAA100045D}" presName="hierRoot2" presStyleCnt="0">
        <dgm:presLayoutVars>
          <dgm:hierBranch/>
        </dgm:presLayoutVars>
      </dgm:prSet>
      <dgm:spPr/>
    </dgm:pt>
    <dgm:pt modelId="{43A8C4B3-2ED2-6347-B8C6-F9840B96A474}" type="pres">
      <dgm:prSet presAssocID="{327B0858-1A6B-CD44-BECE-3ECAA100045D}" presName="rootComposite" presStyleCnt="0"/>
      <dgm:spPr/>
    </dgm:pt>
    <dgm:pt modelId="{3C5F6D22-FD7F-1349-A917-6520BB7A1086}" type="pres">
      <dgm:prSet presAssocID="{327B0858-1A6B-CD44-BECE-3ECAA100045D}" presName="rootText" presStyleLbl="node2" presStyleIdx="1" presStyleCnt="2">
        <dgm:presLayoutVars>
          <dgm:chPref val="3"/>
        </dgm:presLayoutVars>
      </dgm:prSet>
      <dgm:spPr/>
    </dgm:pt>
    <dgm:pt modelId="{026F17C1-B607-F544-B44F-0676E0E966CF}" type="pres">
      <dgm:prSet presAssocID="{327B0858-1A6B-CD44-BECE-3ECAA100045D}" presName="rootConnector" presStyleLbl="node2" presStyleIdx="1" presStyleCnt="2"/>
      <dgm:spPr/>
    </dgm:pt>
    <dgm:pt modelId="{CEF272E3-C36E-8A41-BEFD-36B404D79E0A}" type="pres">
      <dgm:prSet presAssocID="{327B0858-1A6B-CD44-BECE-3ECAA100045D}" presName="hierChild4" presStyleCnt="0"/>
      <dgm:spPr/>
    </dgm:pt>
    <dgm:pt modelId="{CE5C1034-DD6F-FD4C-9029-15A25F599808}" type="pres">
      <dgm:prSet presAssocID="{327B0858-1A6B-CD44-BECE-3ECAA100045D}" presName="hierChild5" presStyleCnt="0"/>
      <dgm:spPr/>
    </dgm:pt>
    <dgm:pt modelId="{C904D524-23D6-5E4B-9A2E-A589143A5884}" type="pres">
      <dgm:prSet presAssocID="{579FE4E4-6679-BB4A-B2C4-2FF047D60B92}" presName="hierChild3" presStyleCnt="0"/>
      <dgm:spPr/>
    </dgm:pt>
  </dgm:ptLst>
  <dgm:cxnLst>
    <dgm:cxn modelId="{AA726C00-EC5D-1E44-B484-C4B550B0B9AA}" type="presOf" srcId="{579FE4E4-6679-BB4A-B2C4-2FF047D60B92}" destId="{1C14C44D-50AB-9C4D-8EAC-0CE0ABCB3DE1}" srcOrd="1" destOrd="0" presId="urn:microsoft.com/office/officeart/2005/8/layout/orgChart1"/>
    <dgm:cxn modelId="{1C8F4102-3118-0342-8104-E99906F5BABB}" type="presOf" srcId="{9DED64CC-1D3B-E34B-977B-7C0011187489}" destId="{2F98B852-B171-4D45-AFE6-71950F46B422}" srcOrd="0" destOrd="0" presId="urn:microsoft.com/office/officeart/2005/8/layout/orgChart1"/>
    <dgm:cxn modelId="{15A34203-C4C5-E34B-9E7D-B73C27467A7F}" type="presOf" srcId="{BE41ECE8-2796-BF48-B09C-2987580C85DD}" destId="{D0292905-24FD-BA46-82CD-0F5ECF2D4B47}" srcOrd="0" destOrd="0" presId="urn:microsoft.com/office/officeart/2005/8/layout/orgChart1"/>
    <dgm:cxn modelId="{F30B8C04-2F42-0941-B7BB-717FA99A9983}" type="presOf" srcId="{ECFFC85B-3144-7E4C-9F61-1A0CC8B4C35B}" destId="{8F437699-3A09-C54E-92E3-C82D7551E51C}" srcOrd="1" destOrd="0" presId="urn:microsoft.com/office/officeart/2005/8/layout/orgChart1"/>
    <dgm:cxn modelId="{C24EE406-F5F3-DB45-AE70-83F61F56B490}" type="presOf" srcId="{AD3C75A5-2775-B846-8A2C-752088ACDCE0}" destId="{CED16B74-7C8E-E94D-96EA-A29892A6E9C6}" srcOrd="1" destOrd="0" presId="urn:microsoft.com/office/officeart/2005/8/layout/orgChart1"/>
    <dgm:cxn modelId="{D176920D-B3BA-2440-9CEB-79506FFDCDB1}" type="presOf" srcId="{0FB4303F-5633-3A41-91B9-CF9221CB14CE}" destId="{12D9E596-68CD-E042-9CA9-7E4D5B1336E9}" srcOrd="0" destOrd="0" presId="urn:microsoft.com/office/officeart/2005/8/layout/orgChart1"/>
    <dgm:cxn modelId="{816D2D16-34A6-F74F-BC32-A9265F95EACE}" type="presOf" srcId="{D9A477B7-C4D1-974C-9303-FB2315039450}" destId="{B888B38F-F58A-384E-AA5C-931982C67A06}" srcOrd="0" destOrd="0" presId="urn:microsoft.com/office/officeart/2005/8/layout/orgChart1"/>
    <dgm:cxn modelId="{BB833F19-146F-BD4D-86FF-DF87AD4D24DE}" srcId="{0896253A-7272-D342-8E41-5C7CAA02F24A}" destId="{7B1B646D-65BD-3241-BB57-962DCAE8F9D5}" srcOrd="2" destOrd="0" parTransId="{F711EDD3-183E-B34C-9F40-AC4E2B8C2A5C}" sibTransId="{2920DB70-1C57-0B4F-B3CB-A39228D07287}"/>
    <dgm:cxn modelId="{C34BE51A-40FB-0D4C-8E85-413FFCFDAEC5}" type="presOf" srcId="{1D7CF7A7-FAEA-2348-9754-FE5D9CDAA888}" destId="{05E4B61C-1DDC-B540-BF4F-509DE1A36234}" srcOrd="1" destOrd="0" presId="urn:microsoft.com/office/officeart/2005/8/layout/orgChart1"/>
    <dgm:cxn modelId="{5FAB1B22-664B-2044-9026-093806D7E551}" type="presOf" srcId="{7609BFEC-6BBC-6241-83EE-F7A2107CAB16}" destId="{D78FEE65-0DE4-7244-94EB-903942DAC051}" srcOrd="0" destOrd="0" presId="urn:microsoft.com/office/officeart/2005/8/layout/orgChart1"/>
    <dgm:cxn modelId="{99DDC531-8587-CD48-8BA6-2173186B4AA2}" type="presOf" srcId="{B028DEAC-E8DD-7449-AC03-586E3B71E9A7}" destId="{8FD0620E-1D24-8140-8667-7416AB630991}" srcOrd="0" destOrd="0" presId="urn:microsoft.com/office/officeart/2005/8/layout/orgChart1"/>
    <dgm:cxn modelId="{380FC933-910C-1846-ADF1-9DE2496A55FC}" type="presOf" srcId="{ED71514A-A1AF-3643-834D-CF068C3ED064}" destId="{EE78C392-4433-2148-8B39-E8AF680579BD}" srcOrd="0" destOrd="0" presId="urn:microsoft.com/office/officeart/2005/8/layout/orgChart1"/>
    <dgm:cxn modelId="{B8463B36-F2F5-4F4C-976B-C9D491D8D99F}" type="presOf" srcId="{91014C6B-9A35-4B43-B3A0-93865C5B7198}" destId="{78C67511-B23B-3E43-9311-0D3B0872CD5F}" srcOrd="0" destOrd="0" presId="urn:microsoft.com/office/officeart/2005/8/layout/orgChart1"/>
    <dgm:cxn modelId="{82857A3F-D726-3643-AE48-0B53DC2BCBEB}" srcId="{B028DEAC-E8DD-7449-AC03-586E3B71E9A7}" destId="{02CF91FF-8656-254A-8AC9-0FE57B50D85E}" srcOrd="1" destOrd="0" parTransId="{D261179D-3CF5-E441-A994-00B081C9650B}" sibTransId="{F0299457-DB06-FF4F-9021-6E7E83E4126E}"/>
    <dgm:cxn modelId="{D991DA43-48F1-2046-9757-C5B4FFD65822}" type="presOf" srcId="{EC5569B5-B74C-8A44-86E1-24E7931D9970}" destId="{E4DDCFF2-D092-1542-9523-A55D35D9A677}" srcOrd="1" destOrd="0" presId="urn:microsoft.com/office/officeart/2005/8/layout/orgChart1"/>
    <dgm:cxn modelId="{3CB73245-E640-A341-8DD6-8687CB8BD87B}" type="presOf" srcId="{9DED64CC-1D3B-E34B-977B-7C0011187489}" destId="{C603BCE2-9161-E947-A2F2-AD52DACB6C8B}" srcOrd="1" destOrd="0" presId="urn:microsoft.com/office/officeart/2005/8/layout/orgChart1"/>
    <dgm:cxn modelId="{A8E24F46-ADED-6B40-B90A-DE1E48067C11}" type="presOf" srcId="{D0D07BAF-478C-F843-A29C-EFC96C82967C}" destId="{E5CB0813-05F5-0640-A4E8-196A88278595}" srcOrd="0" destOrd="0" presId="urn:microsoft.com/office/officeart/2005/8/layout/orgChart1"/>
    <dgm:cxn modelId="{38C9C646-5C88-6344-931E-1342C235B6B0}" type="presOf" srcId="{02CF91FF-8656-254A-8AC9-0FE57B50D85E}" destId="{43A20908-B29A-204C-9E4E-FDF301477E49}" srcOrd="1" destOrd="0" presId="urn:microsoft.com/office/officeart/2005/8/layout/orgChart1"/>
    <dgm:cxn modelId="{87B61E4B-1541-404E-B16F-2DB23BA37BBD}" type="presOf" srcId="{FFF2E61D-8B31-5440-BFF6-A11847C55424}" destId="{6BDF96A6-FDC3-9D46-B0AB-D77BE918E5F7}" srcOrd="0" destOrd="0" presId="urn:microsoft.com/office/officeart/2005/8/layout/orgChart1"/>
    <dgm:cxn modelId="{6223994D-21BA-5648-9949-23F6081F1B61}" type="presOf" srcId="{BC01DBAA-DE6C-3A48-9D42-8B13FFF88C7C}" destId="{0277C9A3-AA49-4240-A631-109EF978C244}" srcOrd="0" destOrd="0" presId="urn:microsoft.com/office/officeart/2005/8/layout/orgChart1"/>
    <dgm:cxn modelId="{92BE614E-77A4-E24B-B9F1-9C88B7E39897}" srcId="{579FE4E4-6679-BB4A-B2C4-2FF047D60B92}" destId="{327B0858-1A6B-CD44-BECE-3ECAA100045D}" srcOrd="1" destOrd="0" parTransId="{3071E72B-23DF-6B40-BF86-28427CBAF4D3}" sibTransId="{41A50389-C0BC-544E-9377-35665266FEC8}"/>
    <dgm:cxn modelId="{0FFC2050-EDB5-754B-8B57-E47724903C39}" type="presOf" srcId="{D261179D-3CF5-E441-A994-00B081C9650B}" destId="{983D3C43-3D8C-7B44-8754-F9AA37F93603}" srcOrd="0" destOrd="0" presId="urn:microsoft.com/office/officeart/2005/8/layout/orgChart1"/>
    <dgm:cxn modelId="{1EDA2E51-24B6-2244-B6A2-CAF9EF14E863}" type="presOf" srcId="{927EF117-1EE0-1A4F-BC59-42854529EF76}" destId="{306B1470-E1E4-D145-B61B-C53888285CEF}" srcOrd="0" destOrd="0" presId="urn:microsoft.com/office/officeart/2005/8/layout/orgChart1"/>
    <dgm:cxn modelId="{2DC9D255-D8AC-2F49-BB61-EF6F88DE4AFE}" type="presOf" srcId="{D75DD541-5521-7D4E-864E-D24F64187C30}" destId="{105F4567-01E6-814A-95CA-53EB7304C6A9}" srcOrd="1" destOrd="0" presId="urn:microsoft.com/office/officeart/2005/8/layout/orgChart1"/>
    <dgm:cxn modelId="{0A5E4A5A-0E79-3744-B113-5910570F4BE5}" type="presOf" srcId="{327B0858-1A6B-CD44-BECE-3ECAA100045D}" destId="{3C5F6D22-FD7F-1349-A917-6520BB7A1086}" srcOrd="0" destOrd="0" presId="urn:microsoft.com/office/officeart/2005/8/layout/orgChart1"/>
    <dgm:cxn modelId="{8EE77A5A-447E-EE44-BA4E-6348D57B0F69}" type="presOf" srcId="{EC5569B5-B74C-8A44-86E1-24E7931D9970}" destId="{3E3FA7DB-264A-1D48-848D-B975B0303ABE}" srcOrd="0" destOrd="0" presId="urn:microsoft.com/office/officeart/2005/8/layout/orgChart1"/>
    <dgm:cxn modelId="{34937E5A-B766-8C4C-8A2D-0F79E86172C1}" type="presOf" srcId="{D75DD541-5521-7D4E-864E-D24F64187C30}" destId="{FEC7F277-AAAD-E64A-A606-81A6DA6646F5}" srcOrd="0" destOrd="0" presId="urn:microsoft.com/office/officeart/2005/8/layout/orgChart1"/>
    <dgm:cxn modelId="{79195E5B-4046-9845-A28C-23B68FF0CECB}" srcId="{D75DD541-5521-7D4E-864E-D24F64187C30}" destId="{10E5EBF5-DF0E-9740-92CD-58263BF97BB2}" srcOrd="1" destOrd="0" parTransId="{BC01DBAA-DE6C-3A48-9D42-8B13FFF88C7C}" sibTransId="{72C9BA41-90E7-5A45-8FC9-19A87B25F0C4}"/>
    <dgm:cxn modelId="{7E423B62-0228-0D42-988A-EB562186D18E}" type="presOf" srcId="{7B1B646D-65BD-3241-BB57-962DCAE8F9D5}" destId="{E1F4472D-6B59-1446-B831-22920AA5E117}" srcOrd="1" destOrd="0" presId="urn:microsoft.com/office/officeart/2005/8/layout/orgChart1"/>
    <dgm:cxn modelId="{58DC2C63-C0A3-7440-AEF0-53F461C5A633}" srcId="{9DED64CC-1D3B-E34B-977B-7C0011187489}" destId="{735AC0E8-F75C-E341-97C6-74AF0F1029C3}" srcOrd="2" destOrd="0" parTransId="{D0D07BAF-478C-F843-A29C-EFC96C82967C}" sibTransId="{B2AA2BFA-14A1-E241-BB81-9512FA7B39AD}"/>
    <dgm:cxn modelId="{2BB97F6B-BD70-7E41-A429-4EBC625C7915}" srcId="{735AC0E8-F75C-E341-97C6-74AF0F1029C3}" destId="{5800BECF-1D2B-6240-A8D5-3F662D7AF1D9}" srcOrd="0" destOrd="0" parTransId="{7609BFEC-6BBC-6241-83EE-F7A2107CAB16}" sibTransId="{D24B8C13-6C45-8045-ABD1-B592F7E918BF}"/>
    <dgm:cxn modelId="{F89E3B6D-08C7-3241-9961-5EB2EBEC5177}" type="presOf" srcId="{735AC0E8-F75C-E341-97C6-74AF0F1029C3}" destId="{80DBA5C9-695A-9140-BDE2-15BA40164C85}" srcOrd="0" destOrd="0" presId="urn:microsoft.com/office/officeart/2005/8/layout/orgChart1"/>
    <dgm:cxn modelId="{3C80FE6D-117D-A942-B45E-05358862D982}" type="presOf" srcId="{0896253A-7272-D342-8E41-5C7CAA02F24A}" destId="{CF88FF67-3E34-E148-A64B-BE617C749A03}" srcOrd="0" destOrd="0" presId="urn:microsoft.com/office/officeart/2005/8/layout/orgChart1"/>
    <dgm:cxn modelId="{AE7DA26E-E9A4-704E-962D-EBFA0C4D13F4}" type="presOf" srcId="{579FE4E4-6679-BB4A-B2C4-2FF047D60B92}" destId="{8B3CE69B-3BDD-2144-8B40-3E8439602C0A}" srcOrd="0" destOrd="0" presId="urn:microsoft.com/office/officeart/2005/8/layout/orgChart1"/>
    <dgm:cxn modelId="{2C7E2D71-D56B-AA4B-BEE5-31878C776C5D}" srcId="{9DED64CC-1D3B-E34B-977B-7C0011187489}" destId="{0896253A-7272-D342-8E41-5C7CAA02F24A}" srcOrd="0" destOrd="0" parTransId="{178202DA-6F1A-584B-9045-85629663C3F1}" sibTransId="{A15508C3-1212-CC43-9064-CAB178BE8236}"/>
    <dgm:cxn modelId="{08D49A72-5ADC-0E41-8E6E-B2A5848B5F48}" type="presOf" srcId="{CC007B1D-BB53-834B-9CF1-C65726C1BA04}" destId="{D8CD167E-DDF5-8C4E-86E3-377487EE04D9}" srcOrd="0" destOrd="0" presId="urn:microsoft.com/office/officeart/2005/8/layout/orgChart1"/>
    <dgm:cxn modelId="{D924E475-1819-794C-AAE1-536D06C93D54}" type="presOf" srcId="{3071E72B-23DF-6B40-BF86-28427CBAF4D3}" destId="{B3A2A861-477F-A847-A394-2B8F13513D0C}" srcOrd="0" destOrd="0" presId="urn:microsoft.com/office/officeart/2005/8/layout/orgChart1"/>
    <dgm:cxn modelId="{A8AAD57A-80FC-2642-9AE5-5FC83BED4736}" srcId="{735AC0E8-F75C-E341-97C6-74AF0F1029C3}" destId="{EC5569B5-B74C-8A44-86E1-24E7931D9970}" srcOrd="2" destOrd="0" parTransId="{91014C6B-9A35-4B43-B3A0-93865C5B7198}" sibTransId="{C04A7BD7-4C9D-0E45-9E03-7A9818D39EB7}"/>
    <dgm:cxn modelId="{2A75B87F-EA71-D946-A325-DE0ECAF93637}" type="presOf" srcId="{327B0858-1A6B-CD44-BECE-3ECAA100045D}" destId="{026F17C1-B607-F544-B44F-0676E0E966CF}" srcOrd="1" destOrd="0" presId="urn:microsoft.com/office/officeart/2005/8/layout/orgChart1"/>
    <dgm:cxn modelId="{E7E0F580-CEEA-CD46-BB1C-3216BD71FEAC}" type="presOf" srcId="{02CF91FF-8656-254A-8AC9-0FE57B50D85E}" destId="{C94319C2-A8EA-4444-A7C4-9653372E39CC}" srcOrd="0" destOrd="0" presId="urn:microsoft.com/office/officeart/2005/8/layout/orgChart1"/>
    <dgm:cxn modelId="{14B0808F-7C62-3C4A-B59D-121726ED2095}" srcId="{579FE4E4-6679-BB4A-B2C4-2FF047D60B92}" destId="{D75DD541-5521-7D4E-864E-D24F64187C30}" srcOrd="0" destOrd="0" parTransId="{4C8495D1-9835-F746-B92A-D14FD851FFBB}" sibTransId="{3BD40D86-D7E2-F749-A2AF-296EAAC94176}"/>
    <dgm:cxn modelId="{1B881B90-7409-7F47-B81E-CCE10CDA38EC}" srcId="{B028DEAC-E8DD-7449-AC03-586E3B71E9A7}" destId="{1D7CF7A7-FAEA-2348-9754-FE5D9CDAA888}" srcOrd="2" destOrd="0" parTransId="{E5C8F1EC-596F-6146-A7D1-C760EDE05F22}" sibTransId="{83F62D45-0ED2-2045-950E-E94CDB1BA92C}"/>
    <dgm:cxn modelId="{1E4F9891-B098-924F-BBC5-53AC315214F6}" type="presOf" srcId="{E5C8F1EC-596F-6146-A7D1-C760EDE05F22}" destId="{99E045A3-20FB-2D4B-A203-37E7B0D3D038}" srcOrd="0" destOrd="0" presId="urn:microsoft.com/office/officeart/2005/8/layout/orgChart1"/>
    <dgm:cxn modelId="{F940D594-855A-E24E-B5B5-F69673F0C91F}" srcId="{9DED64CC-1D3B-E34B-977B-7C0011187489}" destId="{B028DEAC-E8DD-7449-AC03-586E3B71E9A7}" srcOrd="1" destOrd="0" parTransId="{CC007B1D-BB53-834B-9CF1-C65726C1BA04}" sibTransId="{27479ED3-D369-8440-97E4-1FECE65FBE8F}"/>
    <dgm:cxn modelId="{3E56A198-1F43-424C-A899-49410000FB40}" type="presOf" srcId="{BE41ECE8-2796-BF48-B09C-2987580C85DD}" destId="{965B498C-C016-7847-B260-1A78E6B5EB59}" srcOrd="1" destOrd="0" presId="urn:microsoft.com/office/officeart/2005/8/layout/orgChart1"/>
    <dgm:cxn modelId="{9A50529D-6E19-EF48-AFBB-5E05D4397661}" type="presOf" srcId="{ECFFC85B-3144-7E4C-9F61-1A0CC8B4C35B}" destId="{85151305-4ED1-A44E-B3A8-FDFB18354DE4}" srcOrd="0" destOrd="0" presId="urn:microsoft.com/office/officeart/2005/8/layout/orgChart1"/>
    <dgm:cxn modelId="{7EB46C9D-F195-A349-949D-65E263336EE2}" type="presOf" srcId="{10E5EBF5-DF0E-9740-92CD-58263BF97BB2}" destId="{DC605AB0-AFFB-0E42-945F-645E55AA2E9B}" srcOrd="1" destOrd="0" presId="urn:microsoft.com/office/officeart/2005/8/layout/orgChart1"/>
    <dgm:cxn modelId="{D59E109F-D772-BE4A-9E4D-EFEC7D44BB88}" type="presOf" srcId="{1D7CF7A7-FAEA-2348-9754-FE5D9CDAA888}" destId="{EE2EBE8B-D7E9-9448-A670-A950CC8B6DCC}" srcOrd="0" destOrd="0" presId="urn:microsoft.com/office/officeart/2005/8/layout/orgChart1"/>
    <dgm:cxn modelId="{D2F7BEA1-9012-9842-A98F-FD5EC81CA5B2}" type="presOf" srcId="{5800BECF-1D2B-6240-A8D5-3F662D7AF1D9}" destId="{F7F1004D-1F41-3A46-8B74-523009A19AEE}" srcOrd="0" destOrd="0" presId="urn:microsoft.com/office/officeart/2005/8/layout/orgChart1"/>
    <dgm:cxn modelId="{B624E7A1-DB17-B948-B4DF-26627F013D23}" type="presOf" srcId="{B10E7333-5B45-654C-8B25-29F02A22A46A}" destId="{7AE9A330-AD9C-524C-AA14-10C1AC64346A}" srcOrd="0" destOrd="0" presId="urn:microsoft.com/office/officeart/2005/8/layout/orgChart1"/>
    <dgm:cxn modelId="{D47091A2-0907-F042-9F5B-A3192505EB0D}" type="presOf" srcId="{5800BECF-1D2B-6240-A8D5-3F662D7AF1D9}" destId="{FA934D0F-16F7-4D43-BECC-FED0442821E0}" srcOrd="1" destOrd="0" presId="urn:microsoft.com/office/officeart/2005/8/layout/orgChart1"/>
    <dgm:cxn modelId="{3F6CC1A2-CEB3-444C-9D63-99C709114A42}" type="presOf" srcId="{0896253A-7272-D342-8E41-5C7CAA02F24A}" destId="{4FA9E05E-E4E7-0743-B0F1-FD945F22293B}" srcOrd="1" destOrd="0" presId="urn:microsoft.com/office/officeart/2005/8/layout/orgChart1"/>
    <dgm:cxn modelId="{66A7E0A2-75BF-2D49-A486-8C765B7EC563}" srcId="{735AC0E8-F75C-E341-97C6-74AF0F1029C3}" destId="{FFF2E61D-8B31-5440-BFF6-A11847C55424}" srcOrd="1" destOrd="0" parTransId="{0E50FB17-4152-DC46-A515-8D51946B3E9E}" sibTransId="{DE000975-F675-D44B-AC2D-57258DB39B14}"/>
    <dgm:cxn modelId="{669815A4-BEC8-6F4A-B330-27BD59713B58}" type="presOf" srcId="{7B1B646D-65BD-3241-BB57-962DCAE8F9D5}" destId="{1B8169BC-7F22-FF47-B5F1-847AD742194B}" srcOrd="0" destOrd="0" presId="urn:microsoft.com/office/officeart/2005/8/layout/orgChart1"/>
    <dgm:cxn modelId="{6FC98EAE-A8D1-2643-9F60-0C2DC5039BB8}" type="presOf" srcId="{044D4A22-6891-0046-B2D3-E81264901B33}" destId="{D7FE95DC-9906-6F40-8E15-D490A4A38C4F}" srcOrd="0" destOrd="0" presId="urn:microsoft.com/office/officeart/2005/8/layout/orgChart1"/>
    <dgm:cxn modelId="{94DF0EB0-34A5-874F-8A1E-5C92ADF9013F}" type="presOf" srcId="{178202DA-6F1A-584B-9045-85629663C3F1}" destId="{FFE131CB-A456-574C-A7F2-4E6832DB5D55}" srcOrd="0" destOrd="0" presId="urn:microsoft.com/office/officeart/2005/8/layout/orgChart1"/>
    <dgm:cxn modelId="{1B2C61B1-66B3-3F46-8891-5BEF6A588E70}" srcId="{0896253A-7272-D342-8E41-5C7CAA02F24A}" destId="{AD3C75A5-2775-B846-8A2C-752088ACDCE0}" srcOrd="0" destOrd="0" parTransId="{B10E7333-5B45-654C-8B25-29F02A22A46A}" sibTransId="{863A096F-EB40-2148-BBDF-D114C2F83314}"/>
    <dgm:cxn modelId="{6CD771BB-76DB-C347-B3F1-C54D6F766EA2}" type="presOf" srcId="{FFF2E61D-8B31-5440-BFF6-A11847C55424}" destId="{96A9689C-B342-5249-B733-CB327722A7AD}" srcOrd="1" destOrd="0" presId="urn:microsoft.com/office/officeart/2005/8/layout/orgChart1"/>
    <dgm:cxn modelId="{6DA09BC3-EB14-8C41-B978-91D2312F3D61}" type="presOf" srcId="{F711EDD3-183E-B34C-9F40-AC4E2B8C2A5C}" destId="{C2454405-6CFB-B446-BB13-9F7EE5AB205B}" srcOrd="0" destOrd="0" presId="urn:microsoft.com/office/officeart/2005/8/layout/orgChart1"/>
    <dgm:cxn modelId="{23CCD2C4-E911-BA4E-B35D-DB116B91E7B1}" type="presOf" srcId="{735AC0E8-F75C-E341-97C6-74AF0F1029C3}" destId="{159E0CAD-0B19-5B46-AC50-C9AAF65D1D8B}" srcOrd="1" destOrd="0" presId="urn:microsoft.com/office/officeart/2005/8/layout/orgChart1"/>
    <dgm:cxn modelId="{53BB66C6-986D-DF49-85BF-2B2BBD46DC48}" srcId="{10E5EBF5-DF0E-9740-92CD-58263BF97BB2}" destId="{ECFFC85B-3144-7E4C-9F61-1A0CC8B4C35B}" srcOrd="0" destOrd="0" parTransId="{927EF117-1EE0-1A4F-BC59-42854529EF76}" sibTransId="{EC35D483-1DAD-CF47-947B-2333430830DB}"/>
    <dgm:cxn modelId="{EEAECACA-E87A-4F4C-A4AB-6B9579CC6DF4}" type="presOf" srcId="{0E50FB17-4152-DC46-A515-8D51946B3E9E}" destId="{3749A9B7-472D-6F40-A119-E05DD5427672}" srcOrd="0" destOrd="0" presId="urn:microsoft.com/office/officeart/2005/8/layout/orgChart1"/>
    <dgm:cxn modelId="{903252D2-E554-284D-BB25-DA4EA960D24B}" srcId="{B028DEAC-E8DD-7449-AC03-586E3B71E9A7}" destId="{ED71514A-A1AF-3643-834D-CF068C3ED064}" srcOrd="0" destOrd="0" parTransId="{044D4A22-6891-0046-B2D3-E81264901B33}" sibTransId="{5AB052F6-68A1-D14A-BBD0-7DDDDCD16918}"/>
    <dgm:cxn modelId="{57C043D6-F82B-954D-ADDE-FE61CA97440C}" srcId="{3D71C09D-A141-6C4B-AB96-4DFDAE77D827}" destId="{579FE4E4-6679-BB4A-B2C4-2FF047D60B92}" srcOrd="0" destOrd="0" parTransId="{BD6AA2D9-01A0-9B44-91E2-11DC3705EA4E}" sibTransId="{3DE7DF6F-EA03-7447-B870-5A5F4635B417}"/>
    <dgm:cxn modelId="{239D90DF-33E1-EA46-A673-025F47534E1E}" type="presOf" srcId="{ED71514A-A1AF-3643-834D-CF068C3ED064}" destId="{2BC24A50-1262-4741-A729-7FB339573361}" srcOrd="1" destOrd="0" presId="urn:microsoft.com/office/officeart/2005/8/layout/orgChart1"/>
    <dgm:cxn modelId="{F50C01E4-CD1F-0D45-97D2-0A5C3A542E70}" srcId="{0896253A-7272-D342-8E41-5C7CAA02F24A}" destId="{BE41ECE8-2796-BF48-B09C-2987580C85DD}" srcOrd="1" destOrd="0" parTransId="{0FB4303F-5633-3A41-91B9-CF9221CB14CE}" sibTransId="{3CEC529D-5144-5C46-980C-389333CA1AD1}"/>
    <dgm:cxn modelId="{2C7419E8-7EEE-6F48-8BCA-DDE9244C6028}" type="presOf" srcId="{AD3C75A5-2775-B846-8A2C-752088ACDCE0}" destId="{73E921FB-3C48-464D-8C17-AB029415B342}" srcOrd="0" destOrd="0" presId="urn:microsoft.com/office/officeart/2005/8/layout/orgChart1"/>
    <dgm:cxn modelId="{3AB921ED-180C-5247-BE0C-555287D03314}" type="presOf" srcId="{B028DEAC-E8DD-7449-AC03-586E3B71E9A7}" destId="{9F362E50-81C5-BE45-A116-246990750CE5}" srcOrd="1" destOrd="0" presId="urn:microsoft.com/office/officeart/2005/8/layout/orgChart1"/>
    <dgm:cxn modelId="{FB3BB9F0-02C9-3249-A5EE-15F5DC92D403}" type="presOf" srcId="{4C8495D1-9835-F746-B92A-D14FD851FFBB}" destId="{220E9F06-267C-A941-BA92-DA525C5F922C}" srcOrd="0" destOrd="0" presId="urn:microsoft.com/office/officeart/2005/8/layout/orgChart1"/>
    <dgm:cxn modelId="{658A66F5-EE46-1046-98D0-75A0216E995D}" type="presOf" srcId="{3D71C09D-A141-6C4B-AB96-4DFDAE77D827}" destId="{A0F3C328-8AF1-8941-A843-D9A11AEB7FE1}" srcOrd="0" destOrd="0" presId="urn:microsoft.com/office/officeart/2005/8/layout/orgChart1"/>
    <dgm:cxn modelId="{B3FF2AF8-EDF1-3547-B0D6-82C7B9A1C1E9}" srcId="{D75DD541-5521-7D4E-864E-D24F64187C30}" destId="{9DED64CC-1D3B-E34B-977B-7C0011187489}" srcOrd="0" destOrd="0" parTransId="{D9A477B7-C4D1-974C-9303-FB2315039450}" sibTransId="{7C49E94E-7D04-2E4B-B5E5-6065198B0CEF}"/>
    <dgm:cxn modelId="{7065EDFE-D20B-0C41-88EC-F17CE0DD9E73}" type="presOf" srcId="{10E5EBF5-DF0E-9740-92CD-58263BF97BB2}" destId="{6A059010-6FA3-4341-8207-048B1D69FDA9}" srcOrd="0" destOrd="0" presId="urn:microsoft.com/office/officeart/2005/8/layout/orgChart1"/>
    <dgm:cxn modelId="{4C21F8DE-6D17-9E41-8C36-5D34BD3BEC4D}" type="presParOf" srcId="{A0F3C328-8AF1-8941-A843-D9A11AEB7FE1}" destId="{7114F0BE-BE22-8041-9668-A837B78E921A}" srcOrd="0" destOrd="0" presId="urn:microsoft.com/office/officeart/2005/8/layout/orgChart1"/>
    <dgm:cxn modelId="{9AC3C483-8712-CA4A-9D8D-FBF7E1F649F3}" type="presParOf" srcId="{7114F0BE-BE22-8041-9668-A837B78E921A}" destId="{3560C579-464F-3142-9B86-92C48C50A555}" srcOrd="0" destOrd="0" presId="urn:microsoft.com/office/officeart/2005/8/layout/orgChart1"/>
    <dgm:cxn modelId="{1D6D1E67-2FDF-EB46-B123-37C012F589B7}" type="presParOf" srcId="{3560C579-464F-3142-9B86-92C48C50A555}" destId="{8B3CE69B-3BDD-2144-8B40-3E8439602C0A}" srcOrd="0" destOrd="0" presId="urn:microsoft.com/office/officeart/2005/8/layout/orgChart1"/>
    <dgm:cxn modelId="{0374753F-3C9D-5F4B-8AD5-6ABEB3D12110}" type="presParOf" srcId="{3560C579-464F-3142-9B86-92C48C50A555}" destId="{1C14C44D-50AB-9C4D-8EAC-0CE0ABCB3DE1}" srcOrd="1" destOrd="0" presId="urn:microsoft.com/office/officeart/2005/8/layout/orgChart1"/>
    <dgm:cxn modelId="{FAD50454-0DF1-3F4B-8432-27E306DE0E90}" type="presParOf" srcId="{7114F0BE-BE22-8041-9668-A837B78E921A}" destId="{5288DE7B-C332-5F4D-9B52-CAF67D5E6725}" srcOrd="1" destOrd="0" presId="urn:microsoft.com/office/officeart/2005/8/layout/orgChart1"/>
    <dgm:cxn modelId="{DE77E986-9890-0043-A2A7-0C607A323507}" type="presParOf" srcId="{5288DE7B-C332-5F4D-9B52-CAF67D5E6725}" destId="{220E9F06-267C-A941-BA92-DA525C5F922C}" srcOrd="0" destOrd="0" presId="urn:microsoft.com/office/officeart/2005/8/layout/orgChart1"/>
    <dgm:cxn modelId="{9278F6A8-6207-CE49-9C5C-D7E5936C8349}" type="presParOf" srcId="{5288DE7B-C332-5F4D-9B52-CAF67D5E6725}" destId="{8F1DC924-86A7-694E-956A-A7108E565C42}" srcOrd="1" destOrd="0" presId="urn:microsoft.com/office/officeart/2005/8/layout/orgChart1"/>
    <dgm:cxn modelId="{D4EADC19-13AC-BD48-8602-656195F60E8E}" type="presParOf" srcId="{8F1DC924-86A7-694E-956A-A7108E565C42}" destId="{2510DCE1-F585-5E4E-B55A-3CB300481461}" srcOrd="0" destOrd="0" presId="urn:microsoft.com/office/officeart/2005/8/layout/orgChart1"/>
    <dgm:cxn modelId="{5BDBC425-E796-7A49-BEC0-E3120C8744DC}" type="presParOf" srcId="{2510DCE1-F585-5E4E-B55A-3CB300481461}" destId="{FEC7F277-AAAD-E64A-A606-81A6DA6646F5}" srcOrd="0" destOrd="0" presId="urn:microsoft.com/office/officeart/2005/8/layout/orgChart1"/>
    <dgm:cxn modelId="{1C93A8A3-F8E5-2E4F-A29F-990FA71EC2C7}" type="presParOf" srcId="{2510DCE1-F585-5E4E-B55A-3CB300481461}" destId="{105F4567-01E6-814A-95CA-53EB7304C6A9}" srcOrd="1" destOrd="0" presId="urn:microsoft.com/office/officeart/2005/8/layout/orgChart1"/>
    <dgm:cxn modelId="{494994F7-9C74-E54F-8939-E9305759D9E5}" type="presParOf" srcId="{8F1DC924-86A7-694E-956A-A7108E565C42}" destId="{D4837DB1-9469-9E48-A3E3-5000390FAD78}" srcOrd="1" destOrd="0" presId="urn:microsoft.com/office/officeart/2005/8/layout/orgChart1"/>
    <dgm:cxn modelId="{9D273151-FB82-6146-B078-473106B43E79}" type="presParOf" srcId="{D4837DB1-9469-9E48-A3E3-5000390FAD78}" destId="{B888B38F-F58A-384E-AA5C-931982C67A06}" srcOrd="0" destOrd="0" presId="urn:microsoft.com/office/officeart/2005/8/layout/orgChart1"/>
    <dgm:cxn modelId="{3E38B50E-0AA5-944A-8701-2D5955C5D516}" type="presParOf" srcId="{D4837DB1-9469-9E48-A3E3-5000390FAD78}" destId="{64012036-48F4-5D41-92D1-D6C549510E73}" srcOrd="1" destOrd="0" presId="urn:microsoft.com/office/officeart/2005/8/layout/orgChart1"/>
    <dgm:cxn modelId="{779D4FC1-B6E9-ED4C-BF61-0116B054DCB5}" type="presParOf" srcId="{64012036-48F4-5D41-92D1-D6C549510E73}" destId="{1D3CC229-6E08-3342-9EBF-8E68018773EB}" srcOrd="0" destOrd="0" presId="urn:microsoft.com/office/officeart/2005/8/layout/orgChart1"/>
    <dgm:cxn modelId="{B28A2373-FE0B-7E45-82D7-84E43D9BD2F8}" type="presParOf" srcId="{1D3CC229-6E08-3342-9EBF-8E68018773EB}" destId="{2F98B852-B171-4D45-AFE6-71950F46B422}" srcOrd="0" destOrd="0" presId="urn:microsoft.com/office/officeart/2005/8/layout/orgChart1"/>
    <dgm:cxn modelId="{4F5FBA26-0CC4-7F4C-A684-34BF86B82A40}" type="presParOf" srcId="{1D3CC229-6E08-3342-9EBF-8E68018773EB}" destId="{C603BCE2-9161-E947-A2F2-AD52DACB6C8B}" srcOrd="1" destOrd="0" presId="urn:microsoft.com/office/officeart/2005/8/layout/orgChart1"/>
    <dgm:cxn modelId="{BBBF9EF7-8BDB-AA45-B2E5-8D2E2E42F614}" type="presParOf" srcId="{64012036-48F4-5D41-92D1-D6C549510E73}" destId="{EC59DB19-9380-C04A-BA46-4E33625D25B9}" srcOrd="1" destOrd="0" presId="urn:microsoft.com/office/officeart/2005/8/layout/orgChart1"/>
    <dgm:cxn modelId="{7C9FFE12-BF9D-E348-8B89-01BB075DE547}" type="presParOf" srcId="{EC59DB19-9380-C04A-BA46-4E33625D25B9}" destId="{FFE131CB-A456-574C-A7F2-4E6832DB5D55}" srcOrd="0" destOrd="0" presId="urn:microsoft.com/office/officeart/2005/8/layout/orgChart1"/>
    <dgm:cxn modelId="{CBDD349B-A810-6047-BB34-4375CBBA8131}" type="presParOf" srcId="{EC59DB19-9380-C04A-BA46-4E33625D25B9}" destId="{EB412830-C82F-7547-8FE1-477912667897}" srcOrd="1" destOrd="0" presId="urn:microsoft.com/office/officeart/2005/8/layout/orgChart1"/>
    <dgm:cxn modelId="{0B821C2C-A838-A747-B0BF-280528E84410}" type="presParOf" srcId="{EB412830-C82F-7547-8FE1-477912667897}" destId="{ECCF2663-5F55-3C43-A59F-BDDCA2D82A26}" srcOrd="0" destOrd="0" presId="urn:microsoft.com/office/officeart/2005/8/layout/orgChart1"/>
    <dgm:cxn modelId="{44569A5B-1DA0-3544-B637-FBC0EE532BA8}" type="presParOf" srcId="{ECCF2663-5F55-3C43-A59F-BDDCA2D82A26}" destId="{CF88FF67-3E34-E148-A64B-BE617C749A03}" srcOrd="0" destOrd="0" presId="urn:microsoft.com/office/officeart/2005/8/layout/orgChart1"/>
    <dgm:cxn modelId="{FDDEE372-2239-CB48-83AF-1D905352FD3D}" type="presParOf" srcId="{ECCF2663-5F55-3C43-A59F-BDDCA2D82A26}" destId="{4FA9E05E-E4E7-0743-B0F1-FD945F22293B}" srcOrd="1" destOrd="0" presId="urn:microsoft.com/office/officeart/2005/8/layout/orgChart1"/>
    <dgm:cxn modelId="{3883DF49-E932-4140-80C4-1D158AD5951F}" type="presParOf" srcId="{EB412830-C82F-7547-8FE1-477912667897}" destId="{EA5753BA-0D5B-0A42-99D7-95C9185D34F1}" srcOrd="1" destOrd="0" presId="urn:microsoft.com/office/officeart/2005/8/layout/orgChart1"/>
    <dgm:cxn modelId="{8FB9D8DC-F6ED-414A-AE6A-762D2F9443E9}" type="presParOf" srcId="{EA5753BA-0D5B-0A42-99D7-95C9185D34F1}" destId="{7AE9A330-AD9C-524C-AA14-10C1AC64346A}" srcOrd="0" destOrd="0" presId="urn:microsoft.com/office/officeart/2005/8/layout/orgChart1"/>
    <dgm:cxn modelId="{128EF646-B413-1944-96A1-6DB90ACCCB03}" type="presParOf" srcId="{EA5753BA-0D5B-0A42-99D7-95C9185D34F1}" destId="{B482D918-AAF3-0C48-A820-4F6568F5FBEF}" srcOrd="1" destOrd="0" presId="urn:microsoft.com/office/officeart/2005/8/layout/orgChart1"/>
    <dgm:cxn modelId="{39DB59E2-04EA-AF48-8CA6-F3C990E1724E}" type="presParOf" srcId="{B482D918-AAF3-0C48-A820-4F6568F5FBEF}" destId="{C0123A98-D9EE-B340-8559-B4960E3819F0}" srcOrd="0" destOrd="0" presId="urn:microsoft.com/office/officeart/2005/8/layout/orgChart1"/>
    <dgm:cxn modelId="{F18BD17D-82BE-8945-A10B-7B84E276D544}" type="presParOf" srcId="{C0123A98-D9EE-B340-8559-B4960E3819F0}" destId="{73E921FB-3C48-464D-8C17-AB029415B342}" srcOrd="0" destOrd="0" presId="urn:microsoft.com/office/officeart/2005/8/layout/orgChart1"/>
    <dgm:cxn modelId="{71621F41-EDC1-724B-B57A-4A56FDC0041A}" type="presParOf" srcId="{C0123A98-D9EE-B340-8559-B4960E3819F0}" destId="{CED16B74-7C8E-E94D-96EA-A29892A6E9C6}" srcOrd="1" destOrd="0" presId="urn:microsoft.com/office/officeart/2005/8/layout/orgChart1"/>
    <dgm:cxn modelId="{815E7DAC-A599-F140-8E32-894D34557F0E}" type="presParOf" srcId="{B482D918-AAF3-0C48-A820-4F6568F5FBEF}" destId="{97E1F51A-C1AC-9C4A-82FC-54DA9973D798}" srcOrd="1" destOrd="0" presId="urn:microsoft.com/office/officeart/2005/8/layout/orgChart1"/>
    <dgm:cxn modelId="{F94DE59E-40B1-2647-8B1A-D42D1F044BD0}" type="presParOf" srcId="{B482D918-AAF3-0C48-A820-4F6568F5FBEF}" destId="{7CA5BBF1-6789-A54E-B560-F7E3410E74F0}" srcOrd="2" destOrd="0" presId="urn:microsoft.com/office/officeart/2005/8/layout/orgChart1"/>
    <dgm:cxn modelId="{BDE23534-B119-B145-84E8-D78E3788C89A}" type="presParOf" srcId="{EA5753BA-0D5B-0A42-99D7-95C9185D34F1}" destId="{12D9E596-68CD-E042-9CA9-7E4D5B1336E9}" srcOrd="2" destOrd="0" presId="urn:microsoft.com/office/officeart/2005/8/layout/orgChart1"/>
    <dgm:cxn modelId="{84848C18-F0FE-AD43-B5E2-DCEC9E1809C4}" type="presParOf" srcId="{EA5753BA-0D5B-0A42-99D7-95C9185D34F1}" destId="{993D39D1-EADA-8946-9560-0E3EA015752D}" srcOrd="3" destOrd="0" presId="urn:microsoft.com/office/officeart/2005/8/layout/orgChart1"/>
    <dgm:cxn modelId="{F4E8455D-7B92-3F4D-A75E-1D2D87B1D796}" type="presParOf" srcId="{993D39D1-EADA-8946-9560-0E3EA015752D}" destId="{C57280AA-65B8-D348-A05D-3B382CD8626F}" srcOrd="0" destOrd="0" presId="urn:microsoft.com/office/officeart/2005/8/layout/orgChart1"/>
    <dgm:cxn modelId="{A37158CF-8F1C-9449-8E3C-2467097B7562}" type="presParOf" srcId="{C57280AA-65B8-D348-A05D-3B382CD8626F}" destId="{D0292905-24FD-BA46-82CD-0F5ECF2D4B47}" srcOrd="0" destOrd="0" presId="urn:microsoft.com/office/officeart/2005/8/layout/orgChart1"/>
    <dgm:cxn modelId="{335E3D1B-4264-2D40-90F3-3C8A9C99F522}" type="presParOf" srcId="{C57280AA-65B8-D348-A05D-3B382CD8626F}" destId="{965B498C-C016-7847-B260-1A78E6B5EB59}" srcOrd="1" destOrd="0" presId="urn:microsoft.com/office/officeart/2005/8/layout/orgChart1"/>
    <dgm:cxn modelId="{3510E13E-5EEF-F345-AF96-510473200E90}" type="presParOf" srcId="{993D39D1-EADA-8946-9560-0E3EA015752D}" destId="{8ED20DC7-B6C6-E14E-A222-DF80762CFC7A}" srcOrd="1" destOrd="0" presId="urn:microsoft.com/office/officeart/2005/8/layout/orgChart1"/>
    <dgm:cxn modelId="{6115157B-C4F7-EF4B-BA77-C47E6B4825F5}" type="presParOf" srcId="{993D39D1-EADA-8946-9560-0E3EA015752D}" destId="{14CA465D-C7E8-C745-B06B-82FB9D98335A}" srcOrd="2" destOrd="0" presId="urn:microsoft.com/office/officeart/2005/8/layout/orgChart1"/>
    <dgm:cxn modelId="{1CD78AC6-1026-1146-8225-2CADEDB5E47D}" type="presParOf" srcId="{EA5753BA-0D5B-0A42-99D7-95C9185D34F1}" destId="{C2454405-6CFB-B446-BB13-9F7EE5AB205B}" srcOrd="4" destOrd="0" presId="urn:microsoft.com/office/officeart/2005/8/layout/orgChart1"/>
    <dgm:cxn modelId="{4E759105-DCFA-2C40-B1D1-1C55A462DBD4}" type="presParOf" srcId="{EA5753BA-0D5B-0A42-99D7-95C9185D34F1}" destId="{E60F83D1-DD04-214B-85DC-C433AAB6EA84}" srcOrd="5" destOrd="0" presId="urn:microsoft.com/office/officeart/2005/8/layout/orgChart1"/>
    <dgm:cxn modelId="{DC9D6F34-7A45-CB4E-A564-0051B42BF820}" type="presParOf" srcId="{E60F83D1-DD04-214B-85DC-C433AAB6EA84}" destId="{AE339DC4-8A3A-1E45-8497-6C601B5FB2FE}" srcOrd="0" destOrd="0" presId="urn:microsoft.com/office/officeart/2005/8/layout/orgChart1"/>
    <dgm:cxn modelId="{8A92EB4E-C8CB-7049-9841-9F27E9C2F3F0}" type="presParOf" srcId="{AE339DC4-8A3A-1E45-8497-6C601B5FB2FE}" destId="{1B8169BC-7F22-FF47-B5F1-847AD742194B}" srcOrd="0" destOrd="0" presId="urn:microsoft.com/office/officeart/2005/8/layout/orgChart1"/>
    <dgm:cxn modelId="{68497082-C3BD-0E42-AE62-271FE01068B1}" type="presParOf" srcId="{AE339DC4-8A3A-1E45-8497-6C601B5FB2FE}" destId="{E1F4472D-6B59-1446-B831-22920AA5E117}" srcOrd="1" destOrd="0" presId="urn:microsoft.com/office/officeart/2005/8/layout/orgChart1"/>
    <dgm:cxn modelId="{D9D717CC-4F51-A64C-9D2A-EE248D7CE1DF}" type="presParOf" srcId="{E60F83D1-DD04-214B-85DC-C433AAB6EA84}" destId="{6BF61325-EF6F-A546-8F6B-71F16B7179AA}" srcOrd="1" destOrd="0" presId="urn:microsoft.com/office/officeart/2005/8/layout/orgChart1"/>
    <dgm:cxn modelId="{10FB71E3-BC12-6746-8755-EEA1297242F4}" type="presParOf" srcId="{E60F83D1-DD04-214B-85DC-C433AAB6EA84}" destId="{BB472215-02C6-7B46-9AC0-514F319AC81E}" srcOrd="2" destOrd="0" presId="urn:microsoft.com/office/officeart/2005/8/layout/orgChart1"/>
    <dgm:cxn modelId="{31AF2379-2B03-A946-8F39-1B2E2B7F2BD0}" type="presParOf" srcId="{EB412830-C82F-7547-8FE1-477912667897}" destId="{336D61DD-2CB5-304D-B976-BD8AEE302108}" srcOrd="2" destOrd="0" presId="urn:microsoft.com/office/officeart/2005/8/layout/orgChart1"/>
    <dgm:cxn modelId="{898193CF-CD3A-FA4F-964F-0D8C7B14D1E8}" type="presParOf" srcId="{EC59DB19-9380-C04A-BA46-4E33625D25B9}" destId="{D8CD167E-DDF5-8C4E-86E3-377487EE04D9}" srcOrd="2" destOrd="0" presId="urn:microsoft.com/office/officeart/2005/8/layout/orgChart1"/>
    <dgm:cxn modelId="{A6D68D87-4CDE-6A44-8D84-E17CB44933FB}" type="presParOf" srcId="{EC59DB19-9380-C04A-BA46-4E33625D25B9}" destId="{BDB031DC-25BF-D241-ACB8-B3F23FA245D5}" srcOrd="3" destOrd="0" presId="urn:microsoft.com/office/officeart/2005/8/layout/orgChart1"/>
    <dgm:cxn modelId="{AE36E7B8-93D3-7C46-B745-3DDB8EFEB186}" type="presParOf" srcId="{BDB031DC-25BF-D241-ACB8-B3F23FA245D5}" destId="{53A3355B-7DAD-4441-B56B-7BE5ED220220}" srcOrd="0" destOrd="0" presId="urn:microsoft.com/office/officeart/2005/8/layout/orgChart1"/>
    <dgm:cxn modelId="{DD06C091-4415-B241-8603-DEDBE7C2694A}" type="presParOf" srcId="{53A3355B-7DAD-4441-B56B-7BE5ED220220}" destId="{8FD0620E-1D24-8140-8667-7416AB630991}" srcOrd="0" destOrd="0" presId="urn:microsoft.com/office/officeart/2005/8/layout/orgChart1"/>
    <dgm:cxn modelId="{9B7B372C-888B-B348-98F1-2F76CFF20119}" type="presParOf" srcId="{53A3355B-7DAD-4441-B56B-7BE5ED220220}" destId="{9F362E50-81C5-BE45-A116-246990750CE5}" srcOrd="1" destOrd="0" presId="urn:microsoft.com/office/officeart/2005/8/layout/orgChart1"/>
    <dgm:cxn modelId="{989223A8-6C64-EF4F-8BCB-290D0EC21619}" type="presParOf" srcId="{BDB031DC-25BF-D241-ACB8-B3F23FA245D5}" destId="{A3B54241-A1F9-CF4C-81BC-039F15E598F3}" srcOrd="1" destOrd="0" presId="urn:microsoft.com/office/officeart/2005/8/layout/orgChart1"/>
    <dgm:cxn modelId="{A7C30EEC-1060-314A-83AD-CE3FC895D05D}" type="presParOf" srcId="{A3B54241-A1F9-CF4C-81BC-039F15E598F3}" destId="{D7FE95DC-9906-6F40-8E15-D490A4A38C4F}" srcOrd="0" destOrd="0" presId="urn:microsoft.com/office/officeart/2005/8/layout/orgChart1"/>
    <dgm:cxn modelId="{53690043-5477-224F-B71A-C84C2BCEA500}" type="presParOf" srcId="{A3B54241-A1F9-CF4C-81BC-039F15E598F3}" destId="{70641A37-C2DA-1540-9038-CED457DDE218}" srcOrd="1" destOrd="0" presId="urn:microsoft.com/office/officeart/2005/8/layout/orgChart1"/>
    <dgm:cxn modelId="{8C8C978F-57CD-3042-BA97-8AE2E4A9C5F7}" type="presParOf" srcId="{70641A37-C2DA-1540-9038-CED457DDE218}" destId="{71C1DB1F-D6E3-3942-A9AA-E33D1E3168F2}" srcOrd="0" destOrd="0" presId="urn:microsoft.com/office/officeart/2005/8/layout/orgChart1"/>
    <dgm:cxn modelId="{5F6FFBDB-27CA-6047-BD69-E7E7CB9775D6}" type="presParOf" srcId="{71C1DB1F-D6E3-3942-A9AA-E33D1E3168F2}" destId="{EE78C392-4433-2148-8B39-E8AF680579BD}" srcOrd="0" destOrd="0" presId="urn:microsoft.com/office/officeart/2005/8/layout/orgChart1"/>
    <dgm:cxn modelId="{BFF9999C-8EFD-FE4F-987A-1ED42A64A22B}" type="presParOf" srcId="{71C1DB1F-D6E3-3942-A9AA-E33D1E3168F2}" destId="{2BC24A50-1262-4741-A729-7FB339573361}" srcOrd="1" destOrd="0" presId="urn:microsoft.com/office/officeart/2005/8/layout/orgChart1"/>
    <dgm:cxn modelId="{587BEDFD-401B-BC46-BC1B-AD5A5B9D91BA}" type="presParOf" srcId="{70641A37-C2DA-1540-9038-CED457DDE218}" destId="{EA226ED1-7847-DF44-AABF-98CAA214AB84}" srcOrd="1" destOrd="0" presId="urn:microsoft.com/office/officeart/2005/8/layout/orgChart1"/>
    <dgm:cxn modelId="{738C243C-3C01-2D40-B9F8-E41E5B29A470}" type="presParOf" srcId="{70641A37-C2DA-1540-9038-CED457DDE218}" destId="{DC33F87C-599B-3B4C-8C0D-425D1CE20747}" srcOrd="2" destOrd="0" presId="urn:microsoft.com/office/officeart/2005/8/layout/orgChart1"/>
    <dgm:cxn modelId="{B01068BA-EDE1-F243-8FD3-C81605F96AD2}" type="presParOf" srcId="{A3B54241-A1F9-CF4C-81BC-039F15E598F3}" destId="{983D3C43-3D8C-7B44-8754-F9AA37F93603}" srcOrd="2" destOrd="0" presId="urn:microsoft.com/office/officeart/2005/8/layout/orgChart1"/>
    <dgm:cxn modelId="{4791B89D-B554-AE47-8D00-8183561EB569}" type="presParOf" srcId="{A3B54241-A1F9-CF4C-81BC-039F15E598F3}" destId="{AF7AD769-92BE-5B4E-AD16-73B71B0F58B0}" srcOrd="3" destOrd="0" presId="urn:microsoft.com/office/officeart/2005/8/layout/orgChart1"/>
    <dgm:cxn modelId="{FAC70320-D0C8-6F49-ADA9-4422B2A7D140}" type="presParOf" srcId="{AF7AD769-92BE-5B4E-AD16-73B71B0F58B0}" destId="{9C1C60A5-B021-B445-861D-2BBAEC84B418}" srcOrd="0" destOrd="0" presId="urn:microsoft.com/office/officeart/2005/8/layout/orgChart1"/>
    <dgm:cxn modelId="{E323681E-D196-A84B-8761-B5F7FBBD2C15}" type="presParOf" srcId="{9C1C60A5-B021-B445-861D-2BBAEC84B418}" destId="{C94319C2-A8EA-4444-A7C4-9653372E39CC}" srcOrd="0" destOrd="0" presId="urn:microsoft.com/office/officeart/2005/8/layout/orgChart1"/>
    <dgm:cxn modelId="{BBA6AB0A-807F-A145-8B72-046624798B36}" type="presParOf" srcId="{9C1C60A5-B021-B445-861D-2BBAEC84B418}" destId="{43A20908-B29A-204C-9E4E-FDF301477E49}" srcOrd="1" destOrd="0" presId="urn:microsoft.com/office/officeart/2005/8/layout/orgChart1"/>
    <dgm:cxn modelId="{BF22A1CD-4626-E24D-B321-28EFCB7DF024}" type="presParOf" srcId="{AF7AD769-92BE-5B4E-AD16-73B71B0F58B0}" destId="{2745E645-0ACF-4E4D-A0CB-0EAAE459360F}" srcOrd="1" destOrd="0" presId="urn:microsoft.com/office/officeart/2005/8/layout/orgChart1"/>
    <dgm:cxn modelId="{B25ADB17-F43F-2140-8411-C08FBD745430}" type="presParOf" srcId="{AF7AD769-92BE-5B4E-AD16-73B71B0F58B0}" destId="{BEB9358B-F0D5-0D44-AA5C-0439732CE556}" srcOrd="2" destOrd="0" presId="urn:microsoft.com/office/officeart/2005/8/layout/orgChart1"/>
    <dgm:cxn modelId="{D7831368-91EC-9E44-969C-C80D761658C0}" type="presParOf" srcId="{A3B54241-A1F9-CF4C-81BC-039F15E598F3}" destId="{99E045A3-20FB-2D4B-A203-37E7B0D3D038}" srcOrd="4" destOrd="0" presId="urn:microsoft.com/office/officeart/2005/8/layout/orgChart1"/>
    <dgm:cxn modelId="{51811CAB-15E0-B941-ABB3-F7412B5B3856}" type="presParOf" srcId="{A3B54241-A1F9-CF4C-81BC-039F15E598F3}" destId="{1FCBB13C-B223-F844-9636-9935B5163528}" srcOrd="5" destOrd="0" presId="urn:microsoft.com/office/officeart/2005/8/layout/orgChart1"/>
    <dgm:cxn modelId="{2FAA140A-2A52-2E42-BA5E-9B6B7E907810}" type="presParOf" srcId="{1FCBB13C-B223-F844-9636-9935B5163528}" destId="{B0D677B2-2637-2F40-92A4-39B103F922CE}" srcOrd="0" destOrd="0" presId="urn:microsoft.com/office/officeart/2005/8/layout/orgChart1"/>
    <dgm:cxn modelId="{BA4AC467-CE20-844A-8D06-014CD2E9297B}" type="presParOf" srcId="{B0D677B2-2637-2F40-92A4-39B103F922CE}" destId="{EE2EBE8B-D7E9-9448-A670-A950CC8B6DCC}" srcOrd="0" destOrd="0" presId="urn:microsoft.com/office/officeart/2005/8/layout/orgChart1"/>
    <dgm:cxn modelId="{B02E4B41-9DAB-6743-823F-D762305EBE38}" type="presParOf" srcId="{B0D677B2-2637-2F40-92A4-39B103F922CE}" destId="{05E4B61C-1DDC-B540-BF4F-509DE1A36234}" srcOrd="1" destOrd="0" presId="urn:microsoft.com/office/officeart/2005/8/layout/orgChart1"/>
    <dgm:cxn modelId="{55F156B3-A275-7648-86CD-E9E53E4FBBDF}" type="presParOf" srcId="{1FCBB13C-B223-F844-9636-9935B5163528}" destId="{9A493429-CA12-D941-B880-134889A958F7}" srcOrd="1" destOrd="0" presId="urn:microsoft.com/office/officeart/2005/8/layout/orgChart1"/>
    <dgm:cxn modelId="{A9EB67A0-834D-CF45-8EF3-7EBA99FC11AF}" type="presParOf" srcId="{1FCBB13C-B223-F844-9636-9935B5163528}" destId="{4A4E181B-9DD1-3547-A729-A4CFD51479BA}" srcOrd="2" destOrd="0" presId="urn:microsoft.com/office/officeart/2005/8/layout/orgChart1"/>
    <dgm:cxn modelId="{F62EABD7-1E63-5A44-8AF8-7949E76D9740}" type="presParOf" srcId="{BDB031DC-25BF-D241-ACB8-B3F23FA245D5}" destId="{5A74ABD3-40E8-0B49-B87A-C6C4122CB3E3}" srcOrd="2" destOrd="0" presId="urn:microsoft.com/office/officeart/2005/8/layout/orgChart1"/>
    <dgm:cxn modelId="{638EDE90-F3F7-8E46-9334-8A4499CDC772}" type="presParOf" srcId="{EC59DB19-9380-C04A-BA46-4E33625D25B9}" destId="{E5CB0813-05F5-0640-A4E8-196A88278595}" srcOrd="4" destOrd="0" presId="urn:microsoft.com/office/officeart/2005/8/layout/orgChart1"/>
    <dgm:cxn modelId="{38EF4E10-9651-AF48-BEE6-4478F40B1DF6}" type="presParOf" srcId="{EC59DB19-9380-C04A-BA46-4E33625D25B9}" destId="{A30997CF-D04A-5B42-8DF4-61206806009D}" srcOrd="5" destOrd="0" presId="urn:microsoft.com/office/officeart/2005/8/layout/orgChart1"/>
    <dgm:cxn modelId="{E82EC1A3-9486-004E-93FD-B4D738F4721C}" type="presParOf" srcId="{A30997CF-D04A-5B42-8DF4-61206806009D}" destId="{01276EC2-BD50-F04F-977B-DD4EE6FAD229}" srcOrd="0" destOrd="0" presId="urn:microsoft.com/office/officeart/2005/8/layout/orgChart1"/>
    <dgm:cxn modelId="{2837BAD2-08E5-AA4F-B778-E70060590E73}" type="presParOf" srcId="{01276EC2-BD50-F04F-977B-DD4EE6FAD229}" destId="{80DBA5C9-695A-9140-BDE2-15BA40164C85}" srcOrd="0" destOrd="0" presId="urn:microsoft.com/office/officeart/2005/8/layout/orgChart1"/>
    <dgm:cxn modelId="{C47110B6-F28F-E94B-B1BB-FD1C03B7919B}" type="presParOf" srcId="{01276EC2-BD50-F04F-977B-DD4EE6FAD229}" destId="{159E0CAD-0B19-5B46-AC50-C9AAF65D1D8B}" srcOrd="1" destOrd="0" presId="urn:microsoft.com/office/officeart/2005/8/layout/orgChart1"/>
    <dgm:cxn modelId="{E367642C-7487-9E4F-8026-F0D6801591DC}" type="presParOf" srcId="{A30997CF-D04A-5B42-8DF4-61206806009D}" destId="{DB8AAF49-B0AC-0844-9030-62033EDD1249}" srcOrd="1" destOrd="0" presId="urn:microsoft.com/office/officeart/2005/8/layout/orgChart1"/>
    <dgm:cxn modelId="{B5A24260-EAF5-614A-96C0-F4996661F74C}" type="presParOf" srcId="{DB8AAF49-B0AC-0844-9030-62033EDD1249}" destId="{D78FEE65-0DE4-7244-94EB-903942DAC051}" srcOrd="0" destOrd="0" presId="urn:microsoft.com/office/officeart/2005/8/layout/orgChart1"/>
    <dgm:cxn modelId="{36C96DEF-70B2-E84D-9DC6-12B9F6F2BF1D}" type="presParOf" srcId="{DB8AAF49-B0AC-0844-9030-62033EDD1249}" destId="{E869522B-013C-804B-B56D-64DB283BA09B}" srcOrd="1" destOrd="0" presId="urn:microsoft.com/office/officeart/2005/8/layout/orgChart1"/>
    <dgm:cxn modelId="{AE6F564D-DAF6-484D-AA78-7A0C374D9117}" type="presParOf" srcId="{E869522B-013C-804B-B56D-64DB283BA09B}" destId="{1E58DDCE-0D09-E340-8074-01C93BAB7914}" srcOrd="0" destOrd="0" presId="urn:microsoft.com/office/officeart/2005/8/layout/orgChart1"/>
    <dgm:cxn modelId="{FB8D2A98-76EB-594D-A315-39300BA50F0E}" type="presParOf" srcId="{1E58DDCE-0D09-E340-8074-01C93BAB7914}" destId="{F7F1004D-1F41-3A46-8B74-523009A19AEE}" srcOrd="0" destOrd="0" presId="urn:microsoft.com/office/officeart/2005/8/layout/orgChart1"/>
    <dgm:cxn modelId="{C1B6269F-EDC0-AF48-8CA3-D8C7366AE97D}" type="presParOf" srcId="{1E58DDCE-0D09-E340-8074-01C93BAB7914}" destId="{FA934D0F-16F7-4D43-BECC-FED0442821E0}" srcOrd="1" destOrd="0" presId="urn:microsoft.com/office/officeart/2005/8/layout/orgChart1"/>
    <dgm:cxn modelId="{3E6D2EA7-B79F-5C45-A0AD-633FFEA5287B}" type="presParOf" srcId="{E869522B-013C-804B-B56D-64DB283BA09B}" destId="{FE033D18-DA6B-5B44-856F-07512B189FD5}" srcOrd="1" destOrd="0" presId="urn:microsoft.com/office/officeart/2005/8/layout/orgChart1"/>
    <dgm:cxn modelId="{8794F34F-ACB8-664F-B593-DD37A0F3708A}" type="presParOf" srcId="{E869522B-013C-804B-B56D-64DB283BA09B}" destId="{46160A1B-DECE-6742-A7F4-61EDB3C1A154}" srcOrd="2" destOrd="0" presId="urn:microsoft.com/office/officeart/2005/8/layout/orgChart1"/>
    <dgm:cxn modelId="{10A85CE0-D751-A247-900F-D02DE1775D88}" type="presParOf" srcId="{DB8AAF49-B0AC-0844-9030-62033EDD1249}" destId="{3749A9B7-472D-6F40-A119-E05DD5427672}" srcOrd="2" destOrd="0" presId="urn:microsoft.com/office/officeart/2005/8/layout/orgChart1"/>
    <dgm:cxn modelId="{282A505C-449E-4B41-A4F2-2FB8B274C536}" type="presParOf" srcId="{DB8AAF49-B0AC-0844-9030-62033EDD1249}" destId="{B33C5E43-3C3E-4B4E-B65B-31198F1F25D0}" srcOrd="3" destOrd="0" presId="urn:microsoft.com/office/officeart/2005/8/layout/orgChart1"/>
    <dgm:cxn modelId="{45CACB9F-8813-7847-A192-D46DA0994C7F}" type="presParOf" srcId="{B33C5E43-3C3E-4B4E-B65B-31198F1F25D0}" destId="{F44167A7-7F67-EE4F-A5A6-5F4CB9A9E8D6}" srcOrd="0" destOrd="0" presId="urn:microsoft.com/office/officeart/2005/8/layout/orgChart1"/>
    <dgm:cxn modelId="{03F99294-FA2F-CA48-8044-CAED08209873}" type="presParOf" srcId="{F44167A7-7F67-EE4F-A5A6-5F4CB9A9E8D6}" destId="{6BDF96A6-FDC3-9D46-B0AB-D77BE918E5F7}" srcOrd="0" destOrd="0" presId="urn:microsoft.com/office/officeart/2005/8/layout/orgChart1"/>
    <dgm:cxn modelId="{C15D3FC3-CDC1-0548-A15B-DFB513B1388E}" type="presParOf" srcId="{F44167A7-7F67-EE4F-A5A6-5F4CB9A9E8D6}" destId="{96A9689C-B342-5249-B733-CB327722A7AD}" srcOrd="1" destOrd="0" presId="urn:microsoft.com/office/officeart/2005/8/layout/orgChart1"/>
    <dgm:cxn modelId="{D9B9FF5B-2933-5D4F-B387-DBEF2873D7D4}" type="presParOf" srcId="{B33C5E43-3C3E-4B4E-B65B-31198F1F25D0}" destId="{5688B0D9-3426-3D4C-A826-063B5462EF77}" srcOrd="1" destOrd="0" presId="urn:microsoft.com/office/officeart/2005/8/layout/orgChart1"/>
    <dgm:cxn modelId="{4B692D9C-0D61-6145-B02B-6F4A47449B54}" type="presParOf" srcId="{B33C5E43-3C3E-4B4E-B65B-31198F1F25D0}" destId="{DD84E12B-6D69-0141-9636-30DCE50C0E14}" srcOrd="2" destOrd="0" presId="urn:microsoft.com/office/officeart/2005/8/layout/orgChart1"/>
    <dgm:cxn modelId="{EF4B0CD9-8091-F44F-8FFD-B1C2CA101D86}" type="presParOf" srcId="{DB8AAF49-B0AC-0844-9030-62033EDD1249}" destId="{78C67511-B23B-3E43-9311-0D3B0872CD5F}" srcOrd="4" destOrd="0" presId="urn:microsoft.com/office/officeart/2005/8/layout/orgChart1"/>
    <dgm:cxn modelId="{1D55D223-4639-5E45-8C67-00509E752FCA}" type="presParOf" srcId="{DB8AAF49-B0AC-0844-9030-62033EDD1249}" destId="{06E70F4D-34AD-B94C-BC46-17F2900125FC}" srcOrd="5" destOrd="0" presId="urn:microsoft.com/office/officeart/2005/8/layout/orgChart1"/>
    <dgm:cxn modelId="{F0C6BD9C-9CDA-4A45-B11D-EA2C14071745}" type="presParOf" srcId="{06E70F4D-34AD-B94C-BC46-17F2900125FC}" destId="{AAEF73D7-EB2F-5245-B2A1-422F0847C6C8}" srcOrd="0" destOrd="0" presId="urn:microsoft.com/office/officeart/2005/8/layout/orgChart1"/>
    <dgm:cxn modelId="{A14E1B6D-80C1-744E-974A-4E3096E6D02D}" type="presParOf" srcId="{AAEF73D7-EB2F-5245-B2A1-422F0847C6C8}" destId="{3E3FA7DB-264A-1D48-848D-B975B0303ABE}" srcOrd="0" destOrd="0" presId="urn:microsoft.com/office/officeart/2005/8/layout/orgChart1"/>
    <dgm:cxn modelId="{C64C0F17-DB9B-6549-B5B5-78F3434694B1}" type="presParOf" srcId="{AAEF73D7-EB2F-5245-B2A1-422F0847C6C8}" destId="{E4DDCFF2-D092-1542-9523-A55D35D9A677}" srcOrd="1" destOrd="0" presId="urn:microsoft.com/office/officeart/2005/8/layout/orgChart1"/>
    <dgm:cxn modelId="{C0273CA1-7893-E44D-BA5C-51B20A85F202}" type="presParOf" srcId="{06E70F4D-34AD-B94C-BC46-17F2900125FC}" destId="{40940995-C8A2-4147-802D-BD9C610545A5}" srcOrd="1" destOrd="0" presId="urn:microsoft.com/office/officeart/2005/8/layout/orgChart1"/>
    <dgm:cxn modelId="{6FB78335-887B-904B-9DCD-E05C33956D0D}" type="presParOf" srcId="{06E70F4D-34AD-B94C-BC46-17F2900125FC}" destId="{B6E68463-92C0-C14B-A170-908B1B4B9E67}" srcOrd="2" destOrd="0" presId="urn:microsoft.com/office/officeart/2005/8/layout/orgChart1"/>
    <dgm:cxn modelId="{C8FD46BA-BE21-6842-845C-703729783E5A}" type="presParOf" srcId="{A30997CF-D04A-5B42-8DF4-61206806009D}" destId="{F5FC0026-6DEE-044C-B312-EB183BC82565}" srcOrd="2" destOrd="0" presId="urn:microsoft.com/office/officeart/2005/8/layout/orgChart1"/>
    <dgm:cxn modelId="{81175F82-352F-FD45-B8E6-31A3828B6AD7}" type="presParOf" srcId="{64012036-48F4-5D41-92D1-D6C549510E73}" destId="{1F50C749-D4FA-EF4F-8897-85B9F4C1A97E}" srcOrd="2" destOrd="0" presId="urn:microsoft.com/office/officeart/2005/8/layout/orgChart1"/>
    <dgm:cxn modelId="{E3DB055D-D2EF-6F4D-8C97-51AF8309F18C}" type="presParOf" srcId="{D4837DB1-9469-9E48-A3E3-5000390FAD78}" destId="{0277C9A3-AA49-4240-A631-109EF978C244}" srcOrd="2" destOrd="0" presId="urn:microsoft.com/office/officeart/2005/8/layout/orgChart1"/>
    <dgm:cxn modelId="{9220154D-35B3-8C41-9895-EEC5CB0EB9FD}" type="presParOf" srcId="{D4837DB1-9469-9E48-A3E3-5000390FAD78}" destId="{F0AC1D64-5FCE-6B4F-BF24-D7EB39244651}" srcOrd="3" destOrd="0" presId="urn:microsoft.com/office/officeart/2005/8/layout/orgChart1"/>
    <dgm:cxn modelId="{1DE8F726-9548-A441-9ABE-C741745CC2B9}" type="presParOf" srcId="{F0AC1D64-5FCE-6B4F-BF24-D7EB39244651}" destId="{CCF3165B-5463-1249-9F0F-99B15ABD8C4C}" srcOrd="0" destOrd="0" presId="urn:microsoft.com/office/officeart/2005/8/layout/orgChart1"/>
    <dgm:cxn modelId="{AA8B1A1D-75FD-3840-9139-5E48B72F25B7}" type="presParOf" srcId="{CCF3165B-5463-1249-9F0F-99B15ABD8C4C}" destId="{6A059010-6FA3-4341-8207-048B1D69FDA9}" srcOrd="0" destOrd="0" presId="urn:microsoft.com/office/officeart/2005/8/layout/orgChart1"/>
    <dgm:cxn modelId="{BC7536A1-C32B-0749-8AF2-CE659F0B2737}" type="presParOf" srcId="{CCF3165B-5463-1249-9F0F-99B15ABD8C4C}" destId="{DC605AB0-AFFB-0E42-945F-645E55AA2E9B}" srcOrd="1" destOrd="0" presId="urn:microsoft.com/office/officeart/2005/8/layout/orgChart1"/>
    <dgm:cxn modelId="{7A27DC2B-8E10-E84E-8B04-CAD724DA3FC1}" type="presParOf" srcId="{F0AC1D64-5FCE-6B4F-BF24-D7EB39244651}" destId="{33F732E2-C6C4-9B4A-90A1-3AD8986130BF}" srcOrd="1" destOrd="0" presId="urn:microsoft.com/office/officeart/2005/8/layout/orgChart1"/>
    <dgm:cxn modelId="{274145B3-7C65-C844-9D05-4766E97C9B79}" type="presParOf" srcId="{33F732E2-C6C4-9B4A-90A1-3AD8986130BF}" destId="{306B1470-E1E4-D145-B61B-C53888285CEF}" srcOrd="0" destOrd="0" presId="urn:microsoft.com/office/officeart/2005/8/layout/orgChart1"/>
    <dgm:cxn modelId="{FCFC46C2-3907-F54D-ADAC-48661DD21E51}" type="presParOf" srcId="{33F732E2-C6C4-9B4A-90A1-3AD8986130BF}" destId="{7A75C6BA-5545-0C4E-A93A-81AD7D70511B}" srcOrd="1" destOrd="0" presId="urn:microsoft.com/office/officeart/2005/8/layout/orgChart1"/>
    <dgm:cxn modelId="{80BB337A-3CC3-B442-9672-B5912459D1F0}" type="presParOf" srcId="{7A75C6BA-5545-0C4E-A93A-81AD7D70511B}" destId="{FA23CD38-AFC3-4C4B-B669-0CB1E3DF38F1}" srcOrd="0" destOrd="0" presId="urn:microsoft.com/office/officeart/2005/8/layout/orgChart1"/>
    <dgm:cxn modelId="{84FAE92D-B48E-1048-978E-9B3B35CE56D0}" type="presParOf" srcId="{FA23CD38-AFC3-4C4B-B669-0CB1E3DF38F1}" destId="{85151305-4ED1-A44E-B3A8-FDFB18354DE4}" srcOrd="0" destOrd="0" presId="urn:microsoft.com/office/officeart/2005/8/layout/orgChart1"/>
    <dgm:cxn modelId="{6BD539ED-2722-F948-934A-F99A2C71C01E}" type="presParOf" srcId="{FA23CD38-AFC3-4C4B-B669-0CB1E3DF38F1}" destId="{8F437699-3A09-C54E-92E3-C82D7551E51C}" srcOrd="1" destOrd="0" presId="urn:microsoft.com/office/officeart/2005/8/layout/orgChart1"/>
    <dgm:cxn modelId="{81898C40-92C8-BE4D-925A-27D6BC1D70C2}" type="presParOf" srcId="{7A75C6BA-5545-0C4E-A93A-81AD7D70511B}" destId="{3713FB46-822A-1D4F-843E-50A2DD2158BD}" srcOrd="1" destOrd="0" presId="urn:microsoft.com/office/officeart/2005/8/layout/orgChart1"/>
    <dgm:cxn modelId="{FA297A34-BC70-194F-98C9-B555B3EB5B71}" type="presParOf" srcId="{7A75C6BA-5545-0C4E-A93A-81AD7D70511B}" destId="{554AB22E-6E74-634F-81BF-9852D97A1158}" srcOrd="2" destOrd="0" presId="urn:microsoft.com/office/officeart/2005/8/layout/orgChart1"/>
    <dgm:cxn modelId="{C1233B29-14A0-1D4D-A348-F4ED41B69CB6}" type="presParOf" srcId="{F0AC1D64-5FCE-6B4F-BF24-D7EB39244651}" destId="{9212BA6A-F6A0-0F4E-8515-23EA2ABD636E}" srcOrd="2" destOrd="0" presId="urn:microsoft.com/office/officeart/2005/8/layout/orgChart1"/>
    <dgm:cxn modelId="{D983CBB0-E8E5-1442-9600-3225D93D4E78}" type="presParOf" srcId="{8F1DC924-86A7-694E-956A-A7108E565C42}" destId="{93ACD3BF-A751-3643-9CF8-AF0F28026751}" srcOrd="2" destOrd="0" presId="urn:microsoft.com/office/officeart/2005/8/layout/orgChart1"/>
    <dgm:cxn modelId="{615F00F5-B1CF-6A4E-8A03-35172FE411AB}" type="presParOf" srcId="{5288DE7B-C332-5F4D-9B52-CAF67D5E6725}" destId="{B3A2A861-477F-A847-A394-2B8F13513D0C}" srcOrd="2" destOrd="0" presId="urn:microsoft.com/office/officeart/2005/8/layout/orgChart1"/>
    <dgm:cxn modelId="{CF607E4A-4EFE-6240-9DEE-DF6097B92154}" type="presParOf" srcId="{5288DE7B-C332-5F4D-9B52-CAF67D5E6725}" destId="{3B1AB765-929F-1F45-99ED-FA32988862F1}" srcOrd="3" destOrd="0" presId="urn:microsoft.com/office/officeart/2005/8/layout/orgChart1"/>
    <dgm:cxn modelId="{1D5658A4-4999-E547-871A-69A1B61F42C6}" type="presParOf" srcId="{3B1AB765-929F-1F45-99ED-FA32988862F1}" destId="{43A8C4B3-2ED2-6347-B8C6-F9840B96A474}" srcOrd="0" destOrd="0" presId="urn:microsoft.com/office/officeart/2005/8/layout/orgChart1"/>
    <dgm:cxn modelId="{CE061FAB-F5B2-5246-B307-EFCC9DA9F6C2}" type="presParOf" srcId="{43A8C4B3-2ED2-6347-B8C6-F9840B96A474}" destId="{3C5F6D22-FD7F-1349-A917-6520BB7A1086}" srcOrd="0" destOrd="0" presId="urn:microsoft.com/office/officeart/2005/8/layout/orgChart1"/>
    <dgm:cxn modelId="{67489136-C7B8-7A4D-B2DC-EC6CDF87E610}" type="presParOf" srcId="{43A8C4B3-2ED2-6347-B8C6-F9840B96A474}" destId="{026F17C1-B607-F544-B44F-0676E0E966CF}" srcOrd="1" destOrd="0" presId="urn:microsoft.com/office/officeart/2005/8/layout/orgChart1"/>
    <dgm:cxn modelId="{2F9ED177-7320-3B46-A3CE-CC4A575405A5}" type="presParOf" srcId="{3B1AB765-929F-1F45-99ED-FA32988862F1}" destId="{CEF272E3-C36E-8A41-BEFD-36B404D79E0A}" srcOrd="1" destOrd="0" presId="urn:microsoft.com/office/officeart/2005/8/layout/orgChart1"/>
    <dgm:cxn modelId="{51078072-47F4-3742-876A-D2F0DED3B5BC}" type="presParOf" srcId="{3B1AB765-929F-1F45-99ED-FA32988862F1}" destId="{CE5C1034-DD6F-FD4C-9029-15A25F599808}" srcOrd="2" destOrd="0" presId="urn:microsoft.com/office/officeart/2005/8/layout/orgChart1"/>
    <dgm:cxn modelId="{78AE8A78-9035-D64D-8F5B-7DC1341AAD6E}" type="presParOf" srcId="{7114F0BE-BE22-8041-9668-A837B78E921A}" destId="{C904D524-23D6-5E4B-9A2E-A589143A588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A2A861-477F-A847-A394-2B8F13513D0C}">
      <dsp:nvSpPr>
        <dsp:cNvPr id="0" name=""/>
        <dsp:cNvSpPr/>
      </dsp:nvSpPr>
      <dsp:spPr>
        <a:xfrm>
          <a:off x="5117560" y="619648"/>
          <a:ext cx="748574" cy="259835"/>
        </a:xfrm>
        <a:custGeom>
          <a:avLst/>
          <a:gdLst/>
          <a:ahLst/>
          <a:cxnLst/>
          <a:rect l="0" t="0" r="0" b="0"/>
          <a:pathLst>
            <a:path>
              <a:moveTo>
                <a:pt x="0" y="0"/>
              </a:moveTo>
              <a:lnTo>
                <a:pt x="0" y="129917"/>
              </a:lnTo>
              <a:lnTo>
                <a:pt x="748574" y="129917"/>
              </a:lnTo>
              <a:lnTo>
                <a:pt x="748574" y="2598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6B1470-E1E4-D145-B61B-C53888285CEF}">
      <dsp:nvSpPr>
        <dsp:cNvPr id="0" name=""/>
        <dsp:cNvSpPr/>
      </dsp:nvSpPr>
      <dsp:spPr>
        <a:xfrm>
          <a:off x="5216545" y="2376634"/>
          <a:ext cx="185597" cy="569164"/>
        </a:xfrm>
        <a:custGeom>
          <a:avLst/>
          <a:gdLst/>
          <a:ahLst/>
          <a:cxnLst/>
          <a:rect l="0" t="0" r="0" b="0"/>
          <a:pathLst>
            <a:path>
              <a:moveTo>
                <a:pt x="0" y="0"/>
              </a:moveTo>
              <a:lnTo>
                <a:pt x="0" y="569164"/>
              </a:lnTo>
              <a:lnTo>
                <a:pt x="185597" y="56916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77C9A3-AA49-4240-A631-109EF978C244}">
      <dsp:nvSpPr>
        <dsp:cNvPr id="0" name=""/>
        <dsp:cNvSpPr/>
      </dsp:nvSpPr>
      <dsp:spPr>
        <a:xfrm>
          <a:off x="4368985" y="1498141"/>
          <a:ext cx="1342485" cy="259835"/>
        </a:xfrm>
        <a:custGeom>
          <a:avLst/>
          <a:gdLst/>
          <a:ahLst/>
          <a:cxnLst/>
          <a:rect l="0" t="0" r="0" b="0"/>
          <a:pathLst>
            <a:path>
              <a:moveTo>
                <a:pt x="0" y="0"/>
              </a:moveTo>
              <a:lnTo>
                <a:pt x="0" y="129917"/>
              </a:lnTo>
              <a:lnTo>
                <a:pt x="1342485" y="129917"/>
              </a:lnTo>
              <a:lnTo>
                <a:pt x="1342485" y="25983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C67511-B23B-3E43-9311-0D3B0872CD5F}">
      <dsp:nvSpPr>
        <dsp:cNvPr id="0" name=""/>
        <dsp:cNvSpPr/>
      </dsp:nvSpPr>
      <dsp:spPr>
        <a:xfrm>
          <a:off x="4028724" y="3255127"/>
          <a:ext cx="185597" cy="1518880"/>
        </a:xfrm>
        <a:custGeom>
          <a:avLst/>
          <a:gdLst/>
          <a:ahLst/>
          <a:cxnLst/>
          <a:rect l="0" t="0" r="0" b="0"/>
          <a:pathLst>
            <a:path>
              <a:moveTo>
                <a:pt x="0" y="0"/>
              </a:moveTo>
              <a:lnTo>
                <a:pt x="0" y="1518880"/>
              </a:lnTo>
              <a:lnTo>
                <a:pt x="185597" y="15188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49A9B7-472D-6F40-A119-E05DD5427672}">
      <dsp:nvSpPr>
        <dsp:cNvPr id="0" name=""/>
        <dsp:cNvSpPr/>
      </dsp:nvSpPr>
      <dsp:spPr>
        <a:xfrm>
          <a:off x="4028724" y="3255127"/>
          <a:ext cx="185597" cy="963295"/>
        </a:xfrm>
        <a:custGeom>
          <a:avLst/>
          <a:gdLst/>
          <a:ahLst/>
          <a:cxnLst/>
          <a:rect l="0" t="0" r="0" b="0"/>
          <a:pathLst>
            <a:path>
              <a:moveTo>
                <a:pt x="0" y="0"/>
              </a:moveTo>
              <a:lnTo>
                <a:pt x="0" y="963295"/>
              </a:lnTo>
              <a:lnTo>
                <a:pt x="185597" y="963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8FEE65-0DE4-7244-94EB-903942DAC051}">
      <dsp:nvSpPr>
        <dsp:cNvPr id="0" name=""/>
        <dsp:cNvSpPr/>
      </dsp:nvSpPr>
      <dsp:spPr>
        <a:xfrm>
          <a:off x="4028724" y="3255127"/>
          <a:ext cx="185597" cy="407710"/>
        </a:xfrm>
        <a:custGeom>
          <a:avLst/>
          <a:gdLst/>
          <a:ahLst/>
          <a:cxnLst/>
          <a:rect l="0" t="0" r="0" b="0"/>
          <a:pathLst>
            <a:path>
              <a:moveTo>
                <a:pt x="0" y="0"/>
              </a:moveTo>
              <a:lnTo>
                <a:pt x="0" y="407710"/>
              </a:lnTo>
              <a:lnTo>
                <a:pt x="185597" y="40771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CB0813-05F5-0640-A4E8-196A88278595}">
      <dsp:nvSpPr>
        <dsp:cNvPr id="0" name=""/>
        <dsp:cNvSpPr/>
      </dsp:nvSpPr>
      <dsp:spPr>
        <a:xfrm>
          <a:off x="3026500" y="2376634"/>
          <a:ext cx="1497149" cy="259835"/>
        </a:xfrm>
        <a:custGeom>
          <a:avLst/>
          <a:gdLst/>
          <a:ahLst/>
          <a:cxnLst/>
          <a:rect l="0" t="0" r="0" b="0"/>
          <a:pathLst>
            <a:path>
              <a:moveTo>
                <a:pt x="0" y="0"/>
              </a:moveTo>
              <a:lnTo>
                <a:pt x="0" y="129917"/>
              </a:lnTo>
              <a:lnTo>
                <a:pt x="1497149" y="129917"/>
              </a:lnTo>
              <a:lnTo>
                <a:pt x="1497149" y="25983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E045A3-20FB-2D4B-A203-37E7B0D3D038}">
      <dsp:nvSpPr>
        <dsp:cNvPr id="0" name=""/>
        <dsp:cNvSpPr/>
      </dsp:nvSpPr>
      <dsp:spPr>
        <a:xfrm>
          <a:off x="2531574" y="3255127"/>
          <a:ext cx="185597" cy="1518880"/>
        </a:xfrm>
        <a:custGeom>
          <a:avLst/>
          <a:gdLst/>
          <a:ahLst/>
          <a:cxnLst/>
          <a:rect l="0" t="0" r="0" b="0"/>
          <a:pathLst>
            <a:path>
              <a:moveTo>
                <a:pt x="0" y="0"/>
              </a:moveTo>
              <a:lnTo>
                <a:pt x="0" y="1518880"/>
              </a:lnTo>
              <a:lnTo>
                <a:pt x="185597" y="15188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3D3C43-3D8C-7B44-8754-F9AA37F93603}">
      <dsp:nvSpPr>
        <dsp:cNvPr id="0" name=""/>
        <dsp:cNvSpPr/>
      </dsp:nvSpPr>
      <dsp:spPr>
        <a:xfrm>
          <a:off x="2531574" y="3255127"/>
          <a:ext cx="185597" cy="963295"/>
        </a:xfrm>
        <a:custGeom>
          <a:avLst/>
          <a:gdLst/>
          <a:ahLst/>
          <a:cxnLst/>
          <a:rect l="0" t="0" r="0" b="0"/>
          <a:pathLst>
            <a:path>
              <a:moveTo>
                <a:pt x="0" y="0"/>
              </a:moveTo>
              <a:lnTo>
                <a:pt x="0" y="963295"/>
              </a:lnTo>
              <a:lnTo>
                <a:pt x="185597" y="963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FE95DC-9906-6F40-8E15-D490A4A38C4F}">
      <dsp:nvSpPr>
        <dsp:cNvPr id="0" name=""/>
        <dsp:cNvSpPr/>
      </dsp:nvSpPr>
      <dsp:spPr>
        <a:xfrm>
          <a:off x="2531574" y="3255127"/>
          <a:ext cx="185597" cy="407710"/>
        </a:xfrm>
        <a:custGeom>
          <a:avLst/>
          <a:gdLst/>
          <a:ahLst/>
          <a:cxnLst/>
          <a:rect l="0" t="0" r="0" b="0"/>
          <a:pathLst>
            <a:path>
              <a:moveTo>
                <a:pt x="0" y="0"/>
              </a:moveTo>
              <a:lnTo>
                <a:pt x="0" y="407710"/>
              </a:lnTo>
              <a:lnTo>
                <a:pt x="185597" y="40771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CD167E-DDF5-8C4E-86E3-377487EE04D9}">
      <dsp:nvSpPr>
        <dsp:cNvPr id="0" name=""/>
        <dsp:cNvSpPr/>
      </dsp:nvSpPr>
      <dsp:spPr>
        <a:xfrm>
          <a:off x="2980780" y="2376634"/>
          <a:ext cx="91440" cy="259835"/>
        </a:xfrm>
        <a:custGeom>
          <a:avLst/>
          <a:gdLst/>
          <a:ahLst/>
          <a:cxnLst/>
          <a:rect l="0" t="0" r="0" b="0"/>
          <a:pathLst>
            <a:path>
              <a:moveTo>
                <a:pt x="45720" y="0"/>
              </a:moveTo>
              <a:lnTo>
                <a:pt x="45720" y="25983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454405-6CFB-B446-BB13-9F7EE5AB205B}">
      <dsp:nvSpPr>
        <dsp:cNvPr id="0" name=""/>
        <dsp:cNvSpPr/>
      </dsp:nvSpPr>
      <dsp:spPr>
        <a:xfrm>
          <a:off x="1034424" y="3255127"/>
          <a:ext cx="185597" cy="1518880"/>
        </a:xfrm>
        <a:custGeom>
          <a:avLst/>
          <a:gdLst/>
          <a:ahLst/>
          <a:cxnLst/>
          <a:rect l="0" t="0" r="0" b="0"/>
          <a:pathLst>
            <a:path>
              <a:moveTo>
                <a:pt x="0" y="0"/>
              </a:moveTo>
              <a:lnTo>
                <a:pt x="0" y="1518880"/>
              </a:lnTo>
              <a:lnTo>
                <a:pt x="185597" y="15188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D9E596-68CD-E042-9CA9-7E4D5B1336E9}">
      <dsp:nvSpPr>
        <dsp:cNvPr id="0" name=""/>
        <dsp:cNvSpPr/>
      </dsp:nvSpPr>
      <dsp:spPr>
        <a:xfrm>
          <a:off x="1034424" y="3255127"/>
          <a:ext cx="185597" cy="963295"/>
        </a:xfrm>
        <a:custGeom>
          <a:avLst/>
          <a:gdLst/>
          <a:ahLst/>
          <a:cxnLst/>
          <a:rect l="0" t="0" r="0" b="0"/>
          <a:pathLst>
            <a:path>
              <a:moveTo>
                <a:pt x="0" y="0"/>
              </a:moveTo>
              <a:lnTo>
                <a:pt x="0" y="963295"/>
              </a:lnTo>
              <a:lnTo>
                <a:pt x="185597" y="96329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E9A330-AD9C-524C-AA14-10C1AC64346A}">
      <dsp:nvSpPr>
        <dsp:cNvPr id="0" name=""/>
        <dsp:cNvSpPr/>
      </dsp:nvSpPr>
      <dsp:spPr>
        <a:xfrm>
          <a:off x="1034424" y="3255127"/>
          <a:ext cx="185597" cy="407710"/>
        </a:xfrm>
        <a:custGeom>
          <a:avLst/>
          <a:gdLst/>
          <a:ahLst/>
          <a:cxnLst/>
          <a:rect l="0" t="0" r="0" b="0"/>
          <a:pathLst>
            <a:path>
              <a:moveTo>
                <a:pt x="0" y="0"/>
              </a:moveTo>
              <a:lnTo>
                <a:pt x="0" y="407710"/>
              </a:lnTo>
              <a:lnTo>
                <a:pt x="185597" y="40771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E131CB-A456-574C-A7F2-4E6832DB5D55}">
      <dsp:nvSpPr>
        <dsp:cNvPr id="0" name=""/>
        <dsp:cNvSpPr/>
      </dsp:nvSpPr>
      <dsp:spPr>
        <a:xfrm>
          <a:off x="1529350" y="2376634"/>
          <a:ext cx="1497149" cy="259835"/>
        </a:xfrm>
        <a:custGeom>
          <a:avLst/>
          <a:gdLst/>
          <a:ahLst/>
          <a:cxnLst/>
          <a:rect l="0" t="0" r="0" b="0"/>
          <a:pathLst>
            <a:path>
              <a:moveTo>
                <a:pt x="1497149" y="0"/>
              </a:moveTo>
              <a:lnTo>
                <a:pt x="1497149" y="129917"/>
              </a:lnTo>
              <a:lnTo>
                <a:pt x="0" y="129917"/>
              </a:lnTo>
              <a:lnTo>
                <a:pt x="0" y="25983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88B38F-F58A-384E-AA5C-931982C67A06}">
      <dsp:nvSpPr>
        <dsp:cNvPr id="0" name=""/>
        <dsp:cNvSpPr/>
      </dsp:nvSpPr>
      <dsp:spPr>
        <a:xfrm>
          <a:off x="3026500" y="1498141"/>
          <a:ext cx="1342485" cy="259835"/>
        </a:xfrm>
        <a:custGeom>
          <a:avLst/>
          <a:gdLst/>
          <a:ahLst/>
          <a:cxnLst/>
          <a:rect l="0" t="0" r="0" b="0"/>
          <a:pathLst>
            <a:path>
              <a:moveTo>
                <a:pt x="1342485" y="0"/>
              </a:moveTo>
              <a:lnTo>
                <a:pt x="1342485" y="129917"/>
              </a:lnTo>
              <a:lnTo>
                <a:pt x="0" y="129917"/>
              </a:lnTo>
              <a:lnTo>
                <a:pt x="0" y="25983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0E9F06-267C-A941-BA92-DA525C5F922C}">
      <dsp:nvSpPr>
        <dsp:cNvPr id="0" name=""/>
        <dsp:cNvSpPr/>
      </dsp:nvSpPr>
      <dsp:spPr>
        <a:xfrm>
          <a:off x="4368985" y="619648"/>
          <a:ext cx="748574" cy="259835"/>
        </a:xfrm>
        <a:custGeom>
          <a:avLst/>
          <a:gdLst/>
          <a:ahLst/>
          <a:cxnLst/>
          <a:rect l="0" t="0" r="0" b="0"/>
          <a:pathLst>
            <a:path>
              <a:moveTo>
                <a:pt x="748574" y="0"/>
              </a:moveTo>
              <a:lnTo>
                <a:pt x="748574" y="129917"/>
              </a:lnTo>
              <a:lnTo>
                <a:pt x="0" y="129917"/>
              </a:lnTo>
              <a:lnTo>
                <a:pt x="0" y="2598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3CE69B-3BDD-2144-8B40-3E8439602C0A}">
      <dsp:nvSpPr>
        <dsp:cNvPr id="0" name=""/>
        <dsp:cNvSpPr/>
      </dsp:nvSpPr>
      <dsp:spPr>
        <a:xfrm>
          <a:off x="4498903" y="991"/>
          <a:ext cx="1237314" cy="618657"/>
        </a:xfrm>
        <a:prstGeom prst="rect">
          <a:avLst/>
        </a:prstGeom>
        <a:noFill/>
        <a:ln w="12700" cap="flat" cmpd="sng" algn="ctr">
          <a:solidFill>
            <a:schemeClr val="bg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solidFill>
                <a:schemeClr val="accent1"/>
              </a:solidFill>
            </a:rPr>
            <a:t>daisee</a:t>
          </a:r>
          <a:endParaRPr lang="en-US" sz="1400" kern="1200" dirty="0">
            <a:solidFill>
              <a:schemeClr val="accent1"/>
            </a:solidFill>
          </a:endParaRPr>
        </a:p>
      </dsp:txBody>
      <dsp:txXfrm>
        <a:off x="4498903" y="991"/>
        <a:ext cx="1237314" cy="618657"/>
      </dsp:txXfrm>
    </dsp:sp>
    <dsp:sp modelId="{FEC7F277-AAAD-E64A-A606-81A6DA6646F5}">
      <dsp:nvSpPr>
        <dsp:cNvPr id="0" name=""/>
        <dsp:cNvSpPr/>
      </dsp:nvSpPr>
      <dsp:spPr>
        <a:xfrm>
          <a:off x="3750328" y="879484"/>
          <a:ext cx="1237314" cy="618657"/>
        </a:xfrm>
        <a:prstGeom prst="rect">
          <a:avLst/>
        </a:prstGeom>
        <a:noFill/>
        <a:ln w="12700" cap="flat" cmpd="sng" algn="ctr">
          <a:solidFill>
            <a:schemeClr val="bg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accent1"/>
              </a:solidFill>
            </a:rPr>
            <a:t>Transforming Customer Experience</a:t>
          </a:r>
        </a:p>
      </dsp:txBody>
      <dsp:txXfrm>
        <a:off x="3750328" y="879484"/>
        <a:ext cx="1237314" cy="618657"/>
      </dsp:txXfrm>
    </dsp:sp>
    <dsp:sp modelId="{2F98B852-B171-4D45-AFE6-71950F46B422}">
      <dsp:nvSpPr>
        <dsp:cNvPr id="0" name=""/>
        <dsp:cNvSpPr/>
      </dsp:nvSpPr>
      <dsp:spPr>
        <a:xfrm>
          <a:off x="2407843" y="1757977"/>
          <a:ext cx="1237314" cy="618657"/>
        </a:xfrm>
        <a:prstGeom prst="rect">
          <a:avLst/>
        </a:prstGeom>
        <a:solidFill>
          <a:schemeClr val="accent3">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Listen</a:t>
          </a:r>
        </a:p>
      </dsp:txBody>
      <dsp:txXfrm>
        <a:off x="2407843" y="1757977"/>
        <a:ext cx="1237314" cy="618657"/>
      </dsp:txXfrm>
    </dsp:sp>
    <dsp:sp modelId="{CF88FF67-3E34-E148-A64B-BE617C749A03}">
      <dsp:nvSpPr>
        <dsp:cNvPr id="0" name=""/>
        <dsp:cNvSpPr/>
      </dsp:nvSpPr>
      <dsp:spPr>
        <a:xfrm>
          <a:off x="910693" y="2636470"/>
          <a:ext cx="1237314" cy="618657"/>
        </a:xfrm>
        <a:prstGeom prst="rect">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Compliance</a:t>
          </a:r>
        </a:p>
      </dsp:txBody>
      <dsp:txXfrm>
        <a:off x="910693" y="2636470"/>
        <a:ext cx="1237314" cy="618657"/>
      </dsp:txXfrm>
    </dsp:sp>
    <dsp:sp modelId="{73E921FB-3C48-464D-8C17-AB029415B342}">
      <dsp:nvSpPr>
        <dsp:cNvPr id="0" name=""/>
        <dsp:cNvSpPr/>
      </dsp:nvSpPr>
      <dsp:spPr>
        <a:xfrm>
          <a:off x="1220021" y="3514963"/>
          <a:ext cx="1237314" cy="295748"/>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Beginner</a:t>
          </a:r>
        </a:p>
      </dsp:txBody>
      <dsp:txXfrm>
        <a:off x="1220021" y="3514963"/>
        <a:ext cx="1237314" cy="295748"/>
      </dsp:txXfrm>
    </dsp:sp>
    <dsp:sp modelId="{D0292905-24FD-BA46-82CD-0F5ECF2D4B47}">
      <dsp:nvSpPr>
        <dsp:cNvPr id="0" name=""/>
        <dsp:cNvSpPr/>
      </dsp:nvSpPr>
      <dsp:spPr>
        <a:xfrm>
          <a:off x="1220021" y="4070548"/>
          <a:ext cx="1237314" cy="295748"/>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Intermediate</a:t>
          </a:r>
        </a:p>
      </dsp:txBody>
      <dsp:txXfrm>
        <a:off x="1220021" y="4070548"/>
        <a:ext cx="1237314" cy="295748"/>
      </dsp:txXfrm>
    </dsp:sp>
    <dsp:sp modelId="{1B8169BC-7F22-FF47-B5F1-847AD742194B}">
      <dsp:nvSpPr>
        <dsp:cNvPr id="0" name=""/>
        <dsp:cNvSpPr/>
      </dsp:nvSpPr>
      <dsp:spPr>
        <a:xfrm>
          <a:off x="1220021" y="4626133"/>
          <a:ext cx="1237314" cy="295748"/>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Advanced</a:t>
          </a:r>
        </a:p>
      </dsp:txBody>
      <dsp:txXfrm>
        <a:off x="1220021" y="4626133"/>
        <a:ext cx="1237314" cy="295748"/>
      </dsp:txXfrm>
    </dsp:sp>
    <dsp:sp modelId="{8FD0620E-1D24-8140-8667-7416AB630991}">
      <dsp:nvSpPr>
        <dsp:cNvPr id="0" name=""/>
        <dsp:cNvSpPr/>
      </dsp:nvSpPr>
      <dsp:spPr>
        <a:xfrm>
          <a:off x="2407843" y="2636470"/>
          <a:ext cx="1237314" cy="618657"/>
        </a:xfrm>
        <a:prstGeom prst="rect">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Performance</a:t>
          </a:r>
        </a:p>
      </dsp:txBody>
      <dsp:txXfrm>
        <a:off x="2407843" y="2636470"/>
        <a:ext cx="1237314" cy="618657"/>
      </dsp:txXfrm>
    </dsp:sp>
    <dsp:sp modelId="{EE78C392-4433-2148-8B39-E8AF680579BD}">
      <dsp:nvSpPr>
        <dsp:cNvPr id="0" name=""/>
        <dsp:cNvSpPr/>
      </dsp:nvSpPr>
      <dsp:spPr>
        <a:xfrm>
          <a:off x="2717171" y="3514963"/>
          <a:ext cx="1237314" cy="295748"/>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Beginner</a:t>
          </a:r>
        </a:p>
      </dsp:txBody>
      <dsp:txXfrm>
        <a:off x="2717171" y="3514963"/>
        <a:ext cx="1237314" cy="295748"/>
      </dsp:txXfrm>
    </dsp:sp>
    <dsp:sp modelId="{C94319C2-A8EA-4444-A7C4-9653372E39CC}">
      <dsp:nvSpPr>
        <dsp:cNvPr id="0" name=""/>
        <dsp:cNvSpPr/>
      </dsp:nvSpPr>
      <dsp:spPr>
        <a:xfrm>
          <a:off x="2717171" y="4070548"/>
          <a:ext cx="1237314" cy="295748"/>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Intermediate</a:t>
          </a:r>
        </a:p>
      </dsp:txBody>
      <dsp:txXfrm>
        <a:off x="2717171" y="4070548"/>
        <a:ext cx="1237314" cy="295748"/>
      </dsp:txXfrm>
    </dsp:sp>
    <dsp:sp modelId="{EE2EBE8B-D7E9-9448-A670-A950CC8B6DCC}">
      <dsp:nvSpPr>
        <dsp:cNvPr id="0" name=""/>
        <dsp:cNvSpPr/>
      </dsp:nvSpPr>
      <dsp:spPr>
        <a:xfrm>
          <a:off x="2717171" y="4626133"/>
          <a:ext cx="1237314" cy="295748"/>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Advanced</a:t>
          </a:r>
        </a:p>
      </dsp:txBody>
      <dsp:txXfrm>
        <a:off x="2717171" y="4626133"/>
        <a:ext cx="1237314" cy="295748"/>
      </dsp:txXfrm>
    </dsp:sp>
    <dsp:sp modelId="{80DBA5C9-695A-9140-BDE2-15BA40164C85}">
      <dsp:nvSpPr>
        <dsp:cNvPr id="0" name=""/>
        <dsp:cNvSpPr/>
      </dsp:nvSpPr>
      <dsp:spPr>
        <a:xfrm>
          <a:off x="3904992" y="2636470"/>
          <a:ext cx="1237314" cy="618657"/>
        </a:xfrm>
        <a:prstGeom prst="rect">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Experience</a:t>
          </a:r>
        </a:p>
      </dsp:txBody>
      <dsp:txXfrm>
        <a:off x="3904992" y="2636470"/>
        <a:ext cx="1237314" cy="618657"/>
      </dsp:txXfrm>
    </dsp:sp>
    <dsp:sp modelId="{F7F1004D-1F41-3A46-8B74-523009A19AEE}">
      <dsp:nvSpPr>
        <dsp:cNvPr id="0" name=""/>
        <dsp:cNvSpPr/>
      </dsp:nvSpPr>
      <dsp:spPr>
        <a:xfrm>
          <a:off x="4214321" y="3514963"/>
          <a:ext cx="1237314" cy="295748"/>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Beginner</a:t>
          </a:r>
        </a:p>
      </dsp:txBody>
      <dsp:txXfrm>
        <a:off x="4214321" y="3514963"/>
        <a:ext cx="1237314" cy="295748"/>
      </dsp:txXfrm>
    </dsp:sp>
    <dsp:sp modelId="{6BDF96A6-FDC3-9D46-B0AB-D77BE918E5F7}">
      <dsp:nvSpPr>
        <dsp:cNvPr id="0" name=""/>
        <dsp:cNvSpPr/>
      </dsp:nvSpPr>
      <dsp:spPr>
        <a:xfrm>
          <a:off x="4214321" y="4070548"/>
          <a:ext cx="1237314" cy="295748"/>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Intermediate</a:t>
          </a:r>
        </a:p>
      </dsp:txBody>
      <dsp:txXfrm>
        <a:off x="4214321" y="4070548"/>
        <a:ext cx="1237314" cy="295748"/>
      </dsp:txXfrm>
    </dsp:sp>
    <dsp:sp modelId="{3E3FA7DB-264A-1D48-848D-B975B0303ABE}">
      <dsp:nvSpPr>
        <dsp:cNvPr id="0" name=""/>
        <dsp:cNvSpPr/>
      </dsp:nvSpPr>
      <dsp:spPr>
        <a:xfrm>
          <a:off x="4214321" y="4626133"/>
          <a:ext cx="1237314" cy="295748"/>
        </a:xfrm>
        <a:prstGeom prst="rect">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Advanced</a:t>
          </a:r>
        </a:p>
      </dsp:txBody>
      <dsp:txXfrm>
        <a:off x="4214321" y="4626133"/>
        <a:ext cx="1237314" cy="295748"/>
      </dsp:txXfrm>
    </dsp:sp>
    <dsp:sp modelId="{6A059010-6FA3-4341-8207-048B1D69FDA9}">
      <dsp:nvSpPr>
        <dsp:cNvPr id="0" name=""/>
        <dsp:cNvSpPr/>
      </dsp:nvSpPr>
      <dsp:spPr>
        <a:xfrm>
          <a:off x="5092814" y="1757977"/>
          <a:ext cx="1237314" cy="618657"/>
        </a:xfrm>
        <a:prstGeom prst="rect">
          <a:avLst/>
        </a:prstGeom>
        <a:solidFill>
          <a:schemeClr val="accent3">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Dialogue</a:t>
          </a:r>
        </a:p>
      </dsp:txBody>
      <dsp:txXfrm>
        <a:off x="5092814" y="1757977"/>
        <a:ext cx="1237314" cy="618657"/>
      </dsp:txXfrm>
    </dsp:sp>
    <dsp:sp modelId="{85151305-4ED1-A44E-B3A8-FDFB18354DE4}">
      <dsp:nvSpPr>
        <dsp:cNvPr id="0" name=""/>
        <dsp:cNvSpPr/>
      </dsp:nvSpPr>
      <dsp:spPr>
        <a:xfrm>
          <a:off x="5402142" y="2636470"/>
          <a:ext cx="1237314" cy="618657"/>
        </a:xfrm>
        <a:prstGeom prst="rect">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Chatbot</a:t>
          </a:r>
        </a:p>
      </dsp:txBody>
      <dsp:txXfrm>
        <a:off x="5402142" y="2636470"/>
        <a:ext cx="1237314" cy="618657"/>
      </dsp:txXfrm>
    </dsp:sp>
    <dsp:sp modelId="{3C5F6D22-FD7F-1349-A917-6520BB7A1086}">
      <dsp:nvSpPr>
        <dsp:cNvPr id="0" name=""/>
        <dsp:cNvSpPr/>
      </dsp:nvSpPr>
      <dsp:spPr>
        <a:xfrm>
          <a:off x="5247478" y="879484"/>
          <a:ext cx="1237314" cy="618657"/>
        </a:xfrm>
        <a:prstGeom prst="rect">
          <a:avLst/>
        </a:prstGeom>
        <a:noFill/>
        <a:ln w="12700" cap="flat" cmpd="sng" algn="ctr">
          <a:solidFill>
            <a:schemeClr val="bg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ct val="35000"/>
            </a:spcAft>
            <a:buNone/>
          </a:pPr>
          <a:r>
            <a:rPr lang="en-US" sz="1400" kern="1200" dirty="0">
              <a:solidFill>
                <a:schemeClr val="accent1"/>
              </a:solidFill>
            </a:rPr>
            <a:t>Medical Diagnosis</a:t>
          </a:r>
        </a:p>
      </dsp:txBody>
      <dsp:txXfrm>
        <a:off x="5247478" y="879484"/>
        <a:ext cx="1237314" cy="61865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Light"/>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Calibri Light"/>
              </a:defRPr>
            </a:lvl1pPr>
          </a:lstStyle>
          <a:p>
            <a:fld id="{EFC10EE1-B198-C942-8235-326C972CBB30}" type="datetimeFigureOut">
              <a:rPr lang="en-US" smtClean="0"/>
              <a:pPr/>
              <a:t>5/14/18</a:t>
            </a:fld>
            <a:endParaRPr lang="en-US" dirty="0"/>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Light"/>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Calibri Light"/>
              </a:defRPr>
            </a:lvl1pPr>
          </a:lstStyle>
          <a:p>
            <a:fld id="{006BE02D-20C0-F840-AFAC-BEA99C74FDC2}" type="slidenum">
              <a:rPr lang="en-US" smtClean="0"/>
              <a:pPr/>
              <a:t>‹#›</a:t>
            </a:fld>
            <a:endParaRPr lang="en-US" dirty="0"/>
          </a:p>
        </p:txBody>
      </p:sp>
    </p:spTree>
    <p:extLst>
      <p:ext uri="{BB962C8B-B14F-4D97-AF65-F5344CB8AC3E}">
        <p14:creationId xmlns:p14="http://schemas.microsoft.com/office/powerpoint/2010/main" val="3463289142"/>
      </p:ext>
    </p:extLst>
  </p:cSld>
  <p:clrMap bg1="lt1" tx1="dk1" bg2="lt2" tx2="dk2" accent1="accent1" accent2="accent2" accent3="accent3" accent4="accent4" accent5="accent5" accent6="accent6" hlink="hlink" folHlink="folHlink"/>
  <p:notesStyle>
    <a:lvl1pPr marL="0" algn="l" defTabSz="478803" rtl="0" eaLnBrk="1" latinLnBrk="0" hangingPunct="1">
      <a:defRPr sz="1257" kern="1200">
        <a:solidFill>
          <a:schemeClr val="tx1"/>
        </a:solidFill>
        <a:latin typeface="Calibri Light"/>
        <a:ea typeface="+mn-ea"/>
        <a:cs typeface="+mn-cs"/>
      </a:defRPr>
    </a:lvl1pPr>
    <a:lvl2pPr marL="478803" algn="l" defTabSz="478803" rtl="0" eaLnBrk="1" latinLnBrk="0" hangingPunct="1">
      <a:defRPr sz="1257" kern="1200">
        <a:solidFill>
          <a:schemeClr val="tx1"/>
        </a:solidFill>
        <a:latin typeface="Calibri Light"/>
        <a:ea typeface="+mn-ea"/>
        <a:cs typeface="+mn-cs"/>
      </a:defRPr>
    </a:lvl2pPr>
    <a:lvl3pPr marL="957608" algn="l" defTabSz="478803" rtl="0" eaLnBrk="1" latinLnBrk="0" hangingPunct="1">
      <a:defRPr sz="1257" kern="1200">
        <a:solidFill>
          <a:schemeClr val="tx1"/>
        </a:solidFill>
        <a:latin typeface="Calibri Light"/>
        <a:ea typeface="+mn-ea"/>
        <a:cs typeface="+mn-cs"/>
      </a:defRPr>
    </a:lvl3pPr>
    <a:lvl4pPr marL="1436412" algn="l" defTabSz="478803" rtl="0" eaLnBrk="1" latinLnBrk="0" hangingPunct="1">
      <a:defRPr sz="1257" kern="1200">
        <a:solidFill>
          <a:schemeClr val="tx1"/>
        </a:solidFill>
        <a:latin typeface="Calibri Light"/>
        <a:ea typeface="+mn-ea"/>
        <a:cs typeface="+mn-cs"/>
      </a:defRPr>
    </a:lvl4pPr>
    <a:lvl5pPr marL="1915215" algn="l" defTabSz="478803" rtl="0" eaLnBrk="1" latinLnBrk="0" hangingPunct="1">
      <a:defRPr sz="1257" kern="1200">
        <a:solidFill>
          <a:schemeClr val="tx1"/>
        </a:solidFill>
        <a:latin typeface="Calibri Light"/>
        <a:ea typeface="+mn-ea"/>
        <a:cs typeface="+mn-cs"/>
      </a:defRPr>
    </a:lvl5pPr>
    <a:lvl6pPr marL="2394021" algn="l" defTabSz="478803" rtl="0" eaLnBrk="1" latinLnBrk="0" hangingPunct="1">
      <a:defRPr sz="1257" kern="1200">
        <a:solidFill>
          <a:schemeClr val="tx1"/>
        </a:solidFill>
        <a:latin typeface="+mn-lt"/>
        <a:ea typeface="+mn-ea"/>
        <a:cs typeface="+mn-cs"/>
      </a:defRPr>
    </a:lvl6pPr>
    <a:lvl7pPr marL="2872824" algn="l" defTabSz="478803" rtl="0" eaLnBrk="1" latinLnBrk="0" hangingPunct="1">
      <a:defRPr sz="1257" kern="1200">
        <a:solidFill>
          <a:schemeClr val="tx1"/>
        </a:solidFill>
        <a:latin typeface="+mn-lt"/>
        <a:ea typeface="+mn-ea"/>
        <a:cs typeface="+mn-cs"/>
      </a:defRPr>
    </a:lvl7pPr>
    <a:lvl8pPr marL="3351629" algn="l" defTabSz="478803" rtl="0" eaLnBrk="1" latinLnBrk="0" hangingPunct="1">
      <a:defRPr sz="1257" kern="1200">
        <a:solidFill>
          <a:schemeClr val="tx1"/>
        </a:solidFill>
        <a:latin typeface="+mn-lt"/>
        <a:ea typeface="+mn-ea"/>
        <a:cs typeface="+mn-cs"/>
      </a:defRPr>
    </a:lvl8pPr>
    <a:lvl9pPr marL="3830431" algn="l" defTabSz="478803" rtl="0" eaLnBrk="1" latinLnBrk="0" hangingPunct="1">
      <a:defRPr sz="12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p:spPr>
      </p:sp>
      <p:sp>
        <p:nvSpPr>
          <p:cNvPr id="3" name="Notes Placeholder 2"/>
          <p:cNvSpPr>
            <a:spLocks noGrp="1"/>
          </p:cNvSpPr>
          <p:nvPr>
            <p:ph type="body" idx="1"/>
          </p:nvPr>
        </p:nvSpPr>
        <p:spPr/>
        <p:txBody>
          <a:bodyPr/>
          <a:lstStyle/>
          <a:p>
            <a:endParaRPr lang="en-US" dirty="0">
              <a:highlight>
                <a:srgbClr val="FFFF00"/>
              </a:highlight>
            </a:endParaRPr>
          </a:p>
        </p:txBody>
      </p:sp>
      <p:sp>
        <p:nvSpPr>
          <p:cNvPr id="4" name="Slide Number Placeholder 3"/>
          <p:cNvSpPr>
            <a:spLocks noGrp="1"/>
          </p:cNvSpPr>
          <p:nvPr>
            <p:ph type="sldNum" sz="quarter" idx="10"/>
          </p:nvPr>
        </p:nvSpPr>
        <p:spPr/>
        <p:txBody>
          <a:bodyPr/>
          <a:lstStyle/>
          <a:p>
            <a:fld id="{006BE02D-20C0-F840-AFAC-BEA99C74FDC2}" type="slidenum">
              <a:rPr lang="en-US" smtClean="0"/>
              <a:pPr/>
              <a:t>1</a:t>
            </a:fld>
            <a:endParaRPr lang="en-US" dirty="0"/>
          </a:p>
        </p:txBody>
      </p:sp>
    </p:spTree>
    <p:extLst>
      <p:ext uri="{BB962C8B-B14F-4D97-AF65-F5344CB8AC3E}">
        <p14:creationId xmlns:p14="http://schemas.microsoft.com/office/powerpoint/2010/main" val="1976328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General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A624D-A111-0C44-B853-F49D64492608}"/>
              </a:ext>
            </a:extLst>
          </p:cNvPr>
          <p:cNvSpPr>
            <a:spLocks noGrp="1"/>
          </p:cNvSpPr>
          <p:nvPr>
            <p:ph type="ctrTitle" hasCustomPrompt="1"/>
          </p:nvPr>
        </p:nvSpPr>
        <p:spPr>
          <a:xfrm>
            <a:off x="742950" y="197227"/>
            <a:ext cx="3856482" cy="1466349"/>
          </a:xfrm>
        </p:spPr>
        <p:txBody>
          <a:bodyPr anchor="t">
            <a:normAutofit/>
          </a:bodyPr>
          <a:lstStyle>
            <a:lvl1pPr algn="l">
              <a:lnSpc>
                <a:spcPts val="2900"/>
              </a:lnSpc>
              <a:defRPr sz="2250" b="0" i="0">
                <a:solidFill>
                  <a:schemeClr val="accent1"/>
                </a:solidFill>
                <a:latin typeface="Montserrat Light" pitchFamily="2" charset="77"/>
              </a:defRPr>
            </a:lvl1pPr>
          </a:lstStyle>
          <a:p>
            <a:r>
              <a:rPr lang="en-US" dirty="0"/>
              <a:t>(</a:t>
            </a:r>
            <a:r>
              <a:rPr lang="en-US" dirty="0" err="1"/>
              <a:t>gjp</a:t>
            </a:r>
            <a:r>
              <a:rPr lang="en-US" dirty="0"/>
              <a:t>) Header Line 1</a:t>
            </a:r>
            <a:br>
              <a:rPr lang="en-US" dirty="0"/>
            </a:br>
            <a:r>
              <a:rPr lang="en-US" dirty="0"/>
              <a:t>(</a:t>
            </a:r>
            <a:r>
              <a:rPr lang="en-US" dirty="0" err="1"/>
              <a:t>gjp</a:t>
            </a:r>
            <a:r>
              <a:rPr lang="en-US" dirty="0"/>
              <a:t>) Header Line 2</a:t>
            </a:r>
            <a:br>
              <a:rPr lang="en-US" dirty="0"/>
            </a:br>
            <a:r>
              <a:rPr lang="en-US" dirty="0"/>
              <a:t>(</a:t>
            </a:r>
            <a:r>
              <a:rPr lang="en-US" dirty="0" err="1"/>
              <a:t>gjp</a:t>
            </a:r>
            <a:r>
              <a:rPr lang="en-US" dirty="0"/>
              <a:t>) Header Line 3</a:t>
            </a:r>
          </a:p>
        </p:txBody>
      </p:sp>
      <p:sp>
        <p:nvSpPr>
          <p:cNvPr id="3" name="Subtitle 2">
            <a:extLst>
              <a:ext uri="{FF2B5EF4-FFF2-40B4-BE49-F238E27FC236}">
                <a16:creationId xmlns:a16="http://schemas.microsoft.com/office/drawing/2014/main" id="{8FD039E0-E568-4B40-A95D-F6867137A8EA}"/>
              </a:ext>
            </a:extLst>
          </p:cNvPr>
          <p:cNvSpPr>
            <a:spLocks noGrp="1"/>
          </p:cNvSpPr>
          <p:nvPr>
            <p:ph type="subTitle" idx="1"/>
          </p:nvPr>
        </p:nvSpPr>
        <p:spPr>
          <a:xfrm>
            <a:off x="742950" y="1676968"/>
            <a:ext cx="3856482" cy="4111184"/>
          </a:xfrm>
        </p:spPr>
        <p:txBody>
          <a:bodyPr>
            <a:normAutofit/>
          </a:bodyPr>
          <a:lstStyle>
            <a:lvl1pPr marL="0" indent="0" algn="l">
              <a:buNone/>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56872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07C4C-C18D-4B2D-B459-352F23E67C28}"/>
              </a:ext>
            </a:extLst>
          </p:cNvPr>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169630-CB04-4491-8B63-6A9408437319}"/>
              </a:ext>
            </a:extLst>
          </p:cNvPr>
          <p:cNvSpPr>
            <a:spLocks noGrp="1"/>
          </p:cNvSpPr>
          <p:nvPr>
            <p:ph type="subTitle" idx="1"/>
          </p:nvPr>
        </p:nvSpPr>
        <p:spPr>
          <a:xfrm>
            <a:off x="1238250" y="3602038"/>
            <a:ext cx="74295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994627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General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A624D-A111-0C44-B853-F49D64492608}"/>
              </a:ext>
            </a:extLst>
          </p:cNvPr>
          <p:cNvSpPr>
            <a:spLocks noGrp="1"/>
          </p:cNvSpPr>
          <p:nvPr>
            <p:ph type="ctrTitle" hasCustomPrompt="1"/>
          </p:nvPr>
        </p:nvSpPr>
        <p:spPr>
          <a:xfrm>
            <a:off x="704850" y="336673"/>
            <a:ext cx="3856482" cy="1466349"/>
          </a:xfrm>
        </p:spPr>
        <p:txBody>
          <a:bodyPr lIns="0" tIns="0" rIns="0" bIns="0" anchor="t">
            <a:normAutofit/>
          </a:bodyPr>
          <a:lstStyle>
            <a:lvl1pPr algn="l">
              <a:lnSpc>
                <a:spcPts val="2900"/>
              </a:lnSpc>
              <a:defRPr sz="2250" b="0" i="0">
                <a:solidFill>
                  <a:schemeClr val="accent1"/>
                </a:solidFill>
                <a:latin typeface="Montserrat Light" pitchFamily="2" charset="77"/>
              </a:defRPr>
            </a:lvl1pPr>
          </a:lstStyle>
          <a:p>
            <a:r>
              <a:rPr lang="en-US"/>
              <a:t>(</a:t>
            </a:r>
            <a:r>
              <a:rPr lang="en-US" err="1"/>
              <a:t>gjp</a:t>
            </a:r>
            <a:r>
              <a:rPr lang="en-US"/>
              <a:t>) Header Line 1</a:t>
            </a:r>
            <a:br>
              <a:rPr lang="en-US"/>
            </a:br>
            <a:r>
              <a:rPr lang="en-US"/>
              <a:t>(</a:t>
            </a:r>
            <a:r>
              <a:rPr lang="en-US" err="1"/>
              <a:t>gjp</a:t>
            </a:r>
            <a:r>
              <a:rPr lang="en-US"/>
              <a:t>) Header Line 2</a:t>
            </a:r>
            <a:br>
              <a:rPr lang="en-US"/>
            </a:br>
            <a:r>
              <a:rPr lang="en-US"/>
              <a:t>(</a:t>
            </a:r>
            <a:r>
              <a:rPr lang="en-US" err="1"/>
              <a:t>gjp</a:t>
            </a:r>
            <a:r>
              <a:rPr lang="en-US"/>
              <a:t>) Header Line 3</a:t>
            </a:r>
          </a:p>
        </p:txBody>
      </p:sp>
      <p:sp>
        <p:nvSpPr>
          <p:cNvPr id="3" name="Subtitle 2">
            <a:extLst>
              <a:ext uri="{FF2B5EF4-FFF2-40B4-BE49-F238E27FC236}">
                <a16:creationId xmlns:a16="http://schemas.microsoft.com/office/drawing/2014/main" id="{8FD039E0-E568-4B40-A95D-F6867137A8EA}"/>
              </a:ext>
            </a:extLst>
          </p:cNvPr>
          <p:cNvSpPr>
            <a:spLocks noGrp="1"/>
          </p:cNvSpPr>
          <p:nvPr>
            <p:ph type="subTitle" idx="1"/>
          </p:nvPr>
        </p:nvSpPr>
        <p:spPr>
          <a:xfrm>
            <a:off x="714935" y="1927980"/>
            <a:ext cx="3856482" cy="4111184"/>
          </a:xfrm>
        </p:spPr>
        <p:txBody>
          <a:bodyPr>
            <a:normAutofit/>
          </a:bodyPr>
          <a:lstStyle>
            <a:lvl1pPr marL="0" indent="0" algn="l">
              <a:buNone/>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209504333"/>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5/14/18</a:t>
            </a:fld>
            <a:endParaRPr lang="en-US" dirty="0"/>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
        <p:nvSpPr>
          <p:cNvPr id="8" name="TextBox 7">
            <a:extLst>
              <a:ext uri="{FF2B5EF4-FFF2-40B4-BE49-F238E27FC236}">
                <a16:creationId xmlns:a16="http://schemas.microsoft.com/office/drawing/2014/main" id="{488187CB-C6B0-6643-A55B-BDC0DA1C42EE}"/>
              </a:ext>
            </a:extLst>
          </p:cNvPr>
          <p:cNvSpPr txBox="1"/>
          <p:nvPr userDrawn="1"/>
        </p:nvSpPr>
        <p:spPr>
          <a:xfrm>
            <a:off x="138254" y="6517314"/>
            <a:ext cx="295602" cy="230965"/>
          </a:xfrm>
          <a:prstGeom prst="rect">
            <a:avLst/>
          </a:prstGeom>
          <a:noFill/>
        </p:spPr>
        <p:txBody>
          <a:bodyPr wrap="none" lIns="68584" tIns="34292" rIns="68584" bIns="34292" rtlCol="0">
            <a:spAutoFit/>
          </a:bodyPr>
          <a:lstStyle/>
          <a:p>
            <a:pPr algn="ctr"/>
            <a:fld id="{260E2A6B-A809-4840-BF14-8648BC0BDF87}" type="slidenum">
              <a:rPr lang="id-ID" sz="1051" b="1" smtClean="0">
                <a:solidFill>
                  <a:schemeClr val="accent1"/>
                </a:solidFill>
                <a:latin typeface="Calibri Light"/>
                <a:cs typeface="Calibri Light"/>
              </a:rPr>
              <a:pPr algn="ctr"/>
              <a:t>‹#›</a:t>
            </a:fld>
            <a:endParaRPr lang="id-ID" sz="1051" dirty="0">
              <a:solidFill>
                <a:schemeClr val="accent1"/>
              </a:solidFill>
              <a:latin typeface="Calibri Light"/>
              <a:cs typeface="Calibri Light"/>
            </a:endParaRPr>
          </a:p>
        </p:txBody>
      </p:sp>
      <p:pic>
        <p:nvPicPr>
          <p:cNvPr id="9" name="Picture 8">
            <a:extLst>
              <a:ext uri="{FF2B5EF4-FFF2-40B4-BE49-F238E27FC236}">
                <a16:creationId xmlns:a16="http://schemas.microsoft.com/office/drawing/2014/main" id="{C8734664-AA75-6644-BA3C-E729D431FF5D}"/>
              </a:ext>
            </a:extLst>
          </p:cNvPr>
          <p:cNvPicPr>
            <a:picLocks noChangeAspect="1"/>
          </p:cNvPicPr>
          <p:nvPr userDrawn="1"/>
        </p:nvPicPr>
        <p:blipFill>
          <a:blip r:embed="rId3"/>
          <a:stretch>
            <a:fillRect/>
          </a:stretch>
        </p:blipFill>
        <p:spPr>
          <a:xfrm>
            <a:off x="9374460" y="6192742"/>
            <a:ext cx="282801" cy="480876"/>
          </a:xfrm>
          <a:prstGeom prst="rect">
            <a:avLst/>
          </a:prstGeom>
        </p:spPr>
      </p:pic>
    </p:spTree>
    <p:extLst>
      <p:ext uri="{BB962C8B-B14F-4D97-AF65-F5344CB8AC3E}">
        <p14:creationId xmlns:p14="http://schemas.microsoft.com/office/powerpoint/2010/main" val="884587470"/>
      </p:ext>
    </p:extLst>
  </p:cSld>
  <p:clrMap bg1="lt1" tx1="dk1" bg2="lt2" tx2="dk2" accent1="accent1" accent2="accent2" accent3="accent3" accent4="accent4" accent5="accent5" accent6="accent6" hlink="hlink" folHlink="folHlink"/>
  <p:sldLayoutIdLst>
    <p:sldLayoutId id="214748390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3880929"/>
      </p:ext>
    </p:extLst>
  </p:cSld>
  <p:clrMap bg1="lt1" tx1="dk1" bg2="lt2" tx2="dk2" accent1="accent1" accent2="accent2" accent3="accent3" accent4="accent4" accent5="accent5" accent6="accent6" hlink="hlink" folHlink="folHlink"/>
  <p:sldLayoutIdLst>
    <p:sldLayoutId id="214748390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5/14/18</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a:p>
        </p:txBody>
      </p:sp>
      <p:sp>
        <p:nvSpPr>
          <p:cNvPr id="8" name="TextBox 7">
            <a:extLst>
              <a:ext uri="{FF2B5EF4-FFF2-40B4-BE49-F238E27FC236}">
                <a16:creationId xmlns:a16="http://schemas.microsoft.com/office/drawing/2014/main" id="{488187CB-C6B0-6643-A55B-BDC0DA1C42EE}"/>
              </a:ext>
            </a:extLst>
          </p:cNvPr>
          <p:cNvSpPr txBox="1"/>
          <p:nvPr userDrawn="1"/>
        </p:nvSpPr>
        <p:spPr>
          <a:xfrm>
            <a:off x="138254" y="6517314"/>
            <a:ext cx="295602" cy="230965"/>
          </a:xfrm>
          <a:prstGeom prst="rect">
            <a:avLst/>
          </a:prstGeom>
          <a:noFill/>
        </p:spPr>
        <p:txBody>
          <a:bodyPr wrap="none" lIns="68584" tIns="34292" rIns="68584" bIns="34292" rtlCol="0">
            <a:spAutoFit/>
          </a:bodyPr>
          <a:lstStyle/>
          <a:p>
            <a:pPr algn="ctr"/>
            <a:fld id="{260E2A6B-A809-4840-BF14-8648BC0BDF87}" type="slidenum">
              <a:rPr lang="id-ID" sz="1051" b="1" smtClean="0">
                <a:solidFill>
                  <a:schemeClr val="accent1"/>
                </a:solidFill>
                <a:latin typeface="Calibri Light"/>
                <a:cs typeface="Calibri Light"/>
              </a:rPr>
              <a:pPr algn="ctr"/>
              <a:t>‹#›</a:t>
            </a:fld>
            <a:endParaRPr lang="id-ID" sz="1051">
              <a:solidFill>
                <a:schemeClr val="accent1"/>
              </a:solidFill>
              <a:latin typeface="Calibri Light"/>
              <a:cs typeface="Calibri Light"/>
            </a:endParaRPr>
          </a:p>
        </p:txBody>
      </p:sp>
      <p:pic>
        <p:nvPicPr>
          <p:cNvPr id="9" name="Picture 8">
            <a:extLst>
              <a:ext uri="{FF2B5EF4-FFF2-40B4-BE49-F238E27FC236}">
                <a16:creationId xmlns:a16="http://schemas.microsoft.com/office/drawing/2014/main" id="{C8734664-AA75-6644-BA3C-E729D431FF5D}"/>
              </a:ext>
            </a:extLst>
          </p:cNvPr>
          <p:cNvPicPr>
            <a:picLocks noChangeAspect="1"/>
          </p:cNvPicPr>
          <p:nvPr userDrawn="1"/>
        </p:nvPicPr>
        <p:blipFill>
          <a:blip r:embed="rId3"/>
          <a:stretch>
            <a:fillRect/>
          </a:stretch>
        </p:blipFill>
        <p:spPr>
          <a:xfrm>
            <a:off x="9374460" y="6192742"/>
            <a:ext cx="282801" cy="480876"/>
          </a:xfrm>
          <a:prstGeom prst="rect">
            <a:avLst/>
          </a:prstGeom>
        </p:spPr>
      </p:pic>
    </p:spTree>
    <p:extLst>
      <p:ext uri="{BB962C8B-B14F-4D97-AF65-F5344CB8AC3E}">
        <p14:creationId xmlns:p14="http://schemas.microsoft.com/office/powerpoint/2010/main" val="2247118263"/>
      </p:ext>
    </p:extLst>
  </p:cSld>
  <p:clrMap bg1="lt1" tx1="dk1" bg2="lt2" tx2="dk2" accent1="accent1" accent2="accent2" accent3="accent3" accent4="accent4" accent5="accent5" accent6="accent6" hlink="hlink" folHlink="folHlink"/>
  <p:sldLayoutIdLst>
    <p:sldLayoutId id="2147483906"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0">
          <p15:clr>
            <a:srgbClr val="F26B43"/>
          </p15:clr>
        </p15:guide>
        <p15:guide id="2" pos="444">
          <p15:clr>
            <a:srgbClr val="F26B43"/>
          </p15:clr>
        </p15:guide>
        <p15:guide id="3" orient="horz" pos="4049">
          <p15:clr>
            <a:srgbClr val="F26B43"/>
          </p15:clr>
        </p15:guide>
        <p15:guide id="4" pos="579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4404174-23AE-1A40-879E-23FCE8D89C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078"/>
          <a:stretch/>
        </p:blipFill>
        <p:spPr>
          <a:xfrm>
            <a:off x="0" y="-1"/>
            <a:ext cx="9905999" cy="6858001"/>
          </a:xfrm>
          <a:prstGeom prst="rect">
            <a:avLst/>
          </a:prstGeom>
        </p:spPr>
      </p:pic>
      <p:sp>
        <p:nvSpPr>
          <p:cNvPr id="7" name="Rectangle 6">
            <a:extLst>
              <a:ext uri="{FF2B5EF4-FFF2-40B4-BE49-F238E27FC236}">
                <a16:creationId xmlns:a16="http://schemas.microsoft.com/office/drawing/2014/main" id="{947F4E45-FE50-A64E-94EA-B2AC2A04EAC9}"/>
              </a:ext>
            </a:extLst>
          </p:cNvPr>
          <p:cNvSpPr/>
          <p:nvPr/>
        </p:nvSpPr>
        <p:spPr>
          <a:xfrm>
            <a:off x="0" y="0"/>
            <a:ext cx="9906000" cy="6858000"/>
          </a:xfrm>
          <a:prstGeom prst="rect">
            <a:avLst/>
          </a:pr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6" dirty="0"/>
          </a:p>
        </p:txBody>
      </p:sp>
      <p:sp>
        <p:nvSpPr>
          <p:cNvPr id="16" name="Rectangle 15">
            <a:extLst>
              <a:ext uri="{FF2B5EF4-FFF2-40B4-BE49-F238E27FC236}">
                <a16:creationId xmlns:a16="http://schemas.microsoft.com/office/drawing/2014/main" id="{B4853379-16A2-4369-B9E7-3CE75D791609}"/>
              </a:ext>
            </a:extLst>
          </p:cNvPr>
          <p:cNvSpPr>
            <a:spLocks/>
          </p:cNvSpPr>
          <p:nvPr/>
        </p:nvSpPr>
        <p:spPr bwMode="auto">
          <a:xfrm>
            <a:off x="2191701" y="3182780"/>
            <a:ext cx="5522595" cy="4924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GB" sz="3200" dirty="0" err="1">
                <a:solidFill>
                  <a:schemeClr val="bg1"/>
                </a:solidFill>
                <a:latin typeface="Montserrat Light" pitchFamily="2" charset="77"/>
                <a:ea typeface="Montserrat Light" charset="0"/>
                <a:cs typeface="Montserrat Light" charset="0"/>
                <a:sym typeface="Bebas Neue" charset="0"/>
              </a:rPr>
              <a:t>Ekko</a:t>
            </a:r>
            <a:r>
              <a:rPr lang="en-GB" sz="3200" dirty="0">
                <a:solidFill>
                  <a:schemeClr val="bg1"/>
                </a:solidFill>
                <a:latin typeface="Montserrat Light" pitchFamily="2" charset="77"/>
                <a:ea typeface="Montserrat Light" charset="0"/>
                <a:cs typeface="Montserrat Light" charset="0"/>
                <a:sym typeface="Bebas Neue" charset="0"/>
              </a:rPr>
              <a:t> Proposition</a:t>
            </a:r>
          </a:p>
        </p:txBody>
      </p:sp>
      <p:pic>
        <p:nvPicPr>
          <p:cNvPr id="6" name="Picture 5">
            <a:extLst>
              <a:ext uri="{FF2B5EF4-FFF2-40B4-BE49-F238E27FC236}">
                <a16:creationId xmlns:a16="http://schemas.microsoft.com/office/drawing/2014/main" id="{854AA892-E45B-CF47-820A-628A67046F82}"/>
              </a:ext>
            </a:extLst>
          </p:cNvPr>
          <p:cNvPicPr>
            <a:picLocks noChangeAspect="1"/>
          </p:cNvPicPr>
          <p:nvPr/>
        </p:nvPicPr>
        <p:blipFill>
          <a:blip r:embed="rId4"/>
          <a:stretch>
            <a:fillRect/>
          </a:stretch>
        </p:blipFill>
        <p:spPr>
          <a:xfrm>
            <a:off x="4021651" y="1715686"/>
            <a:ext cx="1862699" cy="581025"/>
          </a:xfrm>
          <a:prstGeom prst="rect">
            <a:avLst/>
          </a:prstGeom>
        </p:spPr>
      </p:pic>
      <p:sp>
        <p:nvSpPr>
          <p:cNvPr id="8" name="Rectangle 7">
            <a:extLst>
              <a:ext uri="{FF2B5EF4-FFF2-40B4-BE49-F238E27FC236}">
                <a16:creationId xmlns:a16="http://schemas.microsoft.com/office/drawing/2014/main" id="{3E1A786D-ACA2-9449-B89A-DBE69AB85975}"/>
              </a:ext>
            </a:extLst>
          </p:cNvPr>
          <p:cNvSpPr>
            <a:spLocks/>
          </p:cNvSpPr>
          <p:nvPr/>
        </p:nvSpPr>
        <p:spPr bwMode="auto">
          <a:xfrm>
            <a:off x="2191701" y="5835893"/>
            <a:ext cx="5522595" cy="3000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GB" sz="1950" dirty="0">
                <a:solidFill>
                  <a:schemeClr val="bg1"/>
                </a:solidFill>
                <a:latin typeface="Montserrat Light" pitchFamily="2" charset="77"/>
                <a:ea typeface="Montserrat Light" charset="0"/>
                <a:cs typeface="Montserrat Light" charset="0"/>
                <a:sym typeface="Bebas Neue" charset="0"/>
              </a:rPr>
              <a:t>Q2 2018</a:t>
            </a:r>
          </a:p>
        </p:txBody>
      </p:sp>
    </p:spTree>
    <p:extLst>
      <p:ext uri="{BB962C8B-B14F-4D97-AF65-F5344CB8AC3E}">
        <p14:creationId xmlns:p14="http://schemas.microsoft.com/office/powerpoint/2010/main" val="3268100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0C3F52D-7E95-4A93-9906-338386935A77}"/>
              </a:ext>
            </a:extLst>
          </p:cNvPr>
          <p:cNvSpPr/>
          <p:nvPr/>
        </p:nvSpPr>
        <p:spPr>
          <a:xfrm>
            <a:off x="6139624" y="2868158"/>
            <a:ext cx="1644118" cy="1808713"/>
          </a:xfrm>
          <a:prstGeom prst="rect">
            <a:avLst/>
          </a:prstGeom>
          <a:solidFill>
            <a:schemeClr val="bg1">
              <a:lumMod val="9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57608" rtl="0" eaLnBrk="1" fontAlgn="auto" latinLnBrk="0" hangingPunct="1">
              <a:lnSpc>
                <a:spcPct val="100000"/>
              </a:lnSpc>
              <a:spcBef>
                <a:spcPts val="0"/>
              </a:spcBef>
              <a:spcAft>
                <a:spcPts val="600"/>
              </a:spcAft>
              <a:buClrTx/>
              <a:buSzTx/>
              <a:buFontTx/>
              <a:buNone/>
              <a:tabLst/>
              <a:defRPr/>
            </a:pPr>
            <a:r>
              <a:rPr kumimoji="0" lang="en-AU" sz="1400" b="0" i="0" u="none" strike="noStrike" kern="1200" cap="none" spc="0" normalizeH="0" baseline="0" noProof="0" dirty="0">
                <a:ln>
                  <a:noFill/>
                </a:ln>
                <a:solidFill>
                  <a:srgbClr val="7030A0"/>
                </a:solidFill>
                <a:effectLst/>
                <a:uLnTx/>
                <a:uFillTx/>
                <a:latin typeface="Open Sans"/>
                <a:ea typeface="+mn-ea"/>
                <a:cs typeface="+mn-cs"/>
              </a:rPr>
              <a:t>Market size</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350k seats in Australia and NZ 2000+ contact </a:t>
            </a:r>
            <a:r>
              <a:rPr kumimoji="0" lang="en-AU" sz="1050" b="0" i="0" u="none" strike="noStrike" kern="1200" cap="none" spc="0" normalizeH="0" baseline="0" noProof="0" dirty="0" err="1">
                <a:ln>
                  <a:noFill/>
                </a:ln>
                <a:solidFill>
                  <a:srgbClr val="DBDBDB">
                    <a:lumMod val="25000"/>
                  </a:srgbClr>
                </a:solidFill>
                <a:effectLst/>
                <a:uLnTx/>
                <a:uFillTx/>
                <a:latin typeface="Open Sans"/>
                <a:ea typeface="+mn-ea"/>
                <a:cs typeface="+mn-cs"/>
              </a:rPr>
              <a:t>centers</a:t>
            </a: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 </a:t>
            </a:r>
          </a:p>
        </p:txBody>
      </p:sp>
      <p:sp>
        <p:nvSpPr>
          <p:cNvPr id="9" name="Rectangle 8">
            <a:extLst>
              <a:ext uri="{FF2B5EF4-FFF2-40B4-BE49-F238E27FC236}">
                <a16:creationId xmlns:a16="http://schemas.microsoft.com/office/drawing/2014/main" id="{158555FA-7126-451E-A7B8-15978BEC4301}"/>
              </a:ext>
            </a:extLst>
          </p:cNvPr>
          <p:cNvSpPr/>
          <p:nvPr/>
        </p:nvSpPr>
        <p:spPr>
          <a:xfrm>
            <a:off x="663652" y="934487"/>
            <a:ext cx="1644118" cy="37899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57608" rtl="0" eaLnBrk="1" fontAlgn="auto" latinLnBrk="0" hangingPunct="1">
              <a:lnSpc>
                <a:spcPct val="100000"/>
              </a:lnSpc>
              <a:spcBef>
                <a:spcPts val="0"/>
              </a:spcBef>
              <a:spcAft>
                <a:spcPts val="600"/>
              </a:spcAft>
              <a:buClrTx/>
              <a:buSzTx/>
              <a:buFontTx/>
              <a:buNone/>
              <a:tabLst/>
              <a:defRPr/>
            </a:pPr>
            <a:r>
              <a:rPr kumimoji="0" lang="en-AU" sz="1400" b="0" i="0" u="none" strike="noStrike" kern="1200" cap="none" spc="0" normalizeH="0" baseline="0" noProof="0" dirty="0">
                <a:ln>
                  <a:noFill/>
                </a:ln>
                <a:solidFill>
                  <a:srgbClr val="7030A0"/>
                </a:solidFill>
                <a:effectLst/>
                <a:uLnTx/>
                <a:uFillTx/>
                <a:latin typeface="Open Sans"/>
                <a:ea typeface="+mn-ea"/>
                <a:cs typeface="+mn-cs"/>
              </a:rPr>
              <a:t>Strategic Partners</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err="1">
                <a:ln>
                  <a:noFill/>
                </a:ln>
                <a:solidFill>
                  <a:srgbClr val="DBDBDB">
                    <a:lumMod val="25000"/>
                  </a:srgbClr>
                </a:solidFill>
                <a:effectLst/>
                <a:uLnTx/>
                <a:uFillTx/>
                <a:latin typeface="Open Sans"/>
                <a:ea typeface="+mn-ea"/>
                <a:cs typeface="+mn-cs"/>
              </a:rPr>
              <a:t>VoiceBase</a:t>
            </a:r>
            <a:endPar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err="1">
                <a:ln>
                  <a:noFill/>
                </a:ln>
                <a:solidFill>
                  <a:srgbClr val="DBDBDB">
                    <a:lumMod val="25000"/>
                  </a:srgbClr>
                </a:solidFill>
                <a:effectLst/>
                <a:uLnTx/>
                <a:uFillTx/>
                <a:latin typeface="Open Sans"/>
                <a:ea typeface="+mn-ea"/>
                <a:cs typeface="+mn-cs"/>
              </a:rPr>
              <a:t>DiMetro</a:t>
            </a:r>
            <a:endParaRPr kumimoji="0" lang="en-AU" sz="1050" b="0" i="0" u="none" strike="noStrike" kern="1200" cap="none" spc="0" normalizeH="0" baseline="0" noProof="0" dirty="0">
              <a:ln>
                <a:noFill/>
              </a:ln>
              <a:solidFill>
                <a:srgbClr val="373737"/>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Qlik</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373737"/>
                </a:solidFill>
                <a:effectLst/>
                <a:uLnTx/>
                <a:uFillTx/>
                <a:latin typeface="Open Sans"/>
                <a:ea typeface="+mn-ea"/>
                <a:cs typeface="+mn-cs"/>
              </a:rPr>
              <a:t>AWS</a:t>
            </a:r>
          </a:p>
          <a:p>
            <a:pPr marL="0" marR="0" lvl="0" indent="0" algn="l" defTabSz="957608" rtl="0" eaLnBrk="1" fontAlgn="auto" latinLnBrk="0" hangingPunct="1">
              <a:lnSpc>
                <a:spcPct val="100000"/>
              </a:lnSpc>
              <a:spcBef>
                <a:spcPts val="0"/>
              </a:spcBef>
              <a:spcAft>
                <a:spcPts val="600"/>
              </a:spcAft>
              <a:buClrTx/>
              <a:buSzTx/>
              <a:buFontTx/>
              <a:buNone/>
              <a:tabLst/>
              <a:defRPr/>
            </a:pPr>
            <a:br>
              <a:rPr kumimoji="0" lang="en-AU" sz="1050" b="0" i="0" u="none" strike="noStrike" kern="1200" cap="none" spc="0" normalizeH="0" baseline="0" noProof="0" dirty="0">
                <a:ln>
                  <a:noFill/>
                </a:ln>
                <a:solidFill>
                  <a:srgbClr val="FFFFFF"/>
                </a:solidFill>
                <a:effectLst/>
                <a:uLnTx/>
                <a:uFillTx/>
                <a:latin typeface="Open Sans"/>
                <a:ea typeface="Open Sans"/>
                <a:cs typeface="Open Sans"/>
              </a:rPr>
            </a:br>
            <a:r>
              <a:rPr kumimoji="0" lang="en-AU" sz="1050" b="0" i="0" u="none" strike="noStrike" kern="1200" cap="none" spc="0" normalizeH="0" baseline="0" noProof="0" dirty="0">
                <a:ln>
                  <a:noFill/>
                </a:ln>
                <a:solidFill>
                  <a:srgbClr val="373737"/>
                </a:solidFill>
                <a:effectLst/>
                <a:uLnTx/>
                <a:uFillTx/>
                <a:latin typeface="Open Sans"/>
                <a:ea typeface="+mn-ea"/>
                <a:cs typeface="+mn-cs"/>
              </a:rPr>
              <a:t>Others could include:</a:t>
            </a:r>
            <a:endParaRPr kumimoji="0" lang="en-AU" sz="1400" b="0" i="0" u="none" strike="noStrike" kern="1200" cap="none" spc="0" normalizeH="0" baseline="0" noProof="0" dirty="0">
              <a:ln>
                <a:noFill/>
              </a:ln>
              <a:solidFill>
                <a:srgbClr val="FFFFFF"/>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err="1">
                <a:ln>
                  <a:noFill/>
                </a:ln>
                <a:solidFill>
                  <a:srgbClr val="373737"/>
                </a:solidFill>
                <a:effectLst/>
                <a:uLnTx/>
                <a:uFillTx/>
                <a:latin typeface="Open Sans"/>
                <a:ea typeface="+mn-ea"/>
                <a:cs typeface="+mn-cs"/>
              </a:rPr>
              <a:t>Voci</a:t>
            </a:r>
            <a:r>
              <a:rPr kumimoji="0" lang="en-AU" sz="1050" b="0" i="0" u="none" strike="noStrike" kern="1200" cap="none" spc="0" normalizeH="0" baseline="0" noProof="0" dirty="0">
                <a:ln>
                  <a:noFill/>
                </a:ln>
                <a:solidFill>
                  <a:srgbClr val="373737"/>
                </a:solidFill>
                <a:effectLst/>
                <a:uLnTx/>
                <a:uFillTx/>
                <a:latin typeface="Open Sans"/>
                <a:ea typeface="+mn-ea"/>
                <a:cs typeface="+mn-cs"/>
              </a:rPr>
              <a:t>, </a:t>
            </a:r>
            <a:endParaRPr kumimoji="0" lang="en-AU" sz="1400" b="0" i="0" u="none" strike="noStrike" kern="1200" cap="none" spc="0" normalizeH="0" baseline="0" noProof="0" dirty="0">
              <a:ln>
                <a:noFill/>
              </a:ln>
              <a:solidFill>
                <a:srgbClr val="FFFFFF"/>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err="1">
                <a:ln>
                  <a:noFill/>
                </a:ln>
                <a:solidFill>
                  <a:srgbClr val="373737"/>
                </a:solidFill>
                <a:effectLst/>
                <a:uLnTx/>
                <a:uFillTx/>
                <a:latin typeface="Open Sans"/>
                <a:ea typeface="+mn-ea"/>
                <a:cs typeface="+mn-cs"/>
              </a:rPr>
              <a:t>Speechmatics</a:t>
            </a:r>
            <a:r>
              <a:rPr kumimoji="0" lang="en-AU" sz="1050" b="0" i="0" u="none" strike="noStrike" kern="1200" cap="none" spc="0" normalizeH="0" baseline="0" noProof="0" dirty="0">
                <a:ln>
                  <a:noFill/>
                </a:ln>
                <a:solidFill>
                  <a:srgbClr val="373737"/>
                </a:solidFill>
                <a:effectLst/>
                <a:uLnTx/>
                <a:uFillTx/>
                <a:latin typeface="Open Sans"/>
                <a:ea typeface="+mn-ea"/>
                <a:cs typeface="+mn-cs"/>
              </a:rPr>
              <a:t>, </a:t>
            </a:r>
            <a:endParaRPr kumimoji="0" lang="en-AU" sz="1400" b="0" i="0" u="none" strike="noStrike" kern="1200" cap="none" spc="0" normalizeH="0" baseline="0" noProof="0" dirty="0">
              <a:ln>
                <a:noFill/>
              </a:ln>
              <a:solidFill>
                <a:srgbClr val="FFFFFF"/>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err="1">
                <a:ln>
                  <a:noFill/>
                </a:ln>
                <a:solidFill>
                  <a:srgbClr val="373737"/>
                </a:solidFill>
                <a:effectLst/>
                <a:uLnTx/>
                <a:uFillTx/>
                <a:latin typeface="Open Sans"/>
                <a:ea typeface="+mn-ea"/>
                <a:cs typeface="+mn-cs"/>
              </a:rPr>
              <a:t>Deepgram</a:t>
            </a:r>
            <a:endParaRPr kumimoji="0" lang="en-AU" sz="1400" b="0" i="0" u="none" strike="noStrike" kern="1200" cap="none" spc="0" normalizeH="0" baseline="0" noProof="0" dirty="0">
              <a:ln>
                <a:noFill/>
              </a:ln>
              <a:solidFill>
                <a:srgbClr val="FFFFFF"/>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AU" sz="1050" b="0" i="0" u="none" strike="noStrike" kern="1200" cap="none" spc="0" normalizeH="0" baseline="0" noProof="0" dirty="0">
              <a:ln>
                <a:noFill/>
              </a:ln>
              <a:solidFill>
                <a:srgbClr val="373737"/>
              </a:solidFill>
              <a:effectLst/>
              <a:uLnTx/>
              <a:uFillTx/>
              <a:latin typeface="Open Sans"/>
              <a:ea typeface="+mn-ea"/>
              <a:cs typeface="+mn-cs"/>
            </a:endParaRPr>
          </a:p>
        </p:txBody>
      </p:sp>
      <p:sp>
        <p:nvSpPr>
          <p:cNvPr id="10" name="Rectangle 9">
            <a:extLst>
              <a:ext uri="{FF2B5EF4-FFF2-40B4-BE49-F238E27FC236}">
                <a16:creationId xmlns:a16="http://schemas.microsoft.com/office/drawing/2014/main" id="{07D1ABE4-5150-4896-AA64-88A3DFC49708}"/>
              </a:ext>
            </a:extLst>
          </p:cNvPr>
          <p:cNvSpPr/>
          <p:nvPr/>
        </p:nvSpPr>
        <p:spPr>
          <a:xfrm>
            <a:off x="2503258" y="934487"/>
            <a:ext cx="1644118" cy="18087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57608" rtl="0" eaLnBrk="1" fontAlgn="auto" latinLnBrk="0" hangingPunct="1">
              <a:lnSpc>
                <a:spcPct val="100000"/>
              </a:lnSpc>
              <a:spcBef>
                <a:spcPts val="0"/>
              </a:spcBef>
              <a:spcAft>
                <a:spcPts val="600"/>
              </a:spcAft>
              <a:buClrTx/>
              <a:buSzTx/>
              <a:buFontTx/>
              <a:buNone/>
              <a:tabLst/>
              <a:defRPr/>
            </a:pPr>
            <a:r>
              <a:rPr kumimoji="0" lang="en-AU" sz="1400" b="0" i="0" u="none" strike="noStrike" kern="1200" cap="none" spc="0" normalizeH="0" baseline="0" noProof="0">
                <a:ln>
                  <a:noFill/>
                </a:ln>
                <a:solidFill>
                  <a:srgbClr val="7030A0"/>
                </a:solidFill>
                <a:effectLst/>
                <a:uLnTx/>
                <a:uFillTx/>
                <a:latin typeface="Open Sans"/>
                <a:ea typeface="+mn-ea"/>
                <a:cs typeface="+mn-cs"/>
              </a:rPr>
              <a:t>Key activities</a:t>
            </a:r>
          </a:p>
          <a:p>
            <a:pPr marL="185420" marR="0" lvl="0" indent="-185420" algn="l" defTabSz="957608" rtl="0" eaLnBrk="1" fontAlgn="auto" latinLnBrk="0" hangingPunct="1">
              <a:lnSpc>
                <a:spcPct val="100000"/>
              </a:lnSpc>
              <a:spcBef>
                <a:spcPts val="0"/>
              </a:spcBef>
              <a:spcAft>
                <a:spcPts val="600"/>
              </a:spcAft>
              <a:buClrTx/>
              <a:buSzTx/>
              <a:buFont typeface="Arial"/>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Develop product</a:t>
            </a:r>
            <a:endParaRPr kumimoji="0" lang="en-AU" sz="1400" b="0" i="0" u="none" strike="noStrike" kern="1200" cap="none" spc="0" normalizeH="0" baseline="0" noProof="0">
              <a:ln>
                <a:noFill/>
              </a:ln>
              <a:solidFill>
                <a:srgbClr val="FFFFFF"/>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Build client references</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Develop channels</a:t>
            </a:r>
          </a:p>
          <a:p>
            <a:pPr marL="0" marR="0" lvl="0" indent="0" algn="l" defTabSz="957608" rtl="0" eaLnBrk="1" fontAlgn="auto" latinLnBrk="0" hangingPunct="1">
              <a:lnSpc>
                <a:spcPct val="100000"/>
              </a:lnSpc>
              <a:spcBef>
                <a:spcPts val="0"/>
              </a:spcBef>
              <a:spcAft>
                <a:spcPts val="600"/>
              </a:spcAft>
              <a:buClrTx/>
              <a:buSzTx/>
              <a:buFontTx/>
              <a:buNone/>
              <a:tabLst/>
              <a:defRPr/>
            </a:pPr>
            <a:endPar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endParaRPr>
          </a:p>
        </p:txBody>
      </p:sp>
      <p:sp>
        <p:nvSpPr>
          <p:cNvPr id="11" name="Rectangle 10">
            <a:extLst>
              <a:ext uri="{FF2B5EF4-FFF2-40B4-BE49-F238E27FC236}">
                <a16:creationId xmlns:a16="http://schemas.microsoft.com/office/drawing/2014/main" id="{E9DD79A1-0DD5-40AD-BA38-BF7C850F64E0}"/>
              </a:ext>
            </a:extLst>
          </p:cNvPr>
          <p:cNvSpPr/>
          <p:nvPr/>
        </p:nvSpPr>
        <p:spPr>
          <a:xfrm>
            <a:off x="2503258" y="2868158"/>
            <a:ext cx="1644118" cy="1808713"/>
          </a:xfrm>
          <a:prstGeom prst="rect">
            <a:avLst/>
          </a:prstGeom>
          <a:solidFill>
            <a:schemeClr val="bg1">
              <a:lumMod val="9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57608" rtl="0" eaLnBrk="1" fontAlgn="auto" latinLnBrk="0" hangingPunct="1">
              <a:lnSpc>
                <a:spcPct val="100000"/>
              </a:lnSpc>
              <a:spcBef>
                <a:spcPts val="0"/>
              </a:spcBef>
              <a:spcAft>
                <a:spcPts val="600"/>
              </a:spcAft>
              <a:buClrTx/>
              <a:buSzTx/>
              <a:buFontTx/>
              <a:buNone/>
              <a:tabLst/>
              <a:defRPr/>
            </a:pPr>
            <a:r>
              <a:rPr kumimoji="0" lang="en-AU" sz="1400" b="0" i="0" u="none" strike="noStrike" kern="1200" cap="none" spc="0" normalizeH="0" baseline="0" noProof="0">
                <a:ln>
                  <a:noFill/>
                </a:ln>
                <a:solidFill>
                  <a:srgbClr val="7030A0"/>
                </a:solidFill>
                <a:effectLst/>
                <a:uLnTx/>
                <a:uFillTx/>
                <a:latin typeface="Open Sans"/>
                <a:ea typeface="+mn-ea"/>
                <a:cs typeface="+mn-cs"/>
              </a:rPr>
              <a:t>Sales Channels</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Direct to clients</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Resellers (e.g. </a:t>
            </a:r>
            <a:r>
              <a:rPr kumimoji="0" lang="en-AU" sz="1050" b="0" i="0" u="none" strike="noStrike" kern="1200" cap="none" spc="0" normalizeH="0" baseline="0" noProof="0" err="1">
                <a:ln>
                  <a:noFill/>
                </a:ln>
                <a:solidFill>
                  <a:srgbClr val="DBDBDB">
                    <a:lumMod val="25000"/>
                  </a:srgbClr>
                </a:solidFill>
                <a:effectLst/>
                <a:uLnTx/>
                <a:uFillTx/>
                <a:latin typeface="Open Sans"/>
                <a:ea typeface="+mn-ea"/>
                <a:cs typeface="+mn-cs"/>
              </a:rPr>
              <a:t>ipScape</a:t>
            </a: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 Datacom, Call Design)</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Marketplaces (</a:t>
            </a:r>
            <a:r>
              <a:rPr kumimoji="0" lang="en-AU" sz="1050" b="0" i="0" u="none" strike="noStrike" kern="1200" cap="none" spc="0" normalizeH="0" baseline="0" noProof="0" err="1">
                <a:ln>
                  <a:noFill/>
                </a:ln>
                <a:solidFill>
                  <a:srgbClr val="DBDBDB">
                    <a:lumMod val="25000"/>
                  </a:srgbClr>
                </a:solidFill>
                <a:effectLst/>
                <a:uLnTx/>
                <a:uFillTx/>
                <a:latin typeface="Open Sans"/>
                <a:ea typeface="+mn-ea"/>
                <a:cs typeface="+mn-cs"/>
              </a:rPr>
              <a:t>Twillio</a:t>
            </a: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 </a:t>
            </a:r>
            <a:r>
              <a:rPr kumimoji="0" lang="en-AU" sz="1050" b="0" i="0" u="none" strike="noStrike" kern="1200" cap="none" spc="0" normalizeH="0" baseline="0" noProof="0" err="1">
                <a:ln>
                  <a:noFill/>
                </a:ln>
                <a:solidFill>
                  <a:srgbClr val="DBDBDB">
                    <a:lumMod val="25000"/>
                  </a:srgbClr>
                </a:solidFill>
                <a:effectLst/>
                <a:uLnTx/>
                <a:uFillTx/>
                <a:latin typeface="Open Sans"/>
                <a:ea typeface="+mn-ea"/>
                <a:cs typeface="+mn-cs"/>
              </a:rPr>
              <a:t>AmCo</a:t>
            </a: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 </a:t>
            </a:r>
            <a:r>
              <a:rPr kumimoji="0" lang="en-AU" sz="1050" b="0" i="0" u="none" strike="noStrike" kern="1200" cap="none" spc="0" normalizeH="0" baseline="0" noProof="0" err="1">
                <a:ln>
                  <a:noFill/>
                </a:ln>
                <a:solidFill>
                  <a:srgbClr val="DBDBDB">
                    <a:lumMod val="25000"/>
                  </a:srgbClr>
                </a:solidFill>
                <a:effectLst/>
                <a:uLnTx/>
                <a:uFillTx/>
                <a:latin typeface="Open Sans"/>
                <a:ea typeface="+mn-ea"/>
                <a:cs typeface="+mn-cs"/>
              </a:rPr>
              <a:t>Genesys</a:t>
            </a: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 Avaya, Cisco)</a:t>
            </a:r>
          </a:p>
          <a:p>
            <a:pPr marL="0" marR="0" lvl="0" indent="0" algn="l" defTabSz="957608" rtl="0" eaLnBrk="1" fontAlgn="auto" latinLnBrk="0" hangingPunct="1">
              <a:lnSpc>
                <a:spcPct val="100000"/>
              </a:lnSpc>
              <a:spcBef>
                <a:spcPts val="0"/>
              </a:spcBef>
              <a:spcAft>
                <a:spcPts val="600"/>
              </a:spcAft>
              <a:buClrTx/>
              <a:buSzTx/>
              <a:buFontTx/>
              <a:buNone/>
              <a:tabLst/>
              <a:defRPr/>
            </a:pPr>
            <a:endPar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endParaRPr>
          </a:p>
        </p:txBody>
      </p:sp>
      <p:sp>
        <p:nvSpPr>
          <p:cNvPr id="12" name="Rectangle 11">
            <a:extLst>
              <a:ext uri="{FF2B5EF4-FFF2-40B4-BE49-F238E27FC236}">
                <a16:creationId xmlns:a16="http://schemas.microsoft.com/office/drawing/2014/main" id="{00184489-D28D-43CA-A963-3E2CDF3411B3}"/>
              </a:ext>
            </a:extLst>
          </p:cNvPr>
          <p:cNvSpPr/>
          <p:nvPr/>
        </p:nvSpPr>
        <p:spPr>
          <a:xfrm>
            <a:off x="4321441" y="934487"/>
            <a:ext cx="1644118" cy="3742384"/>
          </a:xfrm>
          <a:prstGeom prst="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57608" rtl="0" eaLnBrk="1" fontAlgn="auto" latinLnBrk="0" hangingPunct="1">
              <a:lnSpc>
                <a:spcPct val="100000"/>
              </a:lnSpc>
              <a:spcBef>
                <a:spcPts val="0"/>
              </a:spcBef>
              <a:spcAft>
                <a:spcPts val="600"/>
              </a:spcAft>
              <a:buClrTx/>
              <a:buSzTx/>
              <a:buFontTx/>
              <a:buNone/>
              <a:tabLst/>
              <a:defRPr/>
            </a:pPr>
            <a:r>
              <a:rPr kumimoji="0" lang="en-AU" sz="1400" b="0" i="0" u="none" strike="noStrike" kern="1200" cap="none" spc="0" normalizeH="0" baseline="0" noProof="0" dirty="0">
                <a:ln>
                  <a:noFill/>
                </a:ln>
                <a:solidFill>
                  <a:schemeClr val="accent1"/>
                </a:solidFill>
                <a:effectLst/>
                <a:uLnTx/>
                <a:uFillTx/>
                <a:latin typeface="Open Sans"/>
                <a:ea typeface="+mn-ea"/>
                <a:cs typeface="+mn-cs"/>
              </a:rPr>
              <a:t>Value proposition</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Compliance Risk &amp;</a:t>
            </a:r>
            <a:r>
              <a:rPr kumimoji="0" lang="en-AU" sz="1050" b="0" i="0" u="none" strike="noStrike" kern="1200" cap="none" spc="0" normalizeH="0" baseline="0" noProof="0" dirty="0">
                <a:ln>
                  <a:noFill/>
                </a:ln>
                <a:solidFill>
                  <a:srgbClr val="373737"/>
                </a:solidFill>
                <a:effectLst/>
                <a:uLnTx/>
                <a:uFillTx/>
                <a:latin typeface="Open Sans"/>
                <a:ea typeface="+mn-ea"/>
                <a:cs typeface="+mn-cs"/>
              </a:rPr>
              <a:t> Quality </a:t>
            </a:r>
            <a:endParaRPr kumimoji="0" lang="en-AU" sz="1400" b="0" i="0" u="none" strike="noStrike" kern="1200" cap="none" spc="0" normalizeH="0" baseline="0" noProof="0" dirty="0">
              <a:ln>
                <a:noFill/>
              </a:ln>
              <a:solidFill>
                <a:srgbClr val="FFFFFF"/>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Improve customer experience</a:t>
            </a:r>
          </a:p>
          <a:p>
            <a:pPr marL="171450" marR="0" lvl="0" indent="-171450" algn="l" defTabSz="957608" rtl="0" eaLnBrk="1" fontAlgn="auto" latinLnBrk="0" hangingPunct="1">
              <a:lnSpc>
                <a:spcPct val="100000"/>
              </a:lnSpc>
              <a:spcBef>
                <a:spcPts val="0"/>
              </a:spcBef>
              <a:spcAft>
                <a:spcPts val="600"/>
              </a:spcAft>
              <a:buClrTx/>
              <a:buSzTx/>
              <a:buFont typeface="Arial"/>
              <a:buChar char="•"/>
              <a:tabLst/>
              <a:defRPr/>
            </a:pP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Enhance </a:t>
            </a:r>
            <a:br>
              <a:rPr kumimoji="0" lang="en-AU" sz="1050" b="0" i="0" u="none" strike="noStrike" kern="1200" cap="none" spc="0" normalizeH="0" baseline="0" noProof="0" dirty="0">
                <a:ln>
                  <a:noFill/>
                </a:ln>
                <a:solidFill>
                  <a:srgbClr val="373737"/>
                </a:solidFill>
                <a:effectLst/>
                <a:uLnTx/>
                <a:uFillTx/>
                <a:latin typeface="Open Sans"/>
                <a:ea typeface="Open Sans"/>
                <a:cs typeface="Open Sans"/>
              </a:rPr>
            </a:b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performance</a:t>
            </a:r>
            <a:endParaRPr kumimoji="0" lang="en-AU" sz="1886" b="0" i="0" u="none" strike="noStrike" kern="1200" cap="none" spc="0" normalizeH="0" baseline="0" noProof="0" dirty="0">
              <a:ln>
                <a:noFill/>
              </a:ln>
              <a:solidFill>
                <a:srgbClr val="FFFFFF"/>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Multichannel</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100% conversations </a:t>
            </a:r>
            <a:br>
              <a:rPr kumimoji="0" lang="en-AU" sz="1050" b="0" i="0" u="none" strike="noStrike" kern="1200" cap="none" spc="0" normalizeH="0" baseline="0" noProof="0" dirty="0">
                <a:ln>
                  <a:noFill/>
                </a:ln>
                <a:solidFill>
                  <a:srgbClr val="373737"/>
                </a:solidFill>
                <a:effectLst/>
                <a:uLnTx/>
                <a:uFillTx/>
                <a:latin typeface="Open Sans"/>
                <a:ea typeface="Open Sans"/>
                <a:cs typeface="Open Sans"/>
              </a:rPr>
            </a:b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coverage</a:t>
            </a:r>
            <a:endParaRPr kumimoji="0" lang="en-AU" sz="1400" b="0" i="0" u="none" strike="noStrike" kern="1200" cap="none" spc="0" normalizeH="0" baseline="0" noProof="0" dirty="0">
              <a:ln>
                <a:noFill/>
              </a:ln>
              <a:solidFill>
                <a:srgbClr val="FFFFFF"/>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373737"/>
                </a:solidFill>
                <a:effectLst/>
                <a:uLnTx/>
                <a:uFillTx/>
                <a:latin typeface="Open Sans"/>
                <a:ea typeface="+mn-ea"/>
                <a:cs typeface="+mn-cs"/>
              </a:rPr>
              <a:t>Cloud and Hybrid deployment</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373737"/>
                </a:solidFill>
                <a:effectLst/>
                <a:uLnTx/>
                <a:uFillTx/>
                <a:latin typeface="Open Sans"/>
                <a:ea typeface="+mn-ea"/>
                <a:cs typeface="+mn-cs"/>
              </a:rPr>
              <a:t>Agnostic to infrastructure layer</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373737"/>
                </a:solidFill>
                <a:effectLst/>
                <a:uLnTx/>
                <a:uFillTx/>
                <a:latin typeface="Open Sans"/>
                <a:ea typeface="+mn-ea"/>
                <a:cs typeface="+mn-cs"/>
              </a:rPr>
              <a:t>Enterprise wide value proposition</a:t>
            </a:r>
          </a:p>
        </p:txBody>
      </p:sp>
      <p:sp>
        <p:nvSpPr>
          <p:cNvPr id="13" name="Rectangle 12">
            <a:extLst>
              <a:ext uri="{FF2B5EF4-FFF2-40B4-BE49-F238E27FC236}">
                <a16:creationId xmlns:a16="http://schemas.microsoft.com/office/drawing/2014/main" id="{7DB345DF-E9D4-469E-BB8C-D68D1B26E925}"/>
              </a:ext>
            </a:extLst>
          </p:cNvPr>
          <p:cNvSpPr/>
          <p:nvPr/>
        </p:nvSpPr>
        <p:spPr>
          <a:xfrm>
            <a:off x="6139624" y="934487"/>
            <a:ext cx="1644118" cy="18087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57608" rtl="0" eaLnBrk="1" fontAlgn="auto" latinLnBrk="0" hangingPunct="1">
              <a:lnSpc>
                <a:spcPct val="100000"/>
              </a:lnSpc>
              <a:spcBef>
                <a:spcPts val="0"/>
              </a:spcBef>
              <a:spcAft>
                <a:spcPts val="600"/>
              </a:spcAft>
              <a:buClrTx/>
              <a:buSzTx/>
              <a:buFontTx/>
              <a:buNone/>
              <a:tabLst/>
              <a:defRPr/>
            </a:pPr>
            <a:r>
              <a:rPr kumimoji="0" lang="en-AU" sz="1400" b="0" i="0" u="none" strike="noStrike" kern="1200" cap="none" spc="0" normalizeH="0" baseline="0" noProof="0">
                <a:ln>
                  <a:noFill/>
                </a:ln>
                <a:solidFill>
                  <a:srgbClr val="7030A0"/>
                </a:solidFill>
                <a:effectLst/>
                <a:uLnTx/>
                <a:uFillTx/>
                <a:latin typeface="Open Sans"/>
                <a:ea typeface="+mn-ea"/>
                <a:cs typeface="+mn-cs"/>
              </a:rPr>
              <a:t>Customer relationship</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Account &amp; Partner Management </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Insights as a Service Model</a:t>
            </a:r>
          </a:p>
        </p:txBody>
      </p:sp>
      <p:sp>
        <p:nvSpPr>
          <p:cNvPr id="15" name="Rectangle 14">
            <a:extLst>
              <a:ext uri="{FF2B5EF4-FFF2-40B4-BE49-F238E27FC236}">
                <a16:creationId xmlns:a16="http://schemas.microsoft.com/office/drawing/2014/main" id="{304BEBDB-32CF-4FE5-8C88-49CAF9BE61CA}"/>
              </a:ext>
            </a:extLst>
          </p:cNvPr>
          <p:cNvSpPr/>
          <p:nvPr/>
        </p:nvSpPr>
        <p:spPr>
          <a:xfrm>
            <a:off x="7957807" y="934486"/>
            <a:ext cx="1644118" cy="3742384"/>
          </a:xfrm>
          <a:prstGeom prst="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57608" rtl="0" eaLnBrk="1" fontAlgn="auto" latinLnBrk="0" hangingPunct="1">
              <a:lnSpc>
                <a:spcPct val="100000"/>
              </a:lnSpc>
              <a:spcBef>
                <a:spcPts val="0"/>
              </a:spcBef>
              <a:spcAft>
                <a:spcPts val="600"/>
              </a:spcAft>
              <a:buClrTx/>
              <a:buSzTx/>
              <a:buFontTx/>
              <a:buNone/>
              <a:tabLst/>
              <a:defRPr/>
            </a:pPr>
            <a:r>
              <a:rPr kumimoji="0" lang="en-AU" sz="1400" b="0" i="0" u="none" strike="noStrike" kern="1200" cap="none" spc="0" normalizeH="0" baseline="0" noProof="0" dirty="0">
                <a:ln>
                  <a:noFill/>
                </a:ln>
                <a:solidFill>
                  <a:srgbClr val="7030A0"/>
                </a:solidFill>
                <a:effectLst/>
                <a:uLnTx/>
                <a:uFillTx/>
                <a:latin typeface="Open Sans"/>
                <a:ea typeface="+mn-ea"/>
                <a:cs typeface="+mn-cs"/>
              </a:rPr>
              <a:t>Customer segments</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Small CC  </a:t>
            </a:r>
            <a:br>
              <a:rPr kumimoji="0" lang="en-AU" sz="1050" b="0" i="0" u="none" strike="noStrike" kern="1200" cap="none" spc="0" normalizeH="0" baseline="0" noProof="0" dirty="0">
                <a:ln>
                  <a:noFill/>
                </a:ln>
                <a:solidFill>
                  <a:srgbClr val="373737"/>
                </a:solidFill>
                <a:effectLst/>
                <a:uLnTx/>
                <a:uFillTx/>
                <a:latin typeface="Open Sans"/>
                <a:ea typeface="Open Sans"/>
                <a:cs typeface="Open Sans"/>
              </a:rPr>
            </a:b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(0-100 seats)</a:t>
            </a:r>
            <a:endParaRPr kumimoji="0" lang="en-AU" sz="1400" b="0" i="0" u="none" strike="noStrike" kern="1200" cap="none" spc="0" normalizeH="0" baseline="0" noProof="0" dirty="0">
              <a:ln>
                <a:noFill/>
              </a:ln>
              <a:solidFill>
                <a:srgbClr val="FFFFFF"/>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Medium CC </a:t>
            </a:r>
            <a:br>
              <a:rPr kumimoji="0" lang="en-AU" sz="1050" b="0" i="0" u="none" strike="noStrike" kern="1200" cap="none" spc="0" normalizeH="0" baseline="0" noProof="0" dirty="0">
                <a:ln>
                  <a:noFill/>
                </a:ln>
                <a:solidFill>
                  <a:srgbClr val="373737"/>
                </a:solidFill>
                <a:effectLst/>
                <a:uLnTx/>
                <a:uFillTx/>
                <a:latin typeface="Open Sans"/>
                <a:ea typeface="Open Sans"/>
                <a:cs typeface="Open Sans"/>
              </a:rPr>
            </a:b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(100-500)</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Large CC </a:t>
            </a:r>
            <a:br>
              <a:rPr kumimoji="0" lang="en-AU" sz="1050" b="0" i="0" u="none" strike="noStrike" kern="1200" cap="none" spc="0" normalizeH="0" baseline="0" noProof="0" dirty="0">
                <a:ln>
                  <a:noFill/>
                </a:ln>
                <a:solidFill>
                  <a:srgbClr val="373737"/>
                </a:solidFill>
                <a:effectLst/>
                <a:uLnTx/>
                <a:uFillTx/>
                <a:latin typeface="Open Sans"/>
                <a:ea typeface="Open Sans"/>
                <a:cs typeface="Open Sans"/>
              </a:rPr>
            </a:br>
            <a:r>
              <a:rPr kumimoji="0" lang="en-AU" sz="1050" b="0" i="0" u="none" strike="noStrike" kern="1200" cap="none" spc="0" normalizeH="0" baseline="0" noProof="0" dirty="0">
                <a:ln>
                  <a:noFill/>
                </a:ln>
                <a:solidFill>
                  <a:srgbClr val="DBDBDB">
                    <a:lumMod val="25000"/>
                  </a:srgbClr>
                </a:solidFill>
                <a:effectLst/>
                <a:uLnTx/>
                <a:uFillTx/>
                <a:latin typeface="Open Sans"/>
                <a:ea typeface="+mn-ea"/>
                <a:cs typeface="+mn-cs"/>
              </a:rPr>
              <a:t>(&gt;750 seats)</a:t>
            </a:r>
          </a:p>
          <a:p>
            <a:pPr marL="0" marR="0" lvl="0" indent="0" algn="l" defTabSz="957608" rtl="0" eaLnBrk="1" fontAlgn="auto" latinLnBrk="0" hangingPunct="1">
              <a:lnSpc>
                <a:spcPct val="100000"/>
              </a:lnSpc>
              <a:spcBef>
                <a:spcPts val="0"/>
              </a:spcBef>
              <a:spcAft>
                <a:spcPts val="600"/>
              </a:spcAft>
              <a:buClrTx/>
              <a:buSzTx/>
              <a:buFontTx/>
              <a:buNone/>
              <a:tabLst/>
              <a:defRPr/>
            </a:pPr>
            <a:r>
              <a:rPr kumimoji="0" lang="en-AU" sz="1400" b="0" i="0" u="none" strike="noStrike" kern="1200" cap="none" spc="0" normalizeH="0" baseline="0" noProof="0" dirty="0">
                <a:ln>
                  <a:noFill/>
                </a:ln>
                <a:solidFill>
                  <a:srgbClr val="7030A0"/>
                </a:solidFill>
                <a:effectLst/>
                <a:uLnTx/>
                <a:uFillTx/>
                <a:latin typeface="Open Sans"/>
                <a:ea typeface="+mn-ea"/>
                <a:cs typeface="+mn-cs"/>
              </a:rPr>
              <a:t>Key Verticals</a:t>
            </a:r>
          </a:p>
          <a:p>
            <a:pPr marL="171450" marR="0" lvl="0" indent="-171450" algn="l" defTabSz="957608" rtl="0" eaLnBrk="1" fontAlgn="auto" latinLnBrk="0" hangingPunct="1">
              <a:lnSpc>
                <a:spcPct val="100000"/>
              </a:lnSpc>
              <a:spcBef>
                <a:spcPts val="0"/>
              </a:spcBef>
              <a:spcAft>
                <a:spcPts val="600"/>
              </a:spcAft>
              <a:buClrTx/>
              <a:buSzTx/>
              <a:buFont typeface="Arial"/>
              <a:buChar char="•"/>
              <a:tabLst/>
              <a:defRPr/>
            </a:pPr>
            <a:r>
              <a:rPr kumimoji="0" lang="en-AU" sz="1200" b="0" i="0" u="none" strike="noStrike" kern="1200" cap="none" spc="0" normalizeH="0" baseline="0" noProof="0" dirty="0">
                <a:ln>
                  <a:noFill/>
                </a:ln>
                <a:solidFill>
                  <a:srgbClr val="41505D"/>
                </a:solidFill>
                <a:effectLst/>
                <a:uLnTx/>
                <a:uFillTx/>
                <a:latin typeface="Open Sans"/>
                <a:ea typeface="+mn-ea"/>
                <a:cs typeface="+mn-cs"/>
              </a:rPr>
              <a:t>Banking &amp; Finance</a:t>
            </a:r>
          </a:p>
          <a:p>
            <a:pPr marL="171450" marR="0" lvl="0" indent="-171450" algn="l" defTabSz="957608" rtl="0" eaLnBrk="1" fontAlgn="auto" latinLnBrk="0" hangingPunct="1">
              <a:lnSpc>
                <a:spcPct val="100000"/>
              </a:lnSpc>
              <a:spcBef>
                <a:spcPts val="0"/>
              </a:spcBef>
              <a:spcAft>
                <a:spcPts val="600"/>
              </a:spcAft>
              <a:buClrTx/>
              <a:buSzTx/>
              <a:buFont typeface="Arial"/>
              <a:buChar char="•"/>
              <a:tabLst/>
              <a:defRPr/>
            </a:pPr>
            <a:r>
              <a:rPr kumimoji="0" lang="en-AU" sz="1200" b="0" i="0" u="none" strike="noStrike" kern="1200" cap="none" spc="0" normalizeH="0" baseline="0" noProof="0" dirty="0">
                <a:ln>
                  <a:noFill/>
                </a:ln>
                <a:solidFill>
                  <a:srgbClr val="41505D"/>
                </a:solidFill>
                <a:effectLst/>
                <a:uLnTx/>
                <a:uFillTx/>
                <a:latin typeface="Open Sans"/>
                <a:ea typeface="+mn-ea"/>
                <a:cs typeface="+mn-cs"/>
              </a:rPr>
              <a:t>Utilities(Telco/Energy)</a:t>
            </a:r>
          </a:p>
          <a:p>
            <a:pPr marL="171450" marR="0" lvl="0" indent="-171450" algn="l" defTabSz="957608" rtl="0" eaLnBrk="1" fontAlgn="auto" latinLnBrk="0" hangingPunct="1">
              <a:lnSpc>
                <a:spcPct val="100000"/>
              </a:lnSpc>
              <a:spcBef>
                <a:spcPts val="0"/>
              </a:spcBef>
              <a:spcAft>
                <a:spcPts val="600"/>
              </a:spcAft>
              <a:buClrTx/>
              <a:buSzTx/>
              <a:buFont typeface="Arial"/>
              <a:buChar char="•"/>
              <a:tabLst/>
              <a:defRPr/>
            </a:pPr>
            <a:r>
              <a:rPr kumimoji="0" lang="en-AU" sz="1200" b="0" i="0" u="none" strike="noStrike" kern="1200" cap="none" spc="0" normalizeH="0" baseline="0" noProof="0" dirty="0">
                <a:ln>
                  <a:noFill/>
                </a:ln>
                <a:solidFill>
                  <a:srgbClr val="41505D"/>
                </a:solidFill>
                <a:effectLst/>
                <a:uLnTx/>
                <a:uFillTx/>
                <a:latin typeface="Open Sans"/>
                <a:ea typeface="+mn-ea"/>
                <a:cs typeface="+mn-cs"/>
              </a:rPr>
              <a:t>BPOs</a:t>
            </a:r>
          </a:p>
          <a:p>
            <a:pPr marL="171450" marR="0" lvl="0" indent="-171450" algn="l" defTabSz="957608" rtl="0" eaLnBrk="1" fontAlgn="auto" latinLnBrk="0" hangingPunct="1">
              <a:lnSpc>
                <a:spcPct val="100000"/>
              </a:lnSpc>
              <a:spcBef>
                <a:spcPts val="0"/>
              </a:spcBef>
              <a:spcAft>
                <a:spcPts val="600"/>
              </a:spcAft>
              <a:buClrTx/>
              <a:buSzTx/>
              <a:buFont typeface="Arial"/>
              <a:buChar char="•"/>
              <a:tabLst/>
              <a:defRPr/>
            </a:pPr>
            <a:r>
              <a:rPr kumimoji="0" lang="en-AU" sz="1200" b="0" i="0" u="none" strike="noStrike" kern="1200" cap="none" spc="0" normalizeH="0" baseline="0" noProof="0" dirty="0">
                <a:ln>
                  <a:noFill/>
                </a:ln>
                <a:solidFill>
                  <a:srgbClr val="41505D"/>
                </a:solidFill>
                <a:effectLst/>
                <a:uLnTx/>
                <a:uFillTx/>
                <a:latin typeface="Open Sans"/>
                <a:ea typeface="+mn-ea"/>
                <a:cs typeface="+mn-cs"/>
              </a:rPr>
              <a:t>Government</a:t>
            </a:r>
          </a:p>
          <a:p>
            <a:pPr marL="171450" marR="0" lvl="0" indent="-171450" algn="l" defTabSz="957608" rtl="0" eaLnBrk="1" fontAlgn="auto" latinLnBrk="0" hangingPunct="1">
              <a:lnSpc>
                <a:spcPct val="100000"/>
              </a:lnSpc>
              <a:spcBef>
                <a:spcPts val="0"/>
              </a:spcBef>
              <a:spcAft>
                <a:spcPts val="600"/>
              </a:spcAft>
              <a:buClrTx/>
              <a:buSzTx/>
              <a:buFont typeface="Arial"/>
              <a:buChar char="•"/>
              <a:tabLst/>
              <a:defRPr/>
            </a:pPr>
            <a:r>
              <a:rPr kumimoji="0" lang="en-AU" sz="1200" b="0" i="0" u="none" strike="noStrike" kern="1200" cap="none" spc="0" normalizeH="0" baseline="0" noProof="0" dirty="0">
                <a:ln>
                  <a:noFill/>
                </a:ln>
                <a:solidFill>
                  <a:srgbClr val="41505D"/>
                </a:solidFill>
                <a:effectLst/>
                <a:uLnTx/>
                <a:uFillTx/>
                <a:latin typeface="Open Sans"/>
                <a:ea typeface="+mn-ea"/>
                <a:cs typeface="+mn-cs"/>
              </a:rPr>
              <a:t>Healthcare</a:t>
            </a:r>
          </a:p>
        </p:txBody>
      </p:sp>
      <p:sp>
        <p:nvSpPr>
          <p:cNvPr id="16" name="Rectangle 15">
            <a:extLst>
              <a:ext uri="{FF2B5EF4-FFF2-40B4-BE49-F238E27FC236}">
                <a16:creationId xmlns:a16="http://schemas.microsoft.com/office/drawing/2014/main" id="{D33558B3-D65E-4FE0-80BC-80459ABAC043}"/>
              </a:ext>
            </a:extLst>
          </p:cNvPr>
          <p:cNvSpPr/>
          <p:nvPr/>
        </p:nvSpPr>
        <p:spPr>
          <a:xfrm>
            <a:off x="663652" y="4797757"/>
            <a:ext cx="4376434" cy="168047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57608" rtl="0" eaLnBrk="1" fontAlgn="auto" latinLnBrk="0" hangingPunct="1">
              <a:lnSpc>
                <a:spcPct val="100000"/>
              </a:lnSpc>
              <a:spcBef>
                <a:spcPts val="0"/>
              </a:spcBef>
              <a:spcAft>
                <a:spcPts val="600"/>
              </a:spcAft>
              <a:buClrTx/>
              <a:buSzTx/>
              <a:buFontTx/>
              <a:buNone/>
              <a:tabLst/>
              <a:defRPr/>
            </a:pPr>
            <a:r>
              <a:rPr kumimoji="0" lang="en-AU" sz="1400" b="0" i="0" u="none" strike="noStrike" kern="1200" cap="none" spc="0" normalizeH="0" baseline="0" noProof="0">
                <a:ln>
                  <a:noFill/>
                </a:ln>
                <a:solidFill>
                  <a:srgbClr val="7030A0"/>
                </a:solidFill>
                <a:effectLst/>
                <a:uLnTx/>
                <a:uFillTx/>
                <a:latin typeface="Open Sans"/>
                <a:ea typeface="+mn-ea"/>
                <a:cs typeface="+mn-cs"/>
              </a:rPr>
              <a:t>Cost structure</a:t>
            </a:r>
            <a:endParaRPr kumimoji="0" lang="en-AU" sz="1050" b="0" i="0" u="none" strike="noStrike" kern="1200" cap="none" spc="0" normalizeH="0" baseline="0" noProof="0">
              <a:ln>
                <a:noFill/>
              </a:ln>
              <a:solidFill>
                <a:srgbClr val="7030A0"/>
              </a:solidFill>
              <a:effectLst/>
              <a:uLnTx/>
              <a:uFillTx/>
              <a:latin typeface="Open Sans"/>
              <a:ea typeface="+mn-ea"/>
              <a:cs typeface="+mn-cs"/>
            </a:endParaRPr>
          </a:p>
          <a:p>
            <a:pPr marL="185738" marR="0" lvl="0" indent="-185738" algn="l" defTabSz="957608" rtl="0" eaLnBrk="1" fontAlgn="auto" latinLnBrk="0" hangingPunct="1">
              <a:lnSpc>
                <a:spcPct val="100000"/>
              </a:lnSpc>
              <a:spcBef>
                <a:spcPts val="0"/>
              </a:spcBef>
              <a:spcAft>
                <a:spcPts val="600"/>
              </a:spcAft>
              <a:buClrTx/>
              <a:buSzTx/>
              <a:buFont typeface="Arial"/>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Third-party fees (AWS, </a:t>
            </a:r>
            <a:r>
              <a:rPr kumimoji="0" lang="en-AU" sz="1050" b="0" i="0" u="none" strike="noStrike" kern="1200" cap="none" spc="0" normalizeH="0" baseline="0" noProof="0" err="1">
                <a:ln>
                  <a:noFill/>
                </a:ln>
                <a:solidFill>
                  <a:srgbClr val="DBDBDB">
                    <a:lumMod val="25000"/>
                  </a:srgbClr>
                </a:solidFill>
                <a:effectLst/>
                <a:uLnTx/>
                <a:uFillTx/>
                <a:latin typeface="Open Sans"/>
                <a:ea typeface="+mn-ea"/>
                <a:cs typeface="+mn-cs"/>
              </a:rPr>
              <a:t>VoiceBase</a:t>
            </a: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 </a:t>
            </a:r>
            <a:r>
              <a:rPr kumimoji="0" lang="en-AU" sz="1050" b="0" i="0" u="none" strike="noStrike" kern="1200" cap="none" spc="0" normalizeH="0" baseline="0" noProof="0" err="1">
                <a:ln>
                  <a:noFill/>
                </a:ln>
                <a:solidFill>
                  <a:srgbClr val="DBDBDB">
                    <a:lumMod val="25000"/>
                  </a:srgbClr>
                </a:solidFill>
                <a:effectLst/>
                <a:uLnTx/>
                <a:uFillTx/>
                <a:latin typeface="Open Sans"/>
                <a:ea typeface="+mn-ea"/>
                <a:cs typeface="+mn-cs"/>
              </a:rPr>
              <a:t>DiMetro</a:t>
            </a: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a:t>
            </a:r>
            <a:endParaRPr kumimoji="0" lang="en-AU" sz="1050" b="0" i="0" u="none" strike="noStrike" kern="1200" cap="none" spc="0" normalizeH="0" baseline="0" noProof="0">
              <a:ln>
                <a:noFill/>
              </a:ln>
              <a:solidFill>
                <a:srgbClr val="7030A0"/>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Product development cost</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Set up costs</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Commission fees</a:t>
            </a:r>
          </a:p>
          <a:p>
            <a:pPr marL="174625" marR="0" lvl="0" indent="-174625" algn="l" defTabSz="957608"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endParaRPr>
          </a:p>
        </p:txBody>
      </p:sp>
      <p:sp>
        <p:nvSpPr>
          <p:cNvPr id="17" name="Rectangle 16">
            <a:extLst>
              <a:ext uri="{FF2B5EF4-FFF2-40B4-BE49-F238E27FC236}">
                <a16:creationId xmlns:a16="http://schemas.microsoft.com/office/drawing/2014/main" id="{59676AE3-89E7-46E9-8992-E87A19BC0BBE}"/>
              </a:ext>
            </a:extLst>
          </p:cNvPr>
          <p:cNvSpPr/>
          <p:nvPr/>
        </p:nvSpPr>
        <p:spPr>
          <a:xfrm>
            <a:off x="5225491" y="4797757"/>
            <a:ext cx="4376434" cy="168047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57608" rtl="0" eaLnBrk="1" fontAlgn="auto" latinLnBrk="0" hangingPunct="1">
              <a:lnSpc>
                <a:spcPct val="100000"/>
              </a:lnSpc>
              <a:spcBef>
                <a:spcPts val="0"/>
              </a:spcBef>
              <a:spcAft>
                <a:spcPts val="600"/>
              </a:spcAft>
              <a:buClrTx/>
              <a:buSzTx/>
              <a:buFontTx/>
              <a:buNone/>
              <a:tabLst/>
              <a:defRPr/>
            </a:pPr>
            <a:r>
              <a:rPr kumimoji="0" lang="en-AU" sz="1400" b="0" i="0" u="none" strike="noStrike" kern="1200" cap="none" spc="0" normalizeH="0" baseline="0" noProof="0">
                <a:ln>
                  <a:noFill/>
                </a:ln>
                <a:solidFill>
                  <a:srgbClr val="7030A0"/>
                </a:solidFill>
                <a:effectLst/>
                <a:uLnTx/>
                <a:uFillTx/>
                <a:latin typeface="Open Sans"/>
                <a:ea typeface="+mn-ea"/>
                <a:cs typeface="+mn-cs"/>
              </a:rPr>
              <a:t>Revenue structure</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Implementation fee</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License revenue – per agent per month </a:t>
            </a:r>
            <a:endParaRPr kumimoji="0" lang="en-AU" sz="1400" b="0" i="0" u="none" strike="noStrike" kern="1200" cap="none" spc="0" normalizeH="0" baseline="0" noProof="0">
              <a:ln>
                <a:noFill/>
              </a:ln>
              <a:solidFill>
                <a:srgbClr val="FFFFFF"/>
              </a:solidFill>
              <a:effectLst/>
              <a:uLnTx/>
              <a:uFillTx/>
              <a:latin typeface="Open Sans"/>
              <a:ea typeface="+mn-ea"/>
              <a:cs typeface="+mn-cs"/>
            </a:endParaRP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Insights Professional Services</a:t>
            </a:r>
          </a:p>
          <a:p>
            <a:pPr marL="174625" marR="0" lvl="0" indent="-174625" algn="l" defTabSz="95760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050" b="0" i="0" u="none" strike="noStrike" kern="1200" cap="none" spc="0" normalizeH="0" baseline="0" noProof="0">
                <a:ln>
                  <a:noFill/>
                </a:ln>
                <a:solidFill>
                  <a:srgbClr val="DBDBDB">
                    <a:lumMod val="25000"/>
                  </a:srgbClr>
                </a:solidFill>
                <a:effectLst/>
                <a:uLnTx/>
                <a:uFillTx/>
                <a:latin typeface="Open Sans"/>
                <a:ea typeface="+mn-ea"/>
                <a:cs typeface="+mn-cs"/>
              </a:rPr>
              <a:t>Per session revenue (Marketplaces)</a:t>
            </a:r>
          </a:p>
        </p:txBody>
      </p:sp>
      <p:sp>
        <p:nvSpPr>
          <p:cNvPr id="22" name="Title 1">
            <a:extLst>
              <a:ext uri="{FF2B5EF4-FFF2-40B4-BE49-F238E27FC236}">
                <a16:creationId xmlns:a16="http://schemas.microsoft.com/office/drawing/2014/main" id="{F67EDAB7-F424-B947-9711-0B9B7BE1D797}"/>
              </a:ext>
            </a:extLst>
          </p:cNvPr>
          <p:cNvSpPr txBox="1">
            <a:spLocks/>
          </p:cNvSpPr>
          <p:nvPr/>
        </p:nvSpPr>
        <p:spPr>
          <a:xfrm>
            <a:off x="663926" y="197227"/>
            <a:ext cx="6419625" cy="1466349"/>
          </a:xfrm>
          <a:prstGeom prst="rect">
            <a:avLst/>
          </a:prstGeom>
        </p:spPr>
        <p:txBody>
          <a:bodyPr vert="horz" lIns="0" tIns="0" rIns="0" bIns="0" rtlCol="0" anchor="t">
            <a:normAutofit/>
          </a:bodyPr>
          <a:lstStyle>
            <a:lvl1pPr algn="l" defTabSz="914400" rtl="0" eaLnBrk="1" latinLnBrk="0" hangingPunct="1">
              <a:lnSpc>
                <a:spcPts val="2900"/>
              </a:lnSpc>
              <a:spcBef>
                <a:spcPct val="0"/>
              </a:spcBef>
              <a:buNone/>
              <a:defRPr sz="2250" b="0" i="0" kern="1200">
                <a:solidFill>
                  <a:schemeClr val="accent1"/>
                </a:solidFill>
                <a:latin typeface="Montserrat Light" pitchFamily="2" charset="77"/>
                <a:ea typeface="+mj-ea"/>
                <a:cs typeface="+mj-cs"/>
              </a:defRPr>
            </a:lvl1pPr>
          </a:lstStyle>
          <a:p>
            <a:r>
              <a:rPr lang="en-US" dirty="0"/>
              <a:t>Ekko GTM Summary – Australia &amp; NZ</a:t>
            </a:r>
          </a:p>
        </p:txBody>
      </p:sp>
      <p:sp>
        <p:nvSpPr>
          <p:cNvPr id="23" name="Rounded Rectangle 22">
            <a:extLst>
              <a:ext uri="{FF2B5EF4-FFF2-40B4-BE49-F238E27FC236}">
                <a16:creationId xmlns:a16="http://schemas.microsoft.com/office/drawing/2014/main" id="{AEEA3B7B-EC7C-3A4E-BF60-2463EE734CF9}"/>
              </a:ext>
            </a:extLst>
          </p:cNvPr>
          <p:cNvSpPr/>
          <p:nvPr/>
        </p:nvSpPr>
        <p:spPr>
          <a:xfrm flipV="1">
            <a:off x="741095" y="646783"/>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spTree>
    <p:extLst>
      <p:ext uri="{BB962C8B-B14F-4D97-AF65-F5344CB8AC3E}">
        <p14:creationId xmlns:p14="http://schemas.microsoft.com/office/powerpoint/2010/main" val="240685221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3856482" cy="1466349"/>
          </a:xfrm>
        </p:spPr>
        <p:txBody>
          <a:bodyPr/>
          <a:lstStyle/>
          <a:p>
            <a:r>
              <a:rPr lang="en-US" dirty="0"/>
              <a:t>Principles</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646783"/>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sp>
        <p:nvSpPr>
          <p:cNvPr id="3" name="TextBox 2">
            <a:extLst>
              <a:ext uri="{FF2B5EF4-FFF2-40B4-BE49-F238E27FC236}">
                <a16:creationId xmlns:a16="http://schemas.microsoft.com/office/drawing/2014/main" id="{01E85345-4F53-9B42-8954-C0DB69CC9507}"/>
              </a:ext>
            </a:extLst>
          </p:cNvPr>
          <p:cNvSpPr txBox="1"/>
          <p:nvPr/>
        </p:nvSpPr>
        <p:spPr>
          <a:xfrm>
            <a:off x="1424539" y="1663576"/>
            <a:ext cx="7526956" cy="2123787"/>
          </a:xfrm>
          <a:prstGeom prst="rect">
            <a:avLst/>
          </a:prstGeom>
          <a:noFill/>
        </p:spPr>
        <p:txBody>
          <a:bodyPr wrap="square" rtlCol="0">
            <a:spAutoFit/>
          </a:bodyPr>
          <a:lstStyle/>
          <a:p>
            <a:pPr marL="457200" indent="-457200">
              <a:buFont typeface="+mj-lt"/>
              <a:buAutoNum type="arabicPeriod"/>
            </a:pPr>
            <a:r>
              <a:rPr lang="en-US" dirty="0"/>
              <a:t>Easy to navigate</a:t>
            </a:r>
          </a:p>
          <a:p>
            <a:pPr marL="457200" indent="-457200">
              <a:buFont typeface="+mj-lt"/>
              <a:buAutoNum type="arabicPeriod"/>
            </a:pPr>
            <a:r>
              <a:rPr lang="en-US" dirty="0"/>
              <a:t>Easy to buy</a:t>
            </a:r>
          </a:p>
          <a:p>
            <a:pPr marL="457200" indent="-457200">
              <a:buFont typeface="+mj-lt"/>
              <a:buAutoNum type="arabicPeriod"/>
            </a:pPr>
            <a:r>
              <a:rPr lang="en-US" dirty="0"/>
              <a:t>Easy to sell</a:t>
            </a:r>
          </a:p>
          <a:p>
            <a:pPr marL="457200" indent="-457200">
              <a:buFont typeface="+mj-lt"/>
              <a:buAutoNum type="arabicPeriod"/>
            </a:pPr>
            <a:r>
              <a:rPr lang="en-US" dirty="0" err="1"/>
              <a:t>Maximise</a:t>
            </a:r>
            <a:r>
              <a:rPr lang="en-US" dirty="0"/>
              <a:t> revenue</a:t>
            </a:r>
          </a:p>
          <a:p>
            <a:pPr marL="457200" indent="-457200">
              <a:buFont typeface="+mj-lt"/>
              <a:buAutoNum type="arabicPeriod"/>
            </a:pPr>
            <a:r>
              <a:rPr lang="en-US" dirty="0"/>
              <a:t>As simple as possible but no simpler</a:t>
            </a:r>
          </a:p>
          <a:p>
            <a:pPr marL="457200" indent="-457200">
              <a:buFont typeface="+mj-lt"/>
              <a:buAutoNum type="arabicPeriod"/>
            </a:pPr>
            <a:r>
              <a:rPr lang="en-US" dirty="0"/>
              <a:t>Bundle according to needs</a:t>
            </a:r>
          </a:p>
          <a:p>
            <a:pPr marL="457200" indent="-457200">
              <a:buFont typeface="+mj-lt"/>
              <a:buAutoNum type="arabicPeriod"/>
            </a:pPr>
            <a:r>
              <a:rPr lang="en-US"/>
              <a:t>Customer </a:t>
            </a:r>
            <a:r>
              <a:rPr lang="en-US" dirty="0"/>
              <a:t>In not </a:t>
            </a:r>
            <a:r>
              <a:rPr lang="en-US" dirty="0" err="1"/>
              <a:t>Daisee</a:t>
            </a:r>
            <a:r>
              <a:rPr lang="en-US" dirty="0"/>
              <a:t> Out</a:t>
            </a:r>
          </a:p>
        </p:txBody>
      </p:sp>
    </p:spTree>
    <p:extLst>
      <p:ext uri="{BB962C8B-B14F-4D97-AF65-F5344CB8AC3E}">
        <p14:creationId xmlns:p14="http://schemas.microsoft.com/office/powerpoint/2010/main" val="1591657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3856482" cy="1466349"/>
          </a:xfrm>
        </p:spPr>
        <p:txBody>
          <a:bodyPr/>
          <a:lstStyle/>
          <a:p>
            <a:r>
              <a:rPr lang="en-US" dirty="0"/>
              <a:t>The current proposition</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646783"/>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sp>
        <p:nvSpPr>
          <p:cNvPr id="3" name="TextBox 2">
            <a:extLst>
              <a:ext uri="{FF2B5EF4-FFF2-40B4-BE49-F238E27FC236}">
                <a16:creationId xmlns:a16="http://schemas.microsoft.com/office/drawing/2014/main" id="{01E85345-4F53-9B42-8954-C0DB69CC9507}"/>
              </a:ext>
            </a:extLst>
          </p:cNvPr>
          <p:cNvSpPr txBox="1"/>
          <p:nvPr/>
        </p:nvSpPr>
        <p:spPr>
          <a:xfrm>
            <a:off x="932507" y="1663576"/>
            <a:ext cx="8018988" cy="3805657"/>
          </a:xfrm>
          <a:prstGeom prst="rect">
            <a:avLst/>
          </a:prstGeom>
          <a:noFill/>
        </p:spPr>
        <p:txBody>
          <a:bodyPr wrap="square" rtlCol="0">
            <a:spAutoFit/>
          </a:bodyPr>
          <a:lstStyle/>
          <a:p>
            <a:pPr lvl="0">
              <a:spcAft>
                <a:spcPts val="600"/>
              </a:spcAft>
            </a:pPr>
            <a:r>
              <a:rPr lang="en-GB" b="1" dirty="0"/>
              <a:t>Ensure Compliance </a:t>
            </a:r>
            <a:r>
              <a:rPr lang="en-GB" dirty="0"/>
              <a:t>– m</a:t>
            </a:r>
            <a:r>
              <a:rPr lang="en-US" dirty="0" err="1"/>
              <a:t>anage</a:t>
            </a:r>
            <a:r>
              <a:rPr lang="en-US" dirty="0"/>
              <a:t> risk and cost overhead of non-compliance. Listen to all conversations every minute of every day, flagging  non-compliance or compliance risks [in real time]</a:t>
            </a:r>
            <a:endParaRPr lang="en-GB" dirty="0"/>
          </a:p>
          <a:p>
            <a:pPr lvl="0">
              <a:spcAft>
                <a:spcPts val="600"/>
              </a:spcAft>
            </a:pPr>
            <a:r>
              <a:rPr lang="en-GB" b="1" dirty="0"/>
              <a:t>Understand Experience </a:t>
            </a:r>
            <a:r>
              <a:rPr lang="en-GB" dirty="0"/>
              <a:t>– w</a:t>
            </a:r>
            <a:r>
              <a:rPr lang="en-US" dirty="0"/>
              <a:t>hat customers are talking about, happy or unhappy. Listen to all conversations every minute of every day, understand your customers’ experience and do something about it [in real time]</a:t>
            </a:r>
            <a:endParaRPr lang="en-GB" dirty="0"/>
          </a:p>
          <a:p>
            <a:pPr lvl="0">
              <a:spcAft>
                <a:spcPts val="600"/>
              </a:spcAft>
            </a:pPr>
            <a:r>
              <a:rPr lang="en-GB" b="1" dirty="0"/>
              <a:t>Upgrade Performance </a:t>
            </a:r>
            <a:r>
              <a:rPr lang="en-GB" dirty="0"/>
              <a:t>- t</a:t>
            </a:r>
            <a:r>
              <a:rPr lang="en-US" dirty="0" err="1"/>
              <a:t>hree</a:t>
            </a:r>
            <a:r>
              <a:rPr lang="en-US" dirty="0"/>
              <a:t> areas; training, best practices, sales and service performance. Listen to all conversations every minute of every day and spot and solve agent training and performance issues in real time, and business improvement opportunities</a:t>
            </a:r>
            <a:endParaRPr lang="en-GB" dirty="0"/>
          </a:p>
          <a:p>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2658835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3856482" cy="1466349"/>
          </a:xfrm>
        </p:spPr>
        <p:txBody>
          <a:bodyPr/>
          <a:lstStyle/>
          <a:p>
            <a:r>
              <a:rPr lang="en-US" dirty="0"/>
              <a:t>Benefits</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646783"/>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sp>
        <p:nvSpPr>
          <p:cNvPr id="3" name="TextBox 2">
            <a:extLst>
              <a:ext uri="{FF2B5EF4-FFF2-40B4-BE49-F238E27FC236}">
                <a16:creationId xmlns:a16="http://schemas.microsoft.com/office/drawing/2014/main" id="{01E85345-4F53-9B42-8954-C0DB69CC9507}"/>
              </a:ext>
            </a:extLst>
          </p:cNvPr>
          <p:cNvSpPr txBox="1"/>
          <p:nvPr/>
        </p:nvSpPr>
        <p:spPr>
          <a:xfrm>
            <a:off x="2942375" y="1663576"/>
            <a:ext cx="6009119" cy="2994409"/>
          </a:xfrm>
          <a:prstGeom prst="rect">
            <a:avLst/>
          </a:prstGeom>
          <a:noFill/>
        </p:spPr>
        <p:txBody>
          <a:bodyPr wrap="square" rtlCol="0">
            <a:spAutoFit/>
          </a:bodyPr>
          <a:lstStyle/>
          <a:p>
            <a:pPr marL="457200" lvl="0" indent="-457200">
              <a:buFont typeface="+mj-lt"/>
              <a:buAutoNum type="arabicPeriod"/>
            </a:pPr>
            <a:r>
              <a:rPr lang="en-US" dirty="0"/>
              <a:t>High speed-to-value</a:t>
            </a:r>
          </a:p>
          <a:p>
            <a:pPr marL="457200" lvl="0" indent="-457200">
              <a:buFont typeface="+mj-lt"/>
              <a:buAutoNum type="arabicPeriod"/>
            </a:pPr>
            <a:r>
              <a:rPr lang="en-US" dirty="0"/>
              <a:t>Accurate</a:t>
            </a:r>
          </a:p>
          <a:p>
            <a:pPr marL="457200" lvl="0" indent="-457200">
              <a:buFont typeface="+mj-lt"/>
              <a:buAutoNum type="arabicPeriod"/>
            </a:pPr>
            <a:r>
              <a:rPr lang="en-US" dirty="0"/>
              <a:t>Secure</a:t>
            </a:r>
          </a:p>
          <a:p>
            <a:pPr marL="457200" lvl="0" indent="-457200">
              <a:buFont typeface="+mj-lt"/>
              <a:buAutoNum type="arabicPeriod"/>
            </a:pPr>
            <a:r>
              <a:rPr lang="en-US" dirty="0"/>
              <a:t>Configurable </a:t>
            </a:r>
            <a:endParaRPr lang="en-GB" dirty="0"/>
          </a:p>
          <a:p>
            <a:pPr marL="457200" indent="-457200">
              <a:buFont typeface="+mj-lt"/>
              <a:buAutoNum type="arabicPeriod"/>
            </a:pPr>
            <a:r>
              <a:rPr lang="en-US" dirty="0"/>
              <a:t>Cost saving</a:t>
            </a:r>
          </a:p>
          <a:p>
            <a:pPr marL="457200" indent="-457200">
              <a:buFont typeface="+mj-lt"/>
              <a:buAutoNum type="arabicPeriod"/>
            </a:pPr>
            <a:r>
              <a:rPr lang="en-US" dirty="0" err="1"/>
              <a:t>Scaleable</a:t>
            </a:r>
            <a:endParaRPr lang="en-US" dirty="0"/>
          </a:p>
          <a:p>
            <a:pPr marL="457200" indent="-457200">
              <a:buFont typeface="+mj-lt"/>
              <a:buAutoNum type="arabicPeriod"/>
            </a:pPr>
            <a:r>
              <a:rPr lang="en-US" dirty="0"/>
              <a:t>Size agnostic</a:t>
            </a:r>
          </a:p>
          <a:p>
            <a:pPr marL="457200" indent="-457200">
              <a:buFont typeface="+mj-lt"/>
              <a:buAutoNum type="arabicPeriod"/>
            </a:pPr>
            <a:r>
              <a:rPr lang="en-US" dirty="0"/>
              <a:t>Works with existing software</a:t>
            </a:r>
          </a:p>
          <a:p>
            <a:pPr marL="457200" indent="-457200">
              <a:buFont typeface="+mj-lt"/>
              <a:buAutoNum type="arabicPeriod"/>
            </a:pPr>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546826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3856482" cy="1466349"/>
          </a:xfrm>
        </p:spPr>
        <p:txBody>
          <a:bodyPr/>
          <a:lstStyle/>
          <a:p>
            <a:r>
              <a:rPr lang="en-US" dirty="0"/>
              <a:t>Strategic Options</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646783"/>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6" name="Table 5">
            <a:extLst>
              <a:ext uri="{FF2B5EF4-FFF2-40B4-BE49-F238E27FC236}">
                <a16:creationId xmlns:a16="http://schemas.microsoft.com/office/drawing/2014/main" id="{81574BFB-BF97-8745-BF02-E019F1013EB1}"/>
              </a:ext>
            </a:extLst>
          </p:cNvPr>
          <p:cNvGraphicFramePr>
            <a:graphicFrameLocks noGrp="1"/>
          </p:cNvGraphicFramePr>
          <p:nvPr>
            <p:extLst>
              <p:ext uri="{D42A27DB-BD31-4B8C-83A1-F6EECF244321}">
                <p14:modId xmlns:p14="http://schemas.microsoft.com/office/powerpoint/2010/main" val="546154736"/>
              </p:ext>
            </p:extLst>
          </p:nvPr>
        </p:nvGraphicFramePr>
        <p:xfrm>
          <a:off x="931217" y="1544532"/>
          <a:ext cx="8421013" cy="4450080"/>
        </p:xfrm>
        <a:graphic>
          <a:graphicData uri="http://schemas.openxmlformats.org/drawingml/2006/table">
            <a:tbl>
              <a:tblPr firstRow="1" bandRow="1">
                <a:tableStyleId>{5940675A-B579-460E-94D1-54222C63F5DA}</a:tableStyleId>
              </a:tblPr>
              <a:tblGrid>
                <a:gridCol w="2110747">
                  <a:extLst>
                    <a:ext uri="{9D8B030D-6E8A-4147-A177-3AD203B41FA5}">
                      <a16:colId xmlns:a16="http://schemas.microsoft.com/office/drawing/2014/main" val="2964238231"/>
                    </a:ext>
                  </a:extLst>
                </a:gridCol>
                <a:gridCol w="2103422">
                  <a:extLst>
                    <a:ext uri="{9D8B030D-6E8A-4147-A177-3AD203B41FA5}">
                      <a16:colId xmlns:a16="http://schemas.microsoft.com/office/drawing/2014/main" val="163838554"/>
                    </a:ext>
                  </a:extLst>
                </a:gridCol>
                <a:gridCol w="2103422">
                  <a:extLst>
                    <a:ext uri="{9D8B030D-6E8A-4147-A177-3AD203B41FA5}">
                      <a16:colId xmlns:a16="http://schemas.microsoft.com/office/drawing/2014/main" val="2718339333"/>
                    </a:ext>
                  </a:extLst>
                </a:gridCol>
                <a:gridCol w="2103422">
                  <a:extLst>
                    <a:ext uri="{9D8B030D-6E8A-4147-A177-3AD203B41FA5}">
                      <a16:colId xmlns:a16="http://schemas.microsoft.com/office/drawing/2014/main" val="1404917236"/>
                    </a:ext>
                  </a:extLst>
                </a:gridCol>
              </a:tblGrid>
              <a:tr h="370840">
                <a:tc>
                  <a:txBody>
                    <a:bodyPr/>
                    <a:lstStyle/>
                    <a:p>
                      <a:r>
                        <a:rPr lang="en-US" sz="1600" b="1" dirty="0"/>
                        <a:t>Factor</a:t>
                      </a:r>
                    </a:p>
                  </a:txBody>
                  <a:tcPr/>
                </a:tc>
                <a:tc>
                  <a:txBody>
                    <a:bodyPr/>
                    <a:lstStyle/>
                    <a:p>
                      <a:r>
                        <a:rPr lang="en-US" sz="1600" b="1" dirty="0"/>
                        <a:t>A</a:t>
                      </a:r>
                    </a:p>
                  </a:txBody>
                  <a:tcPr/>
                </a:tc>
                <a:tc>
                  <a:txBody>
                    <a:bodyPr/>
                    <a:lstStyle/>
                    <a:p>
                      <a:r>
                        <a:rPr lang="en-US" sz="1600" b="1" dirty="0"/>
                        <a:t>B</a:t>
                      </a:r>
                    </a:p>
                  </a:txBody>
                  <a:tcPr/>
                </a:tc>
                <a:tc>
                  <a:txBody>
                    <a:bodyPr/>
                    <a:lstStyle/>
                    <a:p>
                      <a:r>
                        <a:rPr lang="en-US" sz="1600" b="1" dirty="0"/>
                        <a:t>C</a:t>
                      </a:r>
                    </a:p>
                  </a:txBody>
                  <a:tcPr/>
                </a:tc>
                <a:extLst>
                  <a:ext uri="{0D108BD9-81ED-4DB2-BD59-A6C34878D82A}">
                    <a16:rowId xmlns:a16="http://schemas.microsoft.com/office/drawing/2014/main" val="358869186"/>
                  </a:ext>
                </a:extLst>
              </a:tr>
              <a:tr h="370840">
                <a:tc>
                  <a:txBody>
                    <a:bodyPr/>
                    <a:lstStyle/>
                    <a:p>
                      <a:r>
                        <a:rPr lang="en-US" sz="1600" dirty="0"/>
                        <a:t>1.Customer Size</a:t>
                      </a:r>
                    </a:p>
                  </a:txBody>
                  <a:tcPr/>
                </a:tc>
                <a:tc>
                  <a:txBody>
                    <a:bodyPr/>
                    <a:lstStyle/>
                    <a:p>
                      <a:r>
                        <a:rPr lang="en-US" sz="1600" dirty="0">
                          <a:solidFill>
                            <a:schemeClr val="tx1"/>
                          </a:solidFill>
                        </a:rPr>
                        <a:t>Small</a:t>
                      </a:r>
                    </a:p>
                  </a:txBody>
                  <a:tcPr/>
                </a:tc>
                <a:tc>
                  <a:txBody>
                    <a:bodyPr/>
                    <a:lstStyle/>
                    <a:p>
                      <a:r>
                        <a:rPr lang="en-US" sz="1600" dirty="0">
                          <a:solidFill>
                            <a:schemeClr val="tx1"/>
                          </a:solidFill>
                        </a:rPr>
                        <a:t>Medium</a:t>
                      </a:r>
                    </a:p>
                  </a:txBody>
                  <a:tcPr/>
                </a:tc>
                <a:tc>
                  <a:txBody>
                    <a:bodyPr/>
                    <a:lstStyle/>
                    <a:p>
                      <a:r>
                        <a:rPr lang="en-US" sz="1600" dirty="0">
                          <a:solidFill>
                            <a:schemeClr val="tx1"/>
                          </a:solidFill>
                        </a:rPr>
                        <a:t>Large</a:t>
                      </a:r>
                    </a:p>
                  </a:txBody>
                  <a:tcPr/>
                </a:tc>
                <a:extLst>
                  <a:ext uri="{0D108BD9-81ED-4DB2-BD59-A6C34878D82A}">
                    <a16:rowId xmlns:a16="http://schemas.microsoft.com/office/drawing/2014/main" val="3069962224"/>
                  </a:ext>
                </a:extLst>
              </a:tr>
              <a:tr h="370840">
                <a:tc>
                  <a:txBody>
                    <a:bodyPr/>
                    <a:lstStyle/>
                    <a:p>
                      <a:r>
                        <a:rPr lang="en-US" sz="1600" dirty="0"/>
                        <a:t>2.Sales Channel</a:t>
                      </a:r>
                    </a:p>
                  </a:txBody>
                  <a:tcPr/>
                </a:tc>
                <a:tc>
                  <a:txBody>
                    <a:bodyPr/>
                    <a:lstStyle/>
                    <a:p>
                      <a:r>
                        <a:rPr lang="en-US" sz="1600" dirty="0">
                          <a:solidFill>
                            <a:schemeClr val="tx1"/>
                          </a:solidFill>
                        </a:rPr>
                        <a:t>Marketplace</a:t>
                      </a:r>
                    </a:p>
                  </a:txBody>
                  <a:tcPr/>
                </a:tc>
                <a:tc>
                  <a:txBody>
                    <a:bodyPr/>
                    <a:lstStyle/>
                    <a:p>
                      <a:r>
                        <a:rPr lang="en-US" sz="1600" dirty="0">
                          <a:solidFill>
                            <a:schemeClr val="tx1"/>
                          </a:solidFill>
                        </a:rPr>
                        <a:t>Reseller</a:t>
                      </a:r>
                    </a:p>
                  </a:txBody>
                  <a:tcPr/>
                </a:tc>
                <a:tc>
                  <a:txBody>
                    <a:bodyPr/>
                    <a:lstStyle/>
                    <a:p>
                      <a:r>
                        <a:rPr lang="en-US" sz="1600" dirty="0">
                          <a:solidFill>
                            <a:schemeClr val="tx1"/>
                          </a:solidFill>
                        </a:rPr>
                        <a:t>Direct</a:t>
                      </a:r>
                    </a:p>
                  </a:txBody>
                  <a:tcPr/>
                </a:tc>
                <a:extLst>
                  <a:ext uri="{0D108BD9-81ED-4DB2-BD59-A6C34878D82A}">
                    <a16:rowId xmlns:a16="http://schemas.microsoft.com/office/drawing/2014/main" val="3061415653"/>
                  </a:ext>
                </a:extLst>
              </a:tr>
              <a:tr h="370840">
                <a:tc>
                  <a:txBody>
                    <a:bodyPr/>
                    <a:lstStyle/>
                    <a:p>
                      <a:r>
                        <a:rPr lang="en-US" sz="1600" dirty="0"/>
                        <a:t>3.Positioning</a:t>
                      </a:r>
                    </a:p>
                  </a:txBody>
                  <a:tcPr/>
                </a:tc>
                <a:tc>
                  <a:txBody>
                    <a:bodyPr/>
                    <a:lstStyle/>
                    <a:p>
                      <a:r>
                        <a:rPr lang="en-US" sz="1600" dirty="0" err="1">
                          <a:solidFill>
                            <a:schemeClr val="tx1"/>
                          </a:solidFill>
                        </a:rPr>
                        <a:t>RegTech</a:t>
                      </a:r>
                      <a:endParaRPr lang="en-US" sz="1600" dirty="0">
                        <a:solidFill>
                          <a:schemeClr val="tx1"/>
                        </a:solidFill>
                      </a:endParaRPr>
                    </a:p>
                  </a:txBody>
                  <a:tcPr/>
                </a:tc>
                <a:tc>
                  <a:txBody>
                    <a:bodyPr/>
                    <a:lstStyle/>
                    <a:p>
                      <a:r>
                        <a:rPr lang="en-US" sz="1600" dirty="0">
                          <a:solidFill>
                            <a:schemeClr val="tx1"/>
                          </a:solidFill>
                        </a:rPr>
                        <a:t>Customer Experience</a:t>
                      </a:r>
                    </a:p>
                  </a:txBody>
                  <a:tcPr/>
                </a:tc>
                <a:tc>
                  <a:txBody>
                    <a:bodyPr/>
                    <a:lstStyle/>
                    <a:p>
                      <a:r>
                        <a:rPr lang="en-US" sz="1600" dirty="0">
                          <a:solidFill>
                            <a:schemeClr val="tx1"/>
                          </a:solidFill>
                        </a:rPr>
                        <a:t>Contact </a:t>
                      </a:r>
                      <a:r>
                        <a:rPr lang="en-US" sz="1600" dirty="0" err="1">
                          <a:solidFill>
                            <a:schemeClr val="tx1"/>
                          </a:solidFill>
                        </a:rPr>
                        <a:t>Centres</a:t>
                      </a:r>
                      <a:endParaRPr lang="en-US" sz="1600" dirty="0">
                        <a:solidFill>
                          <a:schemeClr val="tx1"/>
                        </a:solidFill>
                      </a:endParaRPr>
                    </a:p>
                  </a:txBody>
                  <a:tcPr/>
                </a:tc>
                <a:extLst>
                  <a:ext uri="{0D108BD9-81ED-4DB2-BD59-A6C34878D82A}">
                    <a16:rowId xmlns:a16="http://schemas.microsoft.com/office/drawing/2014/main" val="73689182"/>
                  </a:ext>
                </a:extLst>
              </a:tr>
              <a:tr h="370840">
                <a:tc>
                  <a:txBody>
                    <a:bodyPr/>
                    <a:lstStyle/>
                    <a:p>
                      <a:r>
                        <a:rPr lang="en-US" sz="1600" dirty="0"/>
                        <a:t>4.Function</a:t>
                      </a:r>
                    </a:p>
                  </a:txBody>
                  <a:tcPr/>
                </a:tc>
                <a:tc>
                  <a:txBody>
                    <a:bodyPr/>
                    <a:lstStyle/>
                    <a:p>
                      <a:r>
                        <a:rPr lang="en-US" sz="1600" dirty="0">
                          <a:solidFill>
                            <a:schemeClr val="tx1"/>
                          </a:solidFill>
                        </a:rPr>
                        <a:t>Compliance</a:t>
                      </a:r>
                    </a:p>
                  </a:txBody>
                  <a:tcPr/>
                </a:tc>
                <a:tc>
                  <a:txBody>
                    <a:bodyPr/>
                    <a:lstStyle/>
                    <a:p>
                      <a:r>
                        <a:rPr lang="en-US" sz="1600" dirty="0">
                          <a:solidFill>
                            <a:schemeClr val="tx1"/>
                          </a:solidFill>
                        </a:rPr>
                        <a:t>Performance</a:t>
                      </a:r>
                    </a:p>
                  </a:txBody>
                  <a:tcPr/>
                </a:tc>
                <a:tc>
                  <a:txBody>
                    <a:bodyPr/>
                    <a:lstStyle/>
                    <a:p>
                      <a:r>
                        <a:rPr lang="en-US" sz="1600" dirty="0">
                          <a:solidFill>
                            <a:schemeClr val="tx1"/>
                          </a:solidFill>
                        </a:rPr>
                        <a:t>Experience</a:t>
                      </a:r>
                    </a:p>
                  </a:txBody>
                  <a:tcPr/>
                </a:tc>
                <a:extLst>
                  <a:ext uri="{0D108BD9-81ED-4DB2-BD59-A6C34878D82A}">
                    <a16:rowId xmlns:a16="http://schemas.microsoft.com/office/drawing/2014/main" val="4019681235"/>
                  </a:ext>
                </a:extLst>
              </a:tr>
              <a:tr h="370840">
                <a:tc>
                  <a:txBody>
                    <a:bodyPr/>
                    <a:lstStyle/>
                    <a:p>
                      <a:r>
                        <a:rPr lang="en-US" sz="1600" dirty="0"/>
                        <a:t>5.Customers</a:t>
                      </a:r>
                    </a:p>
                  </a:txBody>
                  <a:tcPr/>
                </a:tc>
                <a:tc>
                  <a:txBody>
                    <a:bodyPr/>
                    <a:lstStyle/>
                    <a:p>
                      <a:r>
                        <a:rPr lang="en-US" sz="1600" dirty="0">
                          <a:solidFill>
                            <a:schemeClr val="tx1"/>
                          </a:solidFill>
                        </a:rPr>
                        <a:t>Risk</a:t>
                      </a:r>
                    </a:p>
                  </a:txBody>
                  <a:tcPr/>
                </a:tc>
                <a:tc>
                  <a:txBody>
                    <a:bodyPr/>
                    <a:lstStyle/>
                    <a:p>
                      <a:r>
                        <a:rPr lang="en-US" sz="1600" dirty="0">
                          <a:solidFill>
                            <a:schemeClr val="tx1"/>
                          </a:solidFill>
                        </a:rPr>
                        <a:t>Marketing</a:t>
                      </a:r>
                    </a:p>
                  </a:txBody>
                  <a:tcPr/>
                </a:tc>
                <a:tc>
                  <a:txBody>
                    <a:bodyPr/>
                    <a:lstStyle/>
                    <a:p>
                      <a:r>
                        <a:rPr lang="en-US" sz="1600" dirty="0">
                          <a:solidFill>
                            <a:schemeClr val="tx1"/>
                          </a:solidFill>
                        </a:rPr>
                        <a:t>Training</a:t>
                      </a:r>
                    </a:p>
                  </a:txBody>
                  <a:tcPr/>
                </a:tc>
                <a:extLst>
                  <a:ext uri="{0D108BD9-81ED-4DB2-BD59-A6C34878D82A}">
                    <a16:rowId xmlns:a16="http://schemas.microsoft.com/office/drawing/2014/main" val="1356181469"/>
                  </a:ext>
                </a:extLst>
              </a:tr>
              <a:tr h="370840">
                <a:tc>
                  <a:txBody>
                    <a:bodyPr/>
                    <a:lstStyle/>
                    <a:p>
                      <a:r>
                        <a:rPr lang="en-US" sz="1600" dirty="0"/>
                        <a:t>6.Functions</a:t>
                      </a:r>
                    </a:p>
                  </a:txBody>
                  <a:tcPr/>
                </a:tc>
                <a:tc>
                  <a:txBody>
                    <a:bodyPr/>
                    <a:lstStyle/>
                    <a:p>
                      <a:r>
                        <a:rPr lang="en-US" sz="1600" dirty="0">
                          <a:solidFill>
                            <a:schemeClr val="tx1"/>
                          </a:solidFill>
                        </a:rPr>
                        <a:t>Retail</a:t>
                      </a:r>
                    </a:p>
                  </a:txBody>
                  <a:tcPr/>
                </a:tc>
                <a:tc>
                  <a:txBody>
                    <a:bodyPr/>
                    <a:lstStyle/>
                    <a:p>
                      <a:r>
                        <a:rPr lang="en-US" sz="1600" dirty="0">
                          <a:solidFill>
                            <a:schemeClr val="tx1"/>
                          </a:solidFill>
                        </a:rPr>
                        <a:t>Markets</a:t>
                      </a:r>
                    </a:p>
                  </a:txBody>
                  <a:tcPr/>
                </a:tc>
                <a:tc>
                  <a:txBody>
                    <a:bodyPr/>
                    <a:lstStyle/>
                    <a:p>
                      <a:r>
                        <a:rPr lang="en-US" sz="1600" dirty="0">
                          <a:solidFill>
                            <a:schemeClr val="tx1"/>
                          </a:solidFill>
                        </a:rPr>
                        <a:t>Internal</a:t>
                      </a:r>
                    </a:p>
                  </a:txBody>
                  <a:tcPr/>
                </a:tc>
                <a:extLst>
                  <a:ext uri="{0D108BD9-81ED-4DB2-BD59-A6C34878D82A}">
                    <a16:rowId xmlns:a16="http://schemas.microsoft.com/office/drawing/2014/main" val="135357701"/>
                  </a:ext>
                </a:extLst>
              </a:tr>
              <a:tr h="370840">
                <a:tc>
                  <a:txBody>
                    <a:bodyPr/>
                    <a:lstStyle/>
                    <a:p>
                      <a:r>
                        <a:rPr lang="en-US" sz="1600" dirty="0"/>
                        <a:t>7.Level</a:t>
                      </a:r>
                    </a:p>
                  </a:txBody>
                  <a:tcPr/>
                </a:tc>
                <a:tc>
                  <a:txBody>
                    <a:bodyPr/>
                    <a:lstStyle/>
                    <a:p>
                      <a:r>
                        <a:rPr lang="en-US" sz="1600" dirty="0">
                          <a:solidFill>
                            <a:schemeClr val="tx1"/>
                          </a:solidFill>
                        </a:rPr>
                        <a:t>Standard</a:t>
                      </a:r>
                    </a:p>
                  </a:txBody>
                  <a:tcPr/>
                </a:tc>
                <a:tc>
                  <a:txBody>
                    <a:bodyPr/>
                    <a:lstStyle/>
                    <a:p>
                      <a:r>
                        <a:rPr lang="en-US" sz="1600" dirty="0">
                          <a:solidFill>
                            <a:schemeClr val="tx1"/>
                          </a:solidFill>
                        </a:rPr>
                        <a:t>Configurable</a:t>
                      </a:r>
                    </a:p>
                  </a:txBody>
                  <a:tcPr/>
                </a:tc>
                <a:tc>
                  <a:txBody>
                    <a:bodyPr/>
                    <a:lstStyle/>
                    <a:p>
                      <a:r>
                        <a:rPr lang="en-US" sz="1600" dirty="0">
                          <a:solidFill>
                            <a:schemeClr val="tx1"/>
                          </a:solidFill>
                        </a:rPr>
                        <a:t>Sophisticated</a:t>
                      </a:r>
                    </a:p>
                  </a:txBody>
                  <a:tcPr/>
                </a:tc>
                <a:extLst>
                  <a:ext uri="{0D108BD9-81ED-4DB2-BD59-A6C34878D82A}">
                    <a16:rowId xmlns:a16="http://schemas.microsoft.com/office/drawing/2014/main" val="2446056048"/>
                  </a:ext>
                </a:extLst>
              </a:tr>
              <a:tr h="370840">
                <a:tc>
                  <a:txBody>
                    <a:bodyPr/>
                    <a:lstStyle/>
                    <a:p>
                      <a:r>
                        <a:rPr lang="en-US" sz="1600" dirty="0"/>
                        <a:t>8.Capability</a:t>
                      </a:r>
                    </a:p>
                  </a:txBody>
                  <a:tcPr/>
                </a:tc>
                <a:tc>
                  <a:txBody>
                    <a:bodyPr/>
                    <a:lstStyle/>
                    <a:p>
                      <a:r>
                        <a:rPr lang="en-US" sz="1600" dirty="0">
                          <a:solidFill>
                            <a:schemeClr val="tx1"/>
                          </a:solidFill>
                        </a:rPr>
                        <a:t>Basic</a:t>
                      </a:r>
                    </a:p>
                  </a:txBody>
                  <a:tcPr/>
                </a:tc>
                <a:tc>
                  <a:txBody>
                    <a:bodyPr/>
                    <a:lstStyle/>
                    <a:p>
                      <a:r>
                        <a:rPr lang="en-US" sz="1600" dirty="0">
                          <a:solidFill>
                            <a:schemeClr val="tx1"/>
                          </a:solidFill>
                        </a:rPr>
                        <a:t>Intermediate</a:t>
                      </a:r>
                    </a:p>
                  </a:txBody>
                  <a:tcPr/>
                </a:tc>
                <a:tc>
                  <a:txBody>
                    <a:bodyPr/>
                    <a:lstStyle/>
                    <a:p>
                      <a:r>
                        <a:rPr lang="en-US" sz="1600" dirty="0">
                          <a:solidFill>
                            <a:schemeClr val="tx1"/>
                          </a:solidFill>
                        </a:rPr>
                        <a:t>Expert</a:t>
                      </a:r>
                    </a:p>
                  </a:txBody>
                  <a:tcPr/>
                </a:tc>
                <a:extLst>
                  <a:ext uri="{0D108BD9-81ED-4DB2-BD59-A6C34878D82A}">
                    <a16:rowId xmlns:a16="http://schemas.microsoft.com/office/drawing/2014/main" val="3865256655"/>
                  </a:ext>
                </a:extLst>
              </a:tr>
              <a:tr h="370840">
                <a:tc>
                  <a:txBody>
                    <a:bodyPr/>
                    <a:lstStyle/>
                    <a:p>
                      <a:r>
                        <a:rPr lang="en-US" sz="1600" dirty="0"/>
                        <a:t>9.Timing Rollout</a:t>
                      </a:r>
                    </a:p>
                  </a:txBody>
                  <a:tcPr/>
                </a:tc>
                <a:tc>
                  <a:txBody>
                    <a:bodyPr/>
                    <a:lstStyle/>
                    <a:p>
                      <a:r>
                        <a:rPr lang="en-US" sz="1600" dirty="0">
                          <a:solidFill>
                            <a:schemeClr val="tx1"/>
                          </a:solidFill>
                        </a:rPr>
                        <a:t>All</a:t>
                      </a:r>
                    </a:p>
                  </a:txBody>
                  <a:tcPr/>
                </a:tc>
                <a:tc>
                  <a:txBody>
                    <a:bodyPr/>
                    <a:lstStyle/>
                    <a:p>
                      <a:r>
                        <a:rPr lang="en-US" sz="1600" dirty="0">
                          <a:solidFill>
                            <a:schemeClr val="tx1"/>
                          </a:solidFill>
                        </a:rPr>
                        <a:t>Phased</a:t>
                      </a:r>
                    </a:p>
                  </a:txBody>
                  <a:tcPr/>
                </a:tc>
                <a:tc>
                  <a:txBody>
                    <a:bodyPr/>
                    <a:lstStyle/>
                    <a:p>
                      <a:r>
                        <a:rPr lang="en-US" sz="1600" dirty="0">
                          <a:solidFill>
                            <a:schemeClr val="tx1"/>
                          </a:solidFill>
                        </a:rPr>
                        <a:t>Feature-by-feature</a:t>
                      </a:r>
                    </a:p>
                  </a:txBody>
                  <a:tcPr/>
                </a:tc>
                <a:extLst>
                  <a:ext uri="{0D108BD9-81ED-4DB2-BD59-A6C34878D82A}">
                    <a16:rowId xmlns:a16="http://schemas.microsoft.com/office/drawing/2014/main" val="3987805437"/>
                  </a:ext>
                </a:extLst>
              </a:tr>
              <a:tr h="370840">
                <a:tc>
                  <a:txBody>
                    <a:bodyPr/>
                    <a:lstStyle/>
                    <a:p>
                      <a:r>
                        <a:rPr lang="en-US" sz="1600" dirty="0"/>
                        <a:t>10.Pricing</a:t>
                      </a:r>
                    </a:p>
                  </a:txBody>
                  <a:tcPr/>
                </a:tc>
                <a:tc>
                  <a:txBody>
                    <a:bodyPr/>
                    <a:lstStyle/>
                    <a:p>
                      <a:r>
                        <a:rPr lang="en-US" sz="1600" dirty="0">
                          <a:solidFill>
                            <a:schemeClr val="tx1"/>
                          </a:solidFill>
                        </a:rPr>
                        <a:t>By feature</a:t>
                      </a:r>
                    </a:p>
                  </a:txBody>
                  <a:tcPr/>
                </a:tc>
                <a:tc>
                  <a:txBody>
                    <a:bodyPr/>
                    <a:lstStyle/>
                    <a:p>
                      <a:r>
                        <a:rPr lang="en-US" sz="1600" dirty="0">
                          <a:solidFill>
                            <a:schemeClr val="tx1"/>
                          </a:solidFill>
                        </a:rPr>
                        <a:t>Bundled/Tiered</a:t>
                      </a:r>
                    </a:p>
                  </a:txBody>
                  <a:tcPr/>
                </a:tc>
                <a:tc>
                  <a:txBody>
                    <a:bodyPr/>
                    <a:lstStyle/>
                    <a:p>
                      <a:r>
                        <a:rPr lang="en-US" sz="1600" dirty="0">
                          <a:solidFill>
                            <a:schemeClr val="tx1"/>
                          </a:solidFill>
                        </a:rPr>
                        <a:t>Bespoke</a:t>
                      </a:r>
                    </a:p>
                  </a:txBody>
                  <a:tcPr/>
                </a:tc>
                <a:extLst>
                  <a:ext uri="{0D108BD9-81ED-4DB2-BD59-A6C34878D82A}">
                    <a16:rowId xmlns:a16="http://schemas.microsoft.com/office/drawing/2014/main" val="3536345101"/>
                  </a:ext>
                </a:extLst>
              </a:tr>
              <a:tr h="370840">
                <a:tc>
                  <a:txBody>
                    <a:bodyPr/>
                    <a:lstStyle/>
                    <a:p>
                      <a:r>
                        <a:rPr lang="en-US" sz="1600" dirty="0"/>
                        <a:t>11.Unit of measure</a:t>
                      </a:r>
                    </a:p>
                  </a:txBody>
                  <a:tcPr/>
                </a:tc>
                <a:tc>
                  <a:txBody>
                    <a:bodyPr/>
                    <a:lstStyle/>
                    <a:p>
                      <a:r>
                        <a:rPr lang="en-US" sz="1600" dirty="0">
                          <a:solidFill>
                            <a:schemeClr val="tx1"/>
                          </a:solidFill>
                        </a:rPr>
                        <a:t>Per seat per year</a:t>
                      </a:r>
                    </a:p>
                  </a:txBody>
                  <a:tcPr/>
                </a:tc>
                <a:tc>
                  <a:txBody>
                    <a:bodyPr/>
                    <a:lstStyle/>
                    <a:p>
                      <a:r>
                        <a:rPr lang="en-US" sz="1600" dirty="0">
                          <a:solidFill>
                            <a:schemeClr val="tx1"/>
                          </a:solidFill>
                        </a:rPr>
                        <a:t>Per session</a:t>
                      </a:r>
                    </a:p>
                  </a:txBody>
                  <a:tcPr/>
                </a:tc>
                <a:tc>
                  <a:txBody>
                    <a:bodyPr/>
                    <a:lstStyle/>
                    <a:p>
                      <a:r>
                        <a:rPr lang="en-US" sz="1600" dirty="0">
                          <a:solidFill>
                            <a:schemeClr val="tx1"/>
                          </a:solidFill>
                        </a:rPr>
                        <a:t>Cost plus </a:t>
                      </a:r>
                    </a:p>
                  </a:txBody>
                  <a:tcPr/>
                </a:tc>
                <a:extLst>
                  <a:ext uri="{0D108BD9-81ED-4DB2-BD59-A6C34878D82A}">
                    <a16:rowId xmlns:a16="http://schemas.microsoft.com/office/drawing/2014/main" val="3972854943"/>
                  </a:ext>
                </a:extLst>
              </a:tr>
            </a:tbl>
          </a:graphicData>
        </a:graphic>
      </p:graphicFrame>
    </p:spTree>
    <p:extLst>
      <p:ext uri="{BB962C8B-B14F-4D97-AF65-F5344CB8AC3E}">
        <p14:creationId xmlns:p14="http://schemas.microsoft.com/office/powerpoint/2010/main" val="4284568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3856482" cy="1466349"/>
          </a:xfrm>
        </p:spPr>
        <p:txBody>
          <a:bodyPr/>
          <a:lstStyle/>
          <a:p>
            <a:r>
              <a:rPr lang="en-US" dirty="0"/>
              <a:t>Current Strategic assumptions</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999864"/>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5" name="Table 4">
            <a:extLst>
              <a:ext uri="{FF2B5EF4-FFF2-40B4-BE49-F238E27FC236}">
                <a16:creationId xmlns:a16="http://schemas.microsoft.com/office/drawing/2014/main" id="{B7AA3D52-546E-6041-8AEE-E5E0B3AB1479}"/>
              </a:ext>
            </a:extLst>
          </p:cNvPr>
          <p:cNvGraphicFramePr>
            <a:graphicFrameLocks noGrp="1"/>
          </p:cNvGraphicFramePr>
          <p:nvPr>
            <p:extLst>
              <p:ext uri="{D42A27DB-BD31-4B8C-83A1-F6EECF244321}">
                <p14:modId xmlns:p14="http://schemas.microsoft.com/office/powerpoint/2010/main" val="4289257912"/>
              </p:ext>
            </p:extLst>
          </p:nvPr>
        </p:nvGraphicFramePr>
        <p:xfrm>
          <a:off x="931217" y="1544532"/>
          <a:ext cx="8421012" cy="4450080"/>
        </p:xfrm>
        <a:graphic>
          <a:graphicData uri="http://schemas.openxmlformats.org/drawingml/2006/table">
            <a:tbl>
              <a:tblPr firstRow="1" bandRow="1">
                <a:tableStyleId>{5940675A-B579-460E-94D1-54222C63F5DA}</a:tableStyleId>
              </a:tblPr>
              <a:tblGrid>
                <a:gridCol w="2083587">
                  <a:extLst>
                    <a:ext uri="{9D8B030D-6E8A-4147-A177-3AD203B41FA5}">
                      <a16:colId xmlns:a16="http://schemas.microsoft.com/office/drawing/2014/main" val="2964238231"/>
                    </a:ext>
                  </a:extLst>
                </a:gridCol>
                <a:gridCol w="2112475">
                  <a:extLst>
                    <a:ext uri="{9D8B030D-6E8A-4147-A177-3AD203B41FA5}">
                      <a16:colId xmlns:a16="http://schemas.microsoft.com/office/drawing/2014/main" val="163838554"/>
                    </a:ext>
                  </a:extLst>
                </a:gridCol>
                <a:gridCol w="2112475">
                  <a:extLst>
                    <a:ext uri="{9D8B030D-6E8A-4147-A177-3AD203B41FA5}">
                      <a16:colId xmlns:a16="http://schemas.microsoft.com/office/drawing/2014/main" val="2718339333"/>
                    </a:ext>
                  </a:extLst>
                </a:gridCol>
                <a:gridCol w="2112475">
                  <a:extLst>
                    <a:ext uri="{9D8B030D-6E8A-4147-A177-3AD203B41FA5}">
                      <a16:colId xmlns:a16="http://schemas.microsoft.com/office/drawing/2014/main" val="1404917236"/>
                    </a:ext>
                  </a:extLst>
                </a:gridCol>
              </a:tblGrid>
              <a:tr h="370840">
                <a:tc>
                  <a:txBody>
                    <a:bodyPr/>
                    <a:lstStyle/>
                    <a:p>
                      <a:r>
                        <a:rPr lang="en-US" sz="1600" b="1" dirty="0"/>
                        <a:t>Factor</a:t>
                      </a:r>
                    </a:p>
                  </a:txBody>
                  <a:tcPr/>
                </a:tc>
                <a:tc>
                  <a:txBody>
                    <a:bodyPr/>
                    <a:lstStyle/>
                    <a:p>
                      <a:r>
                        <a:rPr lang="en-US" sz="1600" b="1" dirty="0"/>
                        <a:t>A</a:t>
                      </a:r>
                    </a:p>
                  </a:txBody>
                  <a:tcPr/>
                </a:tc>
                <a:tc>
                  <a:txBody>
                    <a:bodyPr/>
                    <a:lstStyle/>
                    <a:p>
                      <a:r>
                        <a:rPr lang="en-US" sz="1600" b="1" dirty="0"/>
                        <a:t>B</a:t>
                      </a:r>
                    </a:p>
                  </a:txBody>
                  <a:tcPr/>
                </a:tc>
                <a:tc>
                  <a:txBody>
                    <a:bodyPr/>
                    <a:lstStyle/>
                    <a:p>
                      <a:r>
                        <a:rPr lang="en-US" sz="1600" b="1" dirty="0"/>
                        <a:t>C</a:t>
                      </a:r>
                    </a:p>
                  </a:txBody>
                  <a:tcPr/>
                </a:tc>
                <a:extLst>
                  <a:ext uri="{0D108BD9-81ED-4DB2-BD59-A6C34878D82A}">
                    <a16:rowId xmlns:a16="http://schemas.microsoft.com/office/drawing/2014/main" val="358869186"/>
                  </a:ext>
                </a:extLst>
              </a:tr>
              <a:tr h="370840">
                <a:tc>
                  <a:txBody>
                    <a:bodyPr/>
                    <a:lstStyle/>
                    <a:p>
                      <a:r>
                        <a:rPr lang="en-US" sz="1600" dirty="0"/>
                        <a:t>1.Customer Size</a:t>
                      </a:r>
                    </a:p>
                  </a:txBody>
                  <a:tcPr/>
                </a:tc>
                <a:tc>
                  <a:txBody>
                    <a:bodyPr/>
                    <a:lstStyle/>
                    <a:p>
                      <a:r>
                        <a:rPr lang="en-US" sz="1600" dirty="0">
                          <a:solidFill>
                            <a:schemeClr val="accent1"/>
                          </a:solidFill>
                        </a:rPr>
                        <a:t>Small</a:t>
                      </a:r>
                    </a:p>
                  </a:txBody>
                  <a:tcPr/>
                </a:tc>
                <a:tc>
                  <a:txBody>
                    <a:bodyPr/>
                    <a:lstStyle/>
                    <a:p>
                      <a:r>
                        <a:rPr lang="en-US" sz="1600" dirty="0">
                          <a:solidFill>
                            <a:schemeClr val="accent1"/>
                          </a:solidFill>
                        </a:rPr>
                        <a:t>Medium</a:t>
                      </a:r>
                    </a:p>
                  </a:txBody>
                  <a:tcPr/>
                </a:tc>
                <a:tc>
                  <a:txBody>
                    <a:bodyPr/>
                    <a:lstStyle/>
                    <a:p>
                      <a:r>
                        <a:rPr lang="en-US" sz="1600" dirty="0">
                          <a:solidFill>
                            <a:schemeClr val="accent1"/>
                          </a:solidFill>
                        </a:rPr>
                        <a:t>Large</a:t>
                      </a:r>
                    </a:p>
                  </a:txBody>
                  <a:tcPr/>
                </a:tc>
                <a:extLst>
                  <a:ext uri="{0D108BD9-81ED-4DB2-BD59-A6C34878D82A}">
                    <a16:rowId xmlns:a16="http://schemas.microsoft.com/office/drawing/2014/main" val="3069962224"/>
                  </a:ext>
                </a:extLst>
              </a:tr>
              <a:tr h="370840">
                <a:tc>
                  <a:txBody>
                    <a:bodyPr/>
                    <a:lstStyle/>
                    <a:p>
                      <a:r>
                        <a:rPr lang="en-US" sz="1600" dirty="0"/>
                        <a:t>2.Sales Channel</a:t>
                      </a:r>
                    </a:p>
                  </a:txBody>
                  <a:tcPr/>
                </a:tc>
                <a:tc>
                  <a:txBody>
                    <a:bodyPr/>
                    <a:lstStyle/>
                    <a:p>
                      <a:r>
                        <a:rPr lang="en-US" sz="1600" dirty="0">
                          <a:solidFill>
                            <a:schemeClr val="accent1"/>
                          </a:solidFill>
                        </a:rPr>
                        <a:t>Marketplace</a:t>
                      </a:r>
                    </a:p>
                  </a:txBody>
                  <a:tcPr/>
                </a:tc>
                <a:tc>
                  <a:txBody>
                    <a:bodyPr/>
                    <a:lstStyle/>
                    <a:p>
                      <a:r>
                        <a:rPr lang="en-US" sz="1600" dirty="0">
                          <a:solidFill>
                            <a:schemeClr val="accent1"/>
                          </a:solidFill>
                        </a:rPr>
                        <a:t>Reseller</a:t>
                      </a:r>
                    </a:p>
                  </a:txBody>
                  <a:tcPr/>
                </a:tc>
                <a:tc>
                  <a:txBody>
                    <a:bodyPr/>
                    <a:lstStyle/>
                    <a:p>
                      <a:r>
                        <a:rPr lang="en-US" sz="1600" dirty="0">
                          <a:solidFill>
                            <a:schemeClr val="accent1"/>
                          </a:solidFill>
                        </a:rPr>
                        <a:t>Direct</a:t>
                      </a:r>
                    </a:p>
                  </a:txBody>
                  <a:tcPr/>
                </a:tc>
                <a:extLst>
                  <a:ext uri="{0D108BD9-81ED-4DB2-BD59-A6C34878D82A}">
                    <a16:rowId xmlns:a16="http://schemas.microsoft.com/office/drawing/2014/main" val="3061415653"/>
                  </a:ext>
                </a:extLst>
              </a:tr>
              <a:tr h="370840">
                <a:tc>
                  <a:txBody>
                    <a:bodyPr/>
                    <a:lstStyle/>
                    <a:p>
                      <a:r>
                        <a:rPr lang="en-US" sz="1600" dirty="0"/>
                        <a:t>3.Positioning</a:t>
                      </a:r>
                    </a:p>
                  </a:txBody>
                  <a:tcPr/>
                </a:tc>
                <a:tc>
                  <a:txBody>
                    <a:bodyPr/>
                    <a:lstStyle/>
                    <a:p>
                      <a:r>
                        <a:rPr lang="en-US" sz="1600" dirty="0" err="1">
                          <a:solidFill>
                            <a:schemeClr val="tx1"/>
                          </a:solidFill>
                        </a:rPr>
                        <a:t>RegTech</a:t>
                      </a:r>
                      <a:endParaRPr lang="en-US" sz="1600" dirty="0">
                        <a:solidFill>
                          <a:schemeClr val="tx1"/>
                        </a:solidFill>
                      </a:endParaRPr>
                    </a:p>
                  </a:txBody>
                  <a:tcPr/>
                </a:tc>
                <a:tc>
                  <a:txBody>
                    <a:bodyPr/>
                    <a:lstStyle/>
                    <a:p>
                      <a:r>
                        <a:rPr lang="en-US" sz="1600" dirty="0">
                          <a:solidFill>
                            <a:schemeClr val="tx1"/>
                          </a:solidFill>
                        </a:rPr>
                        <a:t>Customer Experience</a:t>
                      </a:r>
                    </a:p>
                  </a:txBody>
                  <a:tcPr/>
                </a:tc>
                <a:tc>
                  <a:txBody>
                    <a:bodyPr/>
                    <a:lstStyle/>
                    <a:p>
                      <a:r>
                        <a:rPr lang="en-US" sz="1600" dirty="0">
                          <a:solidFill>
                            <a:schemeClr val="accent1"/>
                          </a:solidFill>
                        </a:rPr>
                        <a:t>Contact </a:t>
                      </a:r>
                      <a:r>
                        <a:rPr lang="en-US" sz="1600" dirty="0" err="1">
                          <a:solidFill>
                            <a:schemeClr val="accent1"/>
                          </a:solidFill>
                        </a:rPr>
                        <a:t>Centres</a:t>
                      </a:r>
                      <a:endParaRPr lang="en-US" sz="1600" dirty="0">
                        <a:solidFill>
                          <a:schemeClr val="accent1"/>
                        </a:solidFill>
                      </a:endParaRPr>
                    </a:p>
                  </a:txBody>
                  <a:tcPr/>
                </a:tc>
                <a:extLst>
                  <a:ext uri="{0D108BD9-81ED-4DB2-BD59-A6C34878D82A}">
                    <a16:rowId xmlns:a16="http://schemas.microsoft.com/office/drawing/2014/main" val="73689182"/>
                  </a:ext>
                </a:extLst>
              </a:tr>
              <a:tr h="370840">
                <a:tc>
                  <a:txBody>
                    <a:bodyPr/>
                    <a:lstStyle/>
                    <a:p>
                      <a:r>
                        <a:rPr lang="en-US" sz="1600" dirty="0"/>
                        <a:t>4.Function</a:t>
                      </a:r>
                    </a:p>
                  </a:txBody>
                  <a:tcPr/>
                </a:tc>
                <a:tc>
                  <a:txBody>
                    <a:bodyPr/>
                    <a:lstStyle/>
                    <a:p>
                      <a:r>
                        <a:rPr lang="en-US" sz="1600" dirty="0">
                          <a:solidFill>
                            <a:schemeClr val="accent1"/>
                          </a:solidFill>
                        </a:rPr>
                        <a:t>Compliance</a:t>
                      </a:r>
                    </a:p>
                  </a:txBody>
                  <a:tcPr/>
                </a:tc>
                <a:tc>
                  <a:txBody>
                    <a:bodyPr/>
                    <a:lstStyle/>
                    <a:p>
                      <a:r>
                        <a:rPr lang="en-US" sz="1600" dirty="0">
                          <a:solidFill>
                            <a:schemeClr val="accent1"/>
                          </a:solidFill>
                        </a:rPr>
                        <a:t>Performance</a:t>
                      </a:r>
                    </a:p>
                  </a:txBody>
                  <a:tcPr/>
                </a:tc>
                <a:tc>
                  <a:txBody>
                    <a:bodyPr/>
                    <a:lstStyle/>
                    <a:p>
                      <a:r>
                        <a:rPr lang="en-US" sz="1600" dirty="0">
                          <a:solidFill>
                            <a:schemeClr val="accent1"/>
                          </a:solidFill>
                        </a:rPr>
                        <a:t>Experience</a:t>
                      </a:r>
                    </a:p>
                  </a:txBody>
                  <a:tcPr/>
                </a:tc>
                <a:extLst>
                  <a:ext uri="{0D108BD9-81ED-4DB2-BD59-A6C34878D82A}">
                    <a16:rowId xmlns:a16="http://schemas.microsoft.com/office/drawing/2014/main" val="4019681235"/>
                  </a:ext>
                </a:extLst>
              </a:tr>
              <a:tr h="370840">
                <a:tc>
                  <a:txBody>
                    <a:bodyPr/>
                    <a:lstStyle/>
                    <a:p>
                      <a:r>
                        <a:rPr lang="en-US" sz="1600" dirty="0"/>
                        <a:t>5.Customers</a:t>
                      </a:r>
                    </a:p>
                  </a:txBody>
                  <a:tcPr/>
                </a:tc>
                <a:tc>
                  <a:txBody>
                    <a:bodyPr/>
                    <a:lstStyle/>
                    <a:p>
                      <a:r>
                        <a:rPr lang="en-US" sz="1600" dirty="0">
                          <a:solidFill>
                            <a:schemeClr val="accent1"/>
                          </a:solidFill>
                        </a:rPr>
                        <a:t>Risk</a:t>
                      </a:r>
                    </a:p>
                  </a:txBody>
                  <a:tcPr/>
                </a:tc>
                <a:tc>
                  <a:txBody>
                    <a:bodyPr/>
                    <a:lstStyle/>
                    <a:p>
                      <a:r>
                        <a:rPr lang="en-US" sz="1600" dirty="0">
                          <a:solidFill>
                            <a:schemeClr val="accent1"/>
                          </a:solidFill>
                        </a:rPr>
                        <a:t>Marketing</a:t>
                      </a:r>
                    </a:p>
                  </a:txBody>
                  <a:tcPr/>
                </a:tc>
                <a:tc>
                  <a:txBody>
                    <a:bodyPr/>
                    <a:lstStyle/>
                    <a:p>
                      <a:r>
                        <a:rPr lang="en-US" sz="1600" dirty="0">
                          <a:solidFill>
                            <a:schemeClr val="accent1"/>
                          </a:solidFill>
                        </a:rPr>
                        <a:t>Training</a:t>
                      </a:r>
                    </a:p>
                  </a:txBody>
                  <a:tcPr/>
                </a:tc>
                <a:extLst>
                  <a:ext uri="{0D108BD9-81ED-4DB2-BD59-A6C34878D82A}">
                    <a16:rowId xmlns:a16="http://schemas.microsoft.com/office/drawing/2014/main" val="1356181469"/>
                  </a:ext>
                </a:extLst>
              </a:tr>
              <a:tr h="370840">
                <a:tc>
                  <a:txBody>
                    <a:bodyPr/>
                    <a:lstStyle/>
                    <a:p>
                      <a:r>
                        <a:rPr lang="en-US" sz="1600" dirty="0"/>
                        <a:t>6.Functions</a:t>
                      </a:r>
                    </a:p>
                  </a:txBody>
                  <a:tcPr/>
                </a:tc>
                <a:tc>
                  <a:txBody>
                    <a:bodyPr/>
                    <a:lstStyle/>
                    <a:p>
                      <a:r>
                        <a:rPr lang="en-US" sz="1600" dirty="0">
                          <a:solidFill>
                            <a:schemeClr val="accent1"/>
                          </a:solidFill>
                        </a:rPr>
                        <a:t>Retail</a:t>
                      </a:r>
                    </a:p>
                  </a:txBody>
                  <a:tcPr/>
                </a:tc>
                <a:tc>
                  <a:txBody>
                    <a:bodyPr/>
                    <a:lstStyle/>
                    <a:p>
                      <a:r>
                        <a:rPr lang="en-US" sz="1600" dirty="0"/>
                        <a:t>Markets</a:t>
                      </a:r>
                    </a:p>
                  </a:txBody>
                  <a:tcPr/>
                </a:tc>
                <a:tc>
                  <a:txBody>
                    <a:bodyPr/>
                    <a:lstStyle/>
                    <a:p>
                      <a:r>
                        <a:rPr lang="en-US" sz="1600" dirty="0"/>
                        <a:t>Internal</a:t>
                      </a:r>
                    </a:p>
                  </a:txBody>
                  <a:tcPr/>
                </a:tc>
                <a:extLst>
                  <a:ext uri="{0D108BD9-81ED-4DB2-BD59-A6C34878D82A}">
                    <a16:rowId xmlns:a16="http://schemas.microsoft.com/office/drawing/2014/main" val="135357701"/>
                  </a:ext>
                </a:extLst>
              </a:tr>
              <a:tr h="370840">
                <a:tc>
                  <a:txBody>
                    <a:bodyPr/>
                    <a:lstStyle/>
                    <a:p>
                      <a:r>
                        <a:rPr lang="en-US" sz="1600" dirty="0"/>
                        <a:t>7.Level</a:t>
                      </a:r>
                    </a:p>
                  </a:txBody>
                  <a:tcPr/>
                </a:tc>
                <a:tc>
                  <a:txBody>
                    <a:bodyPr/>
                    <a:lstStyle/>
                    <a:p>
                      <a:r>
                        <a:rPr lang="en-US" sz="1600" dirty="0">
                          <a:solidFill>
                            <a:schemeClr val="tx1"/>
                          </a:solidFill>
                        </a:rPr>
                        <a:t>Standard</a:t>
                      </a:r>
                    </a:p>
                  </a:txBody>
                  <a:tcPr/>
                </a:tc>
                <a:tc>
                  <a:txBody>
                    <a:bodyPr/>
                    <a:lstStyle/>
                    <a:p>
                      <a:r>
                        <a:rPr lang="en-US" sz="1600" dirty="0">
                          <a:solidFill>
                            <a:schemeClr val="tx1"/>
                          </a:solidFill>
                        </a:rPr>
                        <a:t>Configurable</a:t>
                      </a:r>
                    </a:p>
                  </a:txBody>
                  <a:tcPr/>
                </a:tc>
                <a:tc>
                  <a:txBody>
                    <a:bodyPr/>
                    <a:lstStyle/>
                    <a:p>
                      <a:r>
                        <a:rPr lang="en-US" sz="1600" dirty="0">
                          <a:solidFill>
                            <a:schemeClr val="tx1"/>
                          </a:solidFill>
                        </a:rPr>
                        <a:t>Sophisticated</a:t>
                      </a:r>
                    </a:p>
                  </a:txBody>
                  <a:tcPr/>
                </a:tc>
                <a:extLst>
                  <a:ext uri="{0D108BD9-81ED-4DB2-BD59-A6C34878D82A}">
                    <a16:rowId xmlns:a16="http://schemas.microsoft.com/office/drawing/2014/main" val="2446056048"/>
                  </a:ext>
                </a:extLst>
              </a:tr>
              <a:tr h="370840">
                <a:tc>
                  <a:txBody>
                    <a:bodyPr/>
                    <a:lstStyle/>
                    <a:p>
                      <a:r>
                        <a:rPr lang="en-US" sz="1600" dirty="0"/>
                        <a:t>8.Capability</a:t>
                      </a:r>
                    </a:p>
                  </a:txBody>
                  <a:tcPr/>
                </a:tc>
                <a:tc>
                  <a:txBody>
                    <a:bodyPr/>
                    <a:lstStyle/>
                    <a:p>
                      <a:r>
                        <a:rPr lang="en-US" sz="1600" dirty="0"/>
                        <a:t>Basic</a:t>
                      </a:r>
                    </a:p>
                  </a:txBody>
                  <a:tcPr/>
                </a:tc>
                <a:tc>
                  <a:txBody>
                    <a:bodyPr/>
                    <a:lstStyle/>
                    <a:p>
                      <a:r>
                        <a:rPr lang="en-US" sz="1600" dirty="0"/>
                        <a:t>Intermediate</a:t>
                      </a:r>
                    </a:p>
                  </a:txBody>
                  <a:tcPr/>
                </a:tc>
                <a:tc>
                  <a:txBody>
                    <a:bodyPr/>
                    <a:lstStyle/>
                    <a:p>
                      <a:r>
                        <a:rPr lang="en-US" sz="1600" dirty="0"/>
                        <a:t>Expert</a:t>
                      </a:r>
                    </a:p>
                  </a:txBody>
                  <a:tcPr/>
                </a:tc>
                <a:extLst>
                  <a:ext uri="{0D108BD9-81ED-4DB2-BD59-A6C34878D82A}">
                    <a16:rowId xmlns:a16="http://schemas.microsoft.com/office/drawing/2014/main" val="3865256655"/>
                  </a:ext>
                </a:extLst>
              </a:tr>
              <a:tr h="370840">
                <a:tc>
                  <a:txBody>
                    <a:bodyPr/>
                    <a:lstStyle/>
                    <a:p>
                      <a:r>
                        <a:rPr lang="en-US" sz="1600" dirty="0"/>
                        <a:t>9.Timing Rollout</a:t>
                      </a:r>
                    </a:p>
                  </a:txBody>
                  <a:tcPr/>
                </a:tc>
                <a:tc>
                  <a:txBody>
                    <a:bodyPr/>
                    <a:lstStyle/>
                    <a:p>
                      <a:r>
                        <a:rPr lang="en-US" sz="1600" dirty="0">
                          <a:solidFill>
                            <a:schemeClr val="accent1"/>
                          </a:solidFill>
                        </a:rPr>
                        <a:t>All</a:t>
                      </a:r>
                    </a:p>
                  </a:txBody>
                  <a:tcPr/>
                </a:tc>
                <a:tc>
                  <a:txBody>
                    <a:bodyPr/>
                    <a:lstStyle/>
                    <a:p>
                      <a:r>
                        <a:rPr lang="en-US" sz="1600" dirty="0"/>
                        <a:t>Phased</a:t>
                      </a:r>
                    </a:p>
                  </a:txBody>
                  <a:tcPr/>
                </a:tc>
                <a:tc>
                  <a:txBody>
                    <a:bodyPr/>
                    <a:lstStyle/>
                    <a:p>
                      <a:r>
                        <a:rPr lang="en-US" sz="1600" dirty="0"/>
                        <a:t>Feature-by-feature</a:t>
                      </a:r>
                    </a:p>
                  </a:txBody>
                  <a:tcPr/>
                </a:tc>
                <a:extLst>
                  <a:ext uri="{0D108BD9-81ED-4DB2-BD59-A6C34878D82A}">
                    <a16:rowId xmlns:a16="http://schemas.microsoft.com/office/drawing/2014/main" val="3987805437"/>
                  </a:ext>
                </a:extLst>
              </a:tr>
              <a:tr h="370840">
                <a:tc>
                  <a:txBody>
                    <a:bodyPr/>
                    <a:lstStyle/>
                    <a:p>
                      <a:r>
                        <a:rPr lang="en-US" sz="1600" dirty="0"/>
                        <a:t>10.Pricing</a:t>
                      </a:r>
                    </a:p>
                  </a:txBody>
                  <a:tcPr/>
                </a:tc>
                <a:tc>
                  <a:txBody>
                    <a:bodyPr/>
                    <a:lstStyle/>
                    <a:p>
                      <a:r>
                        <a:rPr lang="en-US" sz="1600" dirty="0"/>
                        <a:t>By feature</a:t>
                      </a:r>
                    </a:p>
                  </a:txBody>
                  <a:tcPr/>
                </a:tc>
                <a:tc>
                  <a:txBody>
                    <a:bodyPr/>
                    <a:lstStyle/>
                    <a:p>
                      <a:r>
                        <a:rPr lang="en-US" sz="1600" dirty="0">
                          <a:solidFill>
                            <a:schemeClr val="accent1"/>
                          </a:solidFill>
                        </a:rPr>
                        <a:t>Bundled/Tiered</a:t>
                      </a:r>
                    </a:p>
                  </a:txBody>
                  <a:tcPr/>
                </a:tc>
                <a:tc>
                  <a:txBody>
                    <a:bodyPr/>
                    <a:lstStyle/>
                    <a:p>
                      <a:r>
                        <a:rPr lang="en-US" sz="1600" dirty="0">
                          <a:solidFill>
                            <a:schemeClr val="tx1"/>
                          </a:solidFill>
                        </a:rPr>
                        <a:t>Bespoke</a:t>
                      </a:r>
                    </a:p>
                  </a:txBody>
                  <a:tcPr/>
                </a:tc>
                <a:extLst>
                  <a:ext uri="{0D108BD9-81ED-4DB2-BD59-A6C34878D82A}">
                    <a16:rowId xmlns:a16="http://schemas.microsoft.com/office/drawing/2014/main" val="3536345101"/>
                  </a:ext>
                </a:extLst>
              </a:tr>
              <a:tr h="370840">
                <a:tc>
                  <a:txBody>
                    <a:bodyPr/>
                    <a:lstStyle/>
                    <a:p>
                      <a:r>
                        <a:rPr lang="en-US" sz="1600" dirty="0"/>
                        <a:t>11.Unit of measure</a:t>
                      </a:r>
                    </a:p>
                  </a:txBody>
                  <a:tcPr/>
                </a:tc>
                <a:tc>
                  <a:txBody>
                    <a:bodyPr/>
                    <a:lstStyle/>
                    <a:p>
                      <a:r>
                        <a:rPr lang="en-US" sz="1600" dirty="0">
                          <a:solidFill>
                            <a:schemeClr val="accent1"/>
                          </a:solidFill>
                        </a:rPr>
                        <a:t>Per seat per year</a:t>
                      </a:r>
                    </a:p>
                  </a:txBody>
                  <a:tcPr/>
                </a:tc>
                <a:tc>
                  <a:txBody>
                    <a:bodyPr/>
                    <a:lstStyle/>
                    <a:p>
                      <a:r>
                        <a:rPr lang="en-US" sz="1600" dirty="0">
                          <a:solidFill>
                            <a:schemeClr val="accent1"/>
                          </a:solidFill>
                        </a:rPr>
                        <a:t>Per session</a:t>
                      </a:r>
                    </a:p>
                  </a:txBody>
                  <a:tcPr/>
                </a:tc>
                <a:tc>
                  <a:txBody>
                    <a:bodyPr/>
                    <a:lstStyle/>
                    <a:p>
                      <a:r>
                        <a:rPr lang="en-US" sz="1600" dirty="0">
                          <a:solidFill>
                            <a:schemeClr val="accent1"/>
                          </a:solidFill>
                        </a:rPr>
                        <a:t>Cost plus </a:t>
                      </a:r>
                    </a:p>
                  </a:txBody>
                  <a:tcPr/>
                </a:tc>
                <a:extLst>
                  <a:ext uri="{0D108BD9-81ED-4DB2-BD59-A6C34878D82A}">
                    <a16:rowId xmlns:a16="http://schemas.microsoft.com/office/drawing/2014/main" val="875339215"/>
                  </a:ext>
                </a:extLst>
              </a:tr>
            </a:tbl>
          </a:graphicData>
        </a:graphic>
      </p:graphicFrame>
    </p:spTree>
    <p:extLst>
      <p:ext uri="{BB962C8B-B14F-4D97-AF65-F5344CB8AC3E}">
        <p14:creationId xmlns:p14="http://schemas.microsoft.com/office/powerpoint/2010/main" val="586891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3856482" cy="1466349"/>
          </a:xfrm>
        </p:spPr>
        <p:txBody>
          <a:bodyPr/>
          <a:lstStyle/>
          <a:p>
            <a:r>
              <a:rPr lang="en-US" dirty="0"/>
              <a:t>We’ve developed a list of features</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22168"/>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Table 2">
            <a:extLst>
              <a:ext uri="{FF2B5EF4-FFF2-40B4-BE49-F238E27FC236}">
                <a16:creationId xmlns:a16="http://schemas.microsoft.com/office/drawing/2014/main" id="{BDAE636A-7ADD-2946-999E-C4B7BB3C69A2}"/>
              </a:ext>
            </a:extLst>
          </p:cNvPr>
          <p:cNvGraphicFramePr>
            <a:graphicFrameLocks noGrp="1"/>
          </p:cNvGraphicFramePr>
          <p:nvPr>
            <p:extLst>
              <p:ext uri="{D42A27DB-BD31-4B8C-83A1-F6EECF244321}">
                <p14:modId xmlns:p14="http://schemas.microsoft.com/office/powerpoint/2010/main" val="2442536783"/>
              </p:ext>
            </p:extLst>
          </p:nvPr>
        </p:nvGraphicFramePr>
        <p:xfrm>
          <a:off x="2228516" y="1663576"/>
          <a:ext cx="5721952" cy="4079240"/>
        </p:xfrm>
        <a:graphic>
          <a:graphicData uri="http://schemas.openxmlformats.org/drawingml/2006/table">
            <a:tbl>
              <a:tblPr firstRow="1" bandRow="1">
                <a:tableStyleId>{2D5ABB26-0587-4C30-8999-92F81FD0307C}</a:tableStyleId>
              </a:tblPr>
              <a:tblGrid>
                <a:gridCol w="2863249">
                  <a:extLst>
                    <a:ext uri="{9D8B030D-6E8A-4147-A177-3AD203B41FA5}">
                      <a16:colId xmlns:a16="http://schemas.microsoft.com/office/drawing/2014/main" val="2849056522"/>
                    </a:ext>
                  </a:extLst>
                </a:gridCol>
                <a:gridCol w="2858703">
                  <a:extLst>
                    <a:ext uri="{9D8B030D-6E8A-4147-A177-3AD203B41FA5}">
                      <a16:colId xmlns:a16="http://schemas.microsoft.com/office/drawing/2014/main" val="4102720724"/>
                    </a:ext>
                  </a:extLst>
                </a:gridCol>
              </a:tblGrid>
              <a:tr h="370840">
                <a:tc>
                  <a:txBody>
                    <a:bodyPr/>
                    <a:lstStyle/>
                    <a:p>
                      <a:pPr marL="108000" algn="l" fontAlgn="t"/>
                      <a:r>
                        <a:rPr lang="en-GB" sz="1400" u="none" strike="noStrike" dirty="0">
                          <a:solidFill>
                            <a:schemeClr val="bg1">
                              <a:lumMod val="50000"/>
                            </a:schemeClr>
                          </a:solidFill>
                          <a:effectLst/>
                        </a:rPr>
                        <a:t>Hardship identification</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tc>
                  <a:txBody>
                    <a:bodyPr/>
                    <a:lstStyle/>
                    <a:p>
                      <a:pPr marL="108000" marR="0" lvl="0" indent="0" algn="l" defTabSz="914400" rtl="0" eaLnBrk="1" fontAlgn="auto" latinLnBrk="0" hangingPunct="1">
                        <a:lnSpc>
                          <a:spcPct val="100000"/>
                        </a:lnSpc>
                        <a:spcBef>
                          <a:spcPts val="0"/>
                        </a:spcBef>
                        <a:spcAft>
                          <a:spcPts val="0"/>
                        </a:spcAft>
                        <a:buClrTx/>
                        <a:buSzTx/>
                        <a:buFontTx/>
                        <a:buNone/>
                        <a:tabLst/>
                        <a:defRPr/>
                      </a:pPr>
                      <a:r>
                        <a:rPr lang="en-GB" sz="1400" u="none" strike="noStrike" dirty="0">
                          <a:solidFill>
                            <a:schemeClr val="bg1">
                              <a:lumMod val="50000"/>
                            </a:schemeClr>
                          </a:solidFill>
                          <a:effectLst/>
                        </a:rPr>
                        <a:t>In Call Predictors</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10543364"/>
                  </a:ext>
                </a:extLst>
              </a:tr>
              <a:tr h="370840">
                <a:tc>
                  <a:txBody>
                    <a:bodyPr/>
                    <a:lstStyle/>
                    <a:p>
                      <a:pPr marL="108000" algn="l" fontAlgn="t"/>
                      <a:r>
                        <a:rPr lang="en-GB" sz="1400" u="none" strike="noStrike" dirty="0">
                          <a:solidFill>
                            <a:schemeClr val="bg1">
                              <a:lumMod val="50000"/>
                            </a:schemeClr>
                          </a:solidFill>
                          <a:effectLst/>
                        </a:rPr>
                        <a:t>Verification</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tc>
                  <a:txBody>
                    <a:bodyPr/>
                    <a:lstStyle/>
                    <a:p>
                      <a:pPr marL="108000" algn="l" fontAlgn="t"/>
                      <a:r>
                        <a:rPr lang="en-GB" sz="1400" u="none" strike="noStrike" dirty="0">
                          <a:solidFill>
                            <a:schemeClr val="bg1">
                              <a:lumMod val="50000"/>
                            </a:schemeClr>
                          </a:solidFill>
                          <a:effectLst/>
                        </a:rPr>
                        <a:t>Call outcome prediction engine</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28771483"/>
                  </a:ext>
                </a:extLst>
              </a:tr>
              <a:tr h="370840">
                <a:tc>
                  <a:txBody>
                    <a:bodyPr/>
                    <a:lstStyle/>
                    <a:p>
                      <a:pPr marL="108000" algn="l" fontAlgn="t"/>
                      <a:r>
                        <a:rPr lang="en-GB" sz="1400" u="none" strike="noStrike" dirty="0">
                          <a:solidFill>
                            <a:schemeClr val="bg1">
                              <a:lumMod val="50000"/>
                            </a:schemeClr>
                          </a:solidFill>
                          <a:effectLst/>
                        </a:rPr>
                        <a:t>Pressurized Selling</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tc>
                  <a:txBody>
                    <a:bodyPr/>
                    <a:lstStyle/>
                    <a:p>
                      <a:pPr marL="108000" algn="l" fontAlgn="t"/>
                      <a:r>
                        <a:rPr lang="en-GB" sz="1400" u="none" strike="noStrike" dirty="0">
                          <a:solidFill>
                            <a:schemeClr val="bg1">
                              <a:lumMod val="50000"/>
                            </a:schemeClr>
                          </a:solidFill>
                          <a:effectLst/>
                        </a:rPr>
                        <a:t>Script Intelligence</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45798940"/>
                  </a:ext>
                </a:extLst>
              </a:tr>
              <a:tr h="370840">
                <a:tc>
                  <a:txBody>
                    <a:bodyPr/>
                    <a:lstStyle/>
                    <a:p>
                      <a:pPr marL="108000" algn="l" fontAlgn="t"/>
                      <a:r>
                        <a:rPr lang="en-GB" sz="1400" u="none" strike="noStrike" dirty="0">
                          <a:solidFill>
                            <a:schemeClr val="bg1">
                              <a:lumMod val="50000"/>
                            </a:schemeClr>
                          </a:solidFill>
                          <a:effectLst/>
                        </a:rPr>
                        <a:t>Mis-selling</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tc>
                  <a:txBody>
                    <a:bodyPr/>
                    <a:lstStyle/>
                    <a:p>
                      <a:pPr marL="108000" algn="l" fontAlgn="t"/>
                      <a:r>
                        <a:rPr lang="en-GB" sz="1400" u="none" strike="noStrike" dirty="0">
                          <a:solidFill>
                            <a:schemeClr val="bg1">
                              <a:lumMod val="50000"/>
                            </a:schemeClr>
                          </a:solidFill>
                          <a:effectLst/>
                        </a:rPr>
                        <a:t>Agent Performance and Churn</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3835180"/>
                  </a:ext>
                </a:extLst>
              </a:tr>
              <a:tr h="370840">
                <a:tc>
                  <a:txBody>
                    <a:bodyPr/>
                    <a:lstStyle/>
                    <a:p>
                      <a:pPr marL="108000" algn="l" fontAlgn="t"/>
                      <a:r>
                        <a:rPr lang="en-GB" sz="1400" u="none" strike="noStrike" dirty="0">
                          <a:solidFill>
                            <a:schemeClr val="bg1">
                              <a:lumMod val="50000"/>
                            </a:schemeClr>
                          </a:solidFill>
                          <a:effectLst/>
                        </a:rPr>
                        <a:t>Termination</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tc>
                  <a:txBody>
                    <a:bodyPr/>
                    <a:lstStyle/>
                    <a:p>
                      <a:pPr marL="108000" algn="l" fontAlgn="t"/>
                      <a:r>
                        <a:rPr lang="en-GB" sz="1400" u="none" strike="noStrike" dirty="0">
                          <a:solidFill>
                            <a:schemeClr val="bg1">
                              <a:lumMod val="50000"/>
                            </a:schemeClr>
                          </a:solidFill>
                          <a:effectLst/>
                        </a:rPr>
                        <a:t>Semantic Analysis</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16570888"/>
                  </a:ext>
                </a:extLst>
              </a:tr>
              <a:tr h="370840">
                <a:tc>
                  <a:txBody>
                    <a:bodyPr/>
                    <a:lstStyle/>
                    <a:p>
                      <a:pPr marL="108000" algn="l" fontAlgn="t"/>
                      <a:r>
                        <a:rPr lang="en-GB" sz="1400" u="none" strike="noStrike" dirty="0">
                          <a:solidFill>
                            <a:schemeClr val="bg1">
                              <a:lumMod val="50000"/>
                            </a:schemeClr>
                          </a:solidFill>
                          <a:effectLst/>
                        </a:rPr>
                        <a:t>PCI compliance</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tc>
                  <a:txBody>
                    <a:bodyPr/>
                    <a:lstStyle/>
                    <a:p>
                      <a:pPr marL="108000" algn="l" fontAlgn="t"/>
                      <a:r>
                        <a:rPr lang="en-GB" sz="1400" u="none" strike="noStrike" dirty="0">
                          <a:solidFill>
                            <a:schemeClr val="bg1">
                              <a:lumMod val="50000"/>
                            </a:schemeClr>
                          </a:solidFill>
                          <a:effectLst/>
                        </a:rPr>
                        <a:t>Termination</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71137355"/>
                  </a:ext>
                </a:extLst>
              </a:tr>
              <a:tr h="370840">
                <a:tc>
                  <a:txBody>
                    <a:bodyPr/>
                    <a:lstStyle/>
                    <a:p>
                      <a:pPr marL="108000" algn="l" fontAlgn="t"/>
                      <a:r>
                        <a:rPr lang="en-GB" sz="1400" u="none" strike="noStrike" dirty="0">
                          <a:solidFill>
                            <a:schemeClr val="bg1">
                              <a:lumMod val="50000"/>
                            </a:schemeClr>
                          </a:solidFill>
                          <a:effectLst/>
                        </a:rPr>
                        <a:t>Disclosures</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tc>
                  <a:txBody>
                    <a:bodyPr/>
                    <a:lstStyle/>
                    <a:p>
                      <a:pPr marL="108000" algn="l" fontAlgn="t"/>
                      <a:r>
                        <a:rPr lang="en-GB" sz="1400" u="none" strike="noStrike" dirty="0">
                          <a:solidFill>
                            <a:schemeClr val="bg1">
                              <a:lumMod val="50000"/>
                            </a:schemeClr>
                          </a:solidFill>
                          <a:effectLst/>
                        </a:rPr>
                        <a:t>Precog Complaints</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20826011"/>
                  </a:ext>
                </a:extLst>
              </a:tr>
              <a:tr h="370840">
                <a:tc>
                  <a:txBody>
                    <a:bodyPr/>
                    <a:lstStyle/>
                    <a:p>
                      <a:pPr marL="108000" algn="l" fontAlgn="t"/>
                      <a:r>
                        <a:rPr lang="en-GB" sz="1400" u="none" strike="noStrike" dirty="0">
                          <a:solidFill>
                            <a:schemeClr val="bg1">
                              <a:lumMod val="50000"/>
                            </a:schemeClr>
                          </a:solidFill>
                          <a:effectLst/>
                        </a:rPr>
                        <a:t>Interaction Analytics QM</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tc>
                  <a:txBody>
                    <a:bodyPr/>
                    <a:lstStyle/>
                    <a:p>
                      <a:pPr marL="108000" algn="l" fontAlgn="t"/>
                      <a:r>
                        <a:rPr lang="en-GB" sz="1400" u="none" strike="noStrike" dirty="0">
                          <a:solidFill>
                            <a:schemeClr val="bg1">
                              <a:lumMod val="50000"/>
                            </a:schemeClr>
                          </a:solidFill>
                          <a:effectLst/>
                        </a:rPr>
                        <a:t>Predictive NPS</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90900360"/>
                  </a:ext>
                </a:extLst>
              </a:tr>
              <a:tr h="370840">
                <a:tc>
                  <a:txBody>
                    <a:bodyPr/>
                    <a:lstStyle/>
                    <a:p>
                      <a:pPr marL="108000" algn="l" fontAlgn="t"/>
                      <a:r>
                        <a:rPr lang="en-GB" sz="1400" u="none" strike="noStrike">
                          <a:solidFill>
                            <a:schemeClr val="bg1">
                              <a:lumMod val="50000"/>
                            </a:schemeClr>
                          </a:solidFill>
                          <a:effectLst/>
                        </a:rPr>
                        <a:t>Deep FCR (First Call Resolution)</a:t>
                      </a:r>
                      <a:endParaRPr lang="en-GB" sz="1400" b="0" i="0" u="none" strike="noStrike">
                        <a:solidFill>
                          <a:schemeClr val="bg1">
                            <a:lumMod val="50000"/>
                          </a:schemeClr>
                        </a:solidFill>
                        <a:effectLst/>
                        <a:latin typeface="Calibri" panose="020F0502020204030204" pitchFamily="34" charset="0"/>
                      </a:endParaRPr>
                    </a:p>
                  </a:txBody>
                  <a:tcPr marL="9525" marR="9525" marT="9525" marB="0" anchor="ctr"/>
                </a:tc>
                <a:tc>
                  <a:txBody>
                    <a:bodyPr/>
                    <a:lstStyle/>
                    <a:p>
                      <a:pPr marL="108000" algn="l" fontAlgn="t"/>
                      <a:r>
                        <a:rPr lang="en-GB" sz="1400" u="none" strike="noStrike" dirty="0">
                          <a:solidFill>
                            <a:schemeClr val="bg1">
                              <a:lumMod val="50000"/>
                            </a:schemeClr>
                          </a:solidFill>
                          <a:effectLst/>
                        </a:rPr>
                        <a:t>Multi-channel Dialogue</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00211209"/>
                  </a:ext>
                </a:extLst>
              </a:tr>
              <a:tr h="370840">
                <a:tc>
                  <a:txBody>
                    <a:bodyPr/>
                    <a:lstStyle/>
                    <a:p>
                      <a:pPr marL="108000" algn="l" fontAlgn="t"/>
                      <a:r>
                        <a:rPr lang="en-GB" sz="1400" u="none" strike="noStrike" dirty="0">
                          <a:solidFill>
                            <a:schemeClr val="bg1">
                              <a:lumMod val="50000"/>
                            </a:schemeClr>
                          </a:solidFill>
                          <a:effectLst/>
                        </a:rPr>
                        <a:t>Automated Wrap</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tc>
                  <a:txBody>
                    <a:bodyPr/>
                    <a:lstStyle/>
                    <a:p>
                      <a:pPr marL="108000" algn="l" fontAlgn="t"/>
                      <a:r>
                        <a:rPr lang="en-GB" sz="1400" u="none" strike="noStrike" dirty="0">
                          <a:solidFill>
                            <a:schemeClr val="bg1">
                              <a:lumMod val="50000"/>
                            </a:schemeClr>
                          </a:solidFill>
                          <a:effectLst/>
                        </a:rPr>
                        <a:t>Dynamic Knowledgebase</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80407908"/>
                  </a:ext>
                </a:extLst>
              </a:tr>
              <a:tr h="370840">
                <a:tc>
                  <a:txBody>
                    <a:bodyPr/>
                    <a:lstStyle/>
                    <a:p>
                      <a:pPr marL="108000" algn="l" fontAlgn="t"/>
                      <a:r>
                        <a:rPr lang="en-GB" sz="1400" u="none" strike="noStrike" dirty="0">
                          <a:solidFill>
                            <a:schemeClr val="bg1">
                              <a:lumMod val="50000"/>
                            </a:schemeClr>
                          </a:solidFill>
                          <a:effectLst/>
                        </a:rPr>
                        <a:t>Cognitive QM</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tc>
                  <a:txBody>
                    <a:bodyPr/>
                    <a:lstStyle/>
                    <a:p>
                      <a:pPr marL="108000" algn="l" fontAlgn="t"/>
                      <a:r>
                        <a:rPr lang="en-GB" sz="1400" u="none" strike="noStrike" dirty="0">
                          <a:solidFill>
                            <a:schemeClr val="bg1">
                              <a:lumMod val="50000"/>
                            </a:schemeClr>
                          </a:solidFill>
                          <a:effectLst/>
                        </a:rPr>
                        <a:t>Phone printing</a:t>
                      </a:r>
                      <a:endParaRPr lang="en-GB" sz="1400" b="0" i="0" u="none" strike="noStrike" dirty="0">
                        <a:solidFill>
                          <a:schemeClr val="bg1">
                            <a:lumMod val="50000"/>
                          </a:schemeClr>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47974855"/>
                  </a:ext>
                </a:extLst>
              </a:tr>
            </a:tbl>
          </a:graphicData>
        </a:graphic>
      </p:graphicFrame>
    </p:spTree>
    <p:extLst>
      <p:ext uri="{BB962C8B-B14F-4D97-AF65-F5344CB8AC3E}">
        <p14:creationId xmlns:p14="http://schemas.microsoft.com/office/powerpoint/2010/main" val="3184103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052452" cy="1466349"/>
          </a:xfrm>
        </p:spPr>
        <p:txBody>
          <a:bodyPr/>
          <a:lstStyle/>
          <a:p>
            <a:r>
              <a:rPr lang="en-US" dirty="0"/>
              <a:t>…which we’ve bundled according to 3 main applications</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426430"/>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5" name="Table 4">
            <a:extLst>
              <a:ext uri="{FF2B5EF4-FFF2-40B4-BE49-F238E27FC236}">
                <a16:creationId xmlns:a16="http://schemas.microsoft.com/office/drawing/2014/main" id="{F9210130-5466-6140-9B75-BD4367CB988D}"/>
              </a:ext>
            </a:extLst>
          </p:cNvPr>
          <p:cNvGraphicFramePr>
            <a:graphicFrameLocks noGrp="1"/>
          </p:cNvGraphicFramePr>
          <p:nvPr>
            <p:extLst>
              <p:ext uri="{D42A27DB-BD31-4B8C-83A1-F6EECF244321}">
                <p14:modId xmlns:p14="http://schemas.microsoft.com/office/powerpoint/2010/main" val="540089400"/>
              </p:ext>
            </p:extLst>
          </p:nvPr>
        </p:nvGraphicFramePr>
        <p:xfrm>
          <a:off x="1756878" y="2067838"/>
          <a:ext cx="6603999" cy="3362960"/>
        </p:xfrm>
        <a:graphic>
          <a:graphicData uri="http://schemas.openxmlformats.org/drawingml/2006/table">
            <a:tbl>
              <a:tblPr firstRow="1" bandRow="1">
                <a:tableStyleId>{5C22544A-7EE6-4342-B048-85BDC9FD1C3A}</a:tableStyleId>
              </a:tblPr>
              <a:tblGrid>
                <a:gridCol w="2201333">
                  <a:extLst>
                    <a:ext uri="{9D8B030D-6E8A-4147-A177-3AD203B41FA5}">
                      <a16:colId xmlns:a16="http://schemas.microsoft.com/office/drawing/2014/main" val="2849056522"/>
                    </a:ext>
                  </a:extLst>
                </a:gridCol>
                <a:gridCol w="2201333">
                  <a:extLst>
                    <a:ext uri="{9D8B030D-6E8A-4147-A177-3AD203B41FA5}">
                      <a16:colId xmlns:a16="http://schemas.microsoft.com/office/drawing/2014/main" val="4102720724"/>
                    </a:ext>
                  </a:extLst>
                </a:gridCol>
                <a:gridCol w="2201333">
                  <a:extLst>
                    <a:ext uri="{9D8B030D-6E8A-4147-A177-3AD203B41FA5}">
                      <a16:colId xmlns:a16="http://schemas.microsoft.com/office/drawing/2014/main" val="4043285817"/>
                    </a:ext>
                  </a:extLst>
                </a:gridCol>
              </a:tblGrid>
              <a:tr h="370840">
                <a:tc>
                  <a:txBody>
                    <a:bodyPr/>
                    <a:lstStyle/>
                    <a:p>
                      <a:r>
                        <a:rPr lang="en-US" dirty="0"/>
                        <a:t>Compliance</a:t>
                      </a:r>
                    </a:p>
                  </a:txBody>
                  <a:tcPr/>
                </a:tc>
                <a:tc>
                  <a:txBody>
                    <a:bodyPr/>
                    <a:lstStyle/>
                    <a:p>
                      <a:r>
                        <a:rPr lang="en-US" dirty="0"/>
                        <a:t>Performance</a:t>
                      </a:r>
                    </a:p>
                  </a:txBody>
                  <a:tcPr/>
                </a:tc>
                <a:tc>
                  <a:txBody>
                    <a:bodyPr/>
                    <a:lstStyle/>
                    <a:p>
                      <a:r>
                        <a:rPr lang="en-US" dirty="0"/>
                        <a:t>Experience</a:t>
                      </a:r>
                    </a:p>
                  </a:txBody>
                  <a:tcPr/>
                </a:tc>
                <a:extLst>
                  <a:ext uri="{0D108BD9-81ED-4DB2-BD59-A6C34878D82A}">
                    <a16:rowId xmlns:a16="http://schemas.microsoft.com/office/drawing/2014/main" val="2764180310"/>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Hardship identification</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Interaction Analytics QM</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Semantic Analysis</a:t>
                      </a:r>
                    </a:p>
                  </a:txBody>
                  <a:tcPr marL="9525" marR="9525" marT="9525" marB="0" anchor="ctr"/>
                </a:tc>
                <a:extLst>
                  <a:ext uri="{0D108BD9-81ED-4DB2-BD59-A6C34878D82A}">
                    <a16:rowId xmlns:a16="http://schemas.microsoft.com/office/drawing/2014/main" val="710543364"/>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Verification</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Deep FCR (First Call Resolution)</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Termination</a:t>
                      </a:r>
                    </a:p>
                  </a:txBody>
                  <a:tcPr marL="9525" marR="9525" marT="9525" marB="0" anchor="ctr"/>
                </a:tc>
                <a:extLst>
                  <a:ext uri="{0D108BD9-81ED-4DB2-BD59-A6C34878D82A}">
                    <a16:rowId xmlns:a16="http://schemas.microsoft.com/office/drawing/2014/main" val="928771483"/>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Pressurized Selling</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Automated Wrap</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Precog Complaints</a:t>
                      </a:r>
                    </a:p>
                  </a:txBody>
                  <a:tcPr marL="9525" marR="9525" marT="9525" marB="0" anchor="ctr"/>
                </a:tc>
                <a:extLst>
                  <a:ext uri="{0D108BD9-81ED-4DB2-BD59-A6C34878D82A}">
                    <a16:rowId xmlns:a16="http://schemas.microsoft.com/office/drawing/2014/main" val="3945798940"/>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Mis-selling</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Cognitive QM</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Predictive NPS</a:t>
                      </a:r>
                    </a:p>
                  </a:txBody>
                  <a:tcPr marL="9525" marR="9525" marT="9525" marB="0" anchor="ctr"/>
                </a:tc>
                <a:extLst>
                  <a:ext uri="{0D108BD9-81ED-4DB2-BD59-A6C34878D82A}">
                    <a16:rowId xmlns:a16="http://schemas.microsoft.com/office/drawing/2014/main" val="273835180"/>
                  </a:ext>
                </a:extLst>
              </a:tr>
              <a:tr h="370840">
                <a:tc>
                  <a:txBody>
                    <a:bodyPr/>
                    <a:lstStyle/>
                    <a:p>
                      <a:pPr marL="108000" algn="l" fontAlgn="t"/>
                      <a:r>
                        <a:rPr lang="en-GB" sz="1200" b="0" i="0" u="none" strike="noStrike">
                          <a:solidFill>
                            <a:srgbClr val="000000"/>
                          </a:solidFill>
                          <a:effectLst/>
                          <a:latin typeface="Calibri" panose="020F0502020204030204" pitchFamily="34" charset="0"/>
                        </a:rPr>
                        <a:t>Termination</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In Call Predictors</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Multi-channel Dialogue</a:t>
                      </a:r>
                    </a:p>
                  </a:txBody>
                  <a:tcPr marL="9525" marR="9525" marT="9525" marB="0" anchor="ctr"/>
                </a:tc>
                <a:extLst>
                  <a:ext uri="{0D108BD9-81ED-4DB2-BD59-A6C34878D82A}">
                    <a16:rowId xmlns:a16="http://schemas.microsoft.com/office/drawing/2014/main" val="1316570888"/>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PCI compliance</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Call outcome prediction engine</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Dynamic Knowledgebase</a:t>
                      </a:r>
                    </a:p>
                  </a:txBody>
                  <a:tcPr marL="9525" marR="9525" marT="9525" marB="0" anchor="ctr"/>
                </a:tc>
                <a:extLst>
                  <a:ext uri="{0D108BD9-81ED-4DB2-BD59-A6C34878D82A}">
                    <a16:rowId xmlns:a16="http://schemas.microsoft.com/office/drawing/2014/main" val="1571137355"/>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Disclosures</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Script Intelligence</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Phone printing</a:t>
                      </a:r>
                    </a:p>
                  </a:txBody>
                  <a:tcPr marL="9525" marR="9525" marT="9525" marB="0" anchor="ctr"/>
                </a:tc>
                <a:extLst>
                  <a:ext uri="{0D108BD9-81ED-4DB2-BD59-A6C34878D82A}">
                    <a16:rowId xmlns:a16="http://schemas.microsoft.com/office/drawing/2014/main" val="720826011"/>
                  </a:ext>
                </a:extLst>
              </a:tr>
              <a:tr h="370840">
                <a:tc>
                  <a:txBody>
                    <a:bodyPr/>
                    <a:lstStyle/>
                    <a:p>
                      <a:pPr marL="108000" algn="l" fontAlgn="t"/>
                      <a:endParaRPr lang="en-GB"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Agent Performance and Churn</a:t>
                      </a:r>
                    </a:p>
                  </a:txBody>
                  <a:tcPr marL="9525" marR="9525" marT="9525" marB="0" anchor="ctr"/>
                </a:tc>
                <a:tc>
                  <a:txBody>
                    <a:bodyPr/>
                    <a:lstStyle/>
                    <a:p>
                      <a:pPr marL="108000"/>
                      <a:endParaRPr lang="en-US" sz="2000" dirty="0"/>
                    </a:p>
                  </a:txBody>
                  <a:tcPr anchor="ctr"/>
                </a:tc>
                <a:extLst>
                  <a:ext uri="{0D108BD9-81ED-4DB2-BD59-A6C34878D82A}">
                    <a16:rowId xmlns:a16="http://schemas.microsoft.com/office/drawing/2014/main" val="2390900360"/>
                  </a:ext>
                </a:extLst>
              </a:tr>
            </a:tbl>
          </a:graphicData>
        </a:graphic>
      </p:graphicFrame>
    </p:spTree>
    <p:extLst>
      <p:ext uri="{BB962C8B-B14F-4D97-AF65-F5344CB8AC3E}">
        <p14:creationId xmlns:p14="http://schemas.microsoft.com/office/powerpoint/2010/main" val="1019360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052452" cy="1466349"/>
          </a:xfrm>
        </p:spPr>
        <p:txBody>
          <a:bodyPr/>
          <a:lstStyle/>
          <a:p>
            <a:r>
              <a:rPr lang="en-US" dirty="0"/>
              <a:t>…but do these bundles make sense ?</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57939"/>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5" name="Table 4">
            <a:extLst>
              <a:ext uri="{FF2B5EF4-FFF2-40B4-BE49-F238E27FC236}">
                <a16:creationId xmlns:a16="http://schemas.microsoft.com/office/drawing/2014/main" id="{F9210130-5466-6140-9B75-BD4367CB988D}"/>
              </a:ext>
            </a:extLst>
          </p:cNvPr>
          <p:cNvGraphicFramePr>
            <a:graphicFrameLocks noGrp="1"/>
          </p:cNvGraphicFramePr>
          <p:nvPr/>
        </p:nvGraphicFramePr>
        <p:xfrm>
          <a:off x="1756878" y="2067838"/>
          <a:ext cx="6603999" cy="3362960"/>
        </p:xfrm>
        <a:graphic>
          <a:graphicData uri="http://schemas.openxmlformats.org/drawingml/2006/table">
            <a:tbl>
              <a:tblPr firstRow="1" bandRow="1">
                <a:tableStyleId>{5C22544A-7EE6-4342-B048-85BDC9FD1C3A}</a:tableStyleId>
              </a:tblPr>
              <a:tblGrid>
                <a:gridCol w="2201333">
                  <a:extLst>
                    <a:ext uri="{9D8B030D-6E8A-4147-A177-3AD203B41FA5}">
                      <a16:colId xmlns:a16="http://schemas.microsoft.com/office/drawing/2014/main" val="2849056522"/>
                    </a:ext>
                  </a:extLst>
                </a:gridCol>
                <a:gridCol w="2201333">
                  <a:extLst>
                    <a:ext uri="{9D8B030D-6E8A-4147-A177-3AD203B41FA5}">
                      <a16:colId xmlns:a16="http://schemas.microsoft.com/office/drawing/2014/main" val="4102720724"/>
                    </a:ext>
                  </a:extLst>
                </a:gridCol>
                <a:gridCol w="2201333">
                  <a:extLst>
                    <a:ext uri="{9D8B030D-6E8A-4147-A177-3AD203B41FA5}">
                      <a16:colId xmlns:a16="http://schemas.microsoft.com/office/drawing/2014/main" val="4043285817"/>
                    </a:ext>
                  </a:extLst>
                </a:gridCol>
              </a:tblGrid>
              <a:tr h="370840">
                <a:tc>
                  <a:txBody>
                    <a:bodyPr/>
                    <a:lstStyle/>
                    <a:p>
                      <a:r>
                        <a:rPr lang="en-US" dirty="0"/>
                        <a:t>Compliance</a:t>
                      </a:r>
                    </a:p>
                  </a:txBody>
                  <a:tcPr/>
                </a:tc>
                <a:tc>
                  <a:txBody>
                    <a:bodyPr/>
                    <a:lstStyle/>
                    <a:p>
                      <a:r>
                        <a:rPr lang="en-US" dirty="0"/>
                        <a:t>Performance</a:t>
                      </a:r>
                    </a:p>
                  </a:txBody>
                  <a:tcPr/>
                </a:tc>
                <a:tc>
                  <a:txBody>
                    <a:bodyPr/>
                    <a:lstStyle/>
                    <a:p>
                      <a:r>
                        <a:rPr lang="en-US" dirty="0"/>
                        <a:t>Experience</a:t>
                      </a:r>
                    </a:p>
                  </a:txBody>
                  <a:tcPr/>
                </a:tc>
                <a:extLst>
                  <a:ext uri="{0D108BD9-81ED-4DB2-BD59-A6C34878D82A}">
                    <a16:rowId xmlns:a16="http://schemas.microsoft.com/office/drawing/2014/main" val="2764180310"/>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Hardship identification</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Interaction Analytics QM</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Semantic Analysis</a:t>
                      </a:r>
                    </a:p>
                  </a:txBody>
                  <a:tcPr marL="9525" marR="9525" marT="9525" marB="0" anchor="ctr"/>
                </a:tc>
                <a:extLst>
                  <a:ext uri="{0D108BD9-81ED-4DB2-BD59-A6C34878D82A}">
                    <a16:rowId xmlns:a16="http://schemas.microsoft.com/office/drawing/2014/main" val="710543364"/>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Verification</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Deep FCR (First Call Resolution)</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Termination</a:t>
                      </a:r>
                    </a:p>
                  </a:txBody>
                  <a:tcPr marL="9525" marR="9525" marT="9525" marB="0" anchor="ctr"/>
                </a:tc>
                <a:extLst>
                  <a:ext uri="{0D108BD9-81ED-4DB2-BD59-A6C34878D82A}">
                    <a16:rowId xmlns:a16="http://schemas.microsoft.com/office/drawing/2014/main" val="928771483"/>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Pressurized Selling</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Automated Wrap</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Precog Complaints</a:t>
                      </a:r>
                    </a:p>
                  </a:txBody>
                  <a:tcPr marL="9525" marR="9525" marT="9525" marB="0" anchor="ctr"/>
                </a:tc>
                <a:extLst>
                  <a:ext uri="{0D108BD9-81ED-4DB2-BD59-A6C34878D82A}">
                    <a16:rowId xmlns:a16="http://schemas.microsoft.com/office/drawing/2014/main" val="3945798940"/>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Mis-selling</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Cognitive QM</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Predictive NPS</a:t>
                      </a:r>
                    </a:p>
                  </a:txBody>
                  <a:tcPr marL="9525" marR="9525" marT="9525" marB="0" anchor="ctr"/>
                </a:tc>
                <a:extLst>
                  <a:ext uri="{0D108BD9-81ED-4DB2-BD59-A6C34878D82A}">
                    <a16:rowId xmlns:a16="http://schemas.microsoft.com/office/drawing/2014/main" val="273835180"/>
                  </a:ext>
                </a:extLst>
              </a:tr>
              <a:tr h="370840">
                <a:tc>
                  <a:txBody>
                    <a:bodyPr/>
                    <a:lstStyle/>
                    <a:p>
                      <a:pPr marL="108000" algn="l" fontAlgn="t"/>
                      <a:r>
                        <a:rPr lang="en-GB" sz="1200" b="0" i="0" u="none" strike="noStrike">
                          <a:solidFill>
                            <a:srgbClr val="000000"/>
                          </a:solidFill>
                          <a:effectLst/>
                          <a:latin typeface="Calibri" panose="020F0502020204030204" pitchFamily="34" charset="0"/>
                        </a:rPr>
                        <a:t>Termination</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In Call Predictors</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Multi-channel Dialogue</a:t>
                      </a:r>
                    </a:p>
                  </a:txBody>
                  <a:tcPr marL="9525" marR="9525" marT="9525" marB="0" anchor="ctr"/>
                </a:tc>
                <a:extLst>
                  <a:ext uri="{0D108BD9-81ED-4DB2-BD59-A6C34878D82A}">
                    <a16:rowId xmlns:a16="http://schemas.microsoft.com/office/drawing/2014/main" val="1316570888"/>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PCI compliance</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Call outcome prediction engine</a:t>
                      </a:r>
                    </a:p>
                  </a:txBody>
                  <a:tcPr marL="9525" marR="9525" marT="9525" marB="0" anchor="ctr"/>
                </a:tc>
                <a:tc>
                  <a:txBody>
                    <a:bodyPr/>
                    <a:lstStyle/>
                    <a:p>
                      <a:pPr marL="108000" algn="l" fontAlgn="t"/>
                      <a:r>
                        <a:rPr lang="en-GB" sz="1200" b="0" i="0" u="none" strike="noStrike">
                          <a:solidFill>
                            <a:srgbClr val="000000"/>
                          </a:solidFill>
                          <a:effectLst/>
                          <a:latin typeface="Calibri" panose="020F0502020204030204" pitchFamily="34" charset="0"/>
                        </a:rPr>
                        <a:t>Dynamic Knowledgebase</a:t>
                      </a:r>
                    </a:p>
                  </a:txBody>
                  <a:tcPr marL="9525" marR="9525" marT="9525" marB="0" anchor="ctr"/>
                </a:tc>
                <a:extLst>
                  <a:ext uri="{0D108BD9-81ED-4DB2-BD59-A6C34878D82A}">
                    <a16:rowId xmlns:a16="http://schemas.microsoft.com/office/drawing/2014/main" val="1571137355"/>
                  </a:ext>
                </a:extLst>
              </a:tr>
              <a:tr h="370840">
                <a:tc>
                  <a:txBody>
                    <a:bodyPr/>
                    <a:lstStyle/>
                    <a:p>
                      <a:pPr marL="108000" algn="l" fontAlgn="t"/>
                      <a:r>
                        <a:rPr lang="en-GB" sz="1200" b="0" i="0" u="none" strike="noStrike" dirty="0">
                          <a:solidFill>
                            <a:srgbClr val="000000"/>
                          </a:solidFill>
                          <a:effectLst/>
                          <a:latin typeface="Calibri" panose="020F0502020204030204" pitchFamily="34" charset="0"/>
                        </a:rPr>
                        <a:t>Disclosures</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Script Intelligence</a:t>
                      </a: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Phone printing</a:t>
                      </a:r>
                    </a:p>
                  </a:txBody>
                  <a:tcPr marL="9525" marR="9525" marT="9525" marB="0" anchor="ctr"/>
                </a:tc>
                <a:extLst>
                  <a:ext uri="{0D108BD9-81ED-4DB2-BD59-A6C34878D82A}">
                    <a16:rowId xmlns:a16="http://schemas.microsoft.com/office/drawing/2014/main" val="720826011"/>
                  </a:ext>
                </a:extLst>
              </a:tr>
              <a:tr h="370840">
                <a:tc>
                  <a:txBody>
                    <a:bodyPr/>
                    <a:lstStyle/>
                    <a:p>
                      <a:pPr marL="108000" algn="l" fontAlgn="t"/>
                      <a:endParaRPr lang="en-GB"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marL="108000" algn="l" fontAlgn="t"/>
                      <a:r>
                        <a:rPr lang="en-GB" sz="1200" b="0" i="0" u="none" strike="noStrike" dirty="0">
                          <a:solidFill>
                            <a:srgbClr val="000000"/>
                          </a:solidFill>
                          <a:effectLst/>
                          <a:latin typeface="Calibri" panose="020F0502020204030204" pitchFamily="34" charset="0"/>
                        </a:rPr>
                        <a:t>Agent Performance and Churn</a:t>
                      </a:r>
                    </a:p>
                  </a:txBody>
                  <a:tcPr marL="9525" marR="9525" marT="9525" marB="0" anchor="ctr"/>
                </a:tc>
                <a:tc>
                  <a:txBody>
                    <a:bodyPr/>
                    <a:lstStyle/>
                    <a:p>
                      <a:pPr marL="108000"/>
                      <a:endParaRPr lang="en-US" sz="2000" dirty="0"/>
                    </a:p>
                  </a:txBody>
                  <a:tcPr anchor="ctr"/>
                </a:tc>
                <a:extLst>
                  <a:ext uri="{0D108BD9-81ED-4DB2-BD59-A6C34878D82A}">
                    <a16:rowId xmlns:a16="http://schemas.microsoft.com/office/drawing/2014/main" val="2390900360"/>
                  </a:ext>
                </a:extLst>
              </a:tr>
            </a:tbl>
          </a:graphicData>
        </a:graphic>
      </p:graphicFrame>
      <p:sp>
        <p:nvSpPr>
          <p:cNvPr id="3" name="Rectangle 2">
            <a:extLst>
              <a:ext uri="{FF2B5EF4-FFF2-40B4-BE49-F238E27FC236}">
                <a16:creationId xmlns:a16="http://schemas.microsoft.com/office/drawing/2014/main" id="{12840519-122F-594E-B1B0-AD42A10B2AE4}"/>
              </a:ext>
            </a:extLst>
          </p:cNvPr>
          <p:cNvSpPr/>
          <p:nvPr/>
        </p:nvSpPr>
        <p:spPr>
          <a:xfrm>
            <a:off x="1273734" y="1426430"/>
            <a:ext cx="7831766" cy="4781865"/>
          </a:xfrm>
          <a:prstGeom prst="rect">
            <a:avLst/>
          </a:prstGeom>
          <a:gradFill flip="none" rotWithShape="1">
            <a:gsLst>
              <a:gs pos="55000">
                <a:schemeClr val="bg1">
                  <a:alpha val="70000"/>
                </a:schemeClr>
              </a:gs>
              <a:gs pos="20000">
                <a:schemeClr val="bg1"/>
              </a:gs>
              <a:gs pos="100000">
                <a:schemeClr val="accent1">
                  <a:tint val="23500"/>
                  <a:satMod val="160000"/>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E85F427D-E9EF-DB48-A1DF-5745888CB64D}"/>
              </a:ext>
            </a:extLst>
          </p:cNvPr>
          <p:cNvSpPr txBox="1"/>
          <p:nvPr/>
        </p:nvSpPr>
        <p:spPr>
          <a:xfrm>
            <a:off x="4716379" y="2181609"/>
            <a:ext cx="4485771" cy="3508653"/>
          </a:xfrm>
          <a:prstGeom prst="rect">
            <a:avLst/>
          </a:prstGeom>
          <a:noFill/>
        </p:spPr>
        <p:txBody>
          <a:bodyPr wrap="square" rtlCol="0">
            <a:spAutoFit/>
          </a:bodyPr>
          <a:lstStyle/>
          <a:p>
            <a:pPr marL="171450" indent="-171450">
              <a:spcAft>
                <a:spcPts val="600"/>
              </a:spcAft>
              <a:buFont typeface="Arial" panose="020B0604020202020204" pitchFamily="34" charset="0"/>
              <a:buChar char="•"/>
            </a:pPr>
            <a:r>
              <a:rPr lang="en-US" sz="2400" dirty="0">
                <a:solidFill>
                  <a:schemeClr val="tx2">
                    <a:lumMod val="50000"/>
                  </a:schemeClr>
                </a:solidFill>
              </a:rPr>
              <a:t>Different buyer functions</a:t>
            </a:r>
          </a:p>
          <a:p>
            <a:pPr marL="171450" indent="-171450">
              <a:spcAft>
                <a:spcPts val="600"/>
              </a:spcAft>
              <a:buFont typeface="Arial" panose="020B0604020202020204" pitchFamily="34" charset="0"/>
              <a:buChar char="•"/>
            </a:pPr>
            <a:r>
              <a:rPr lang="en-US" sz="2400" dirty="0">
                <a:solidFill>
                  <a:schemeClr val="tx2">
                    <a:lumMod val="50000"/>
                  </a:schemeClr>
                </a:solidFill>
              </a:rPr>
              <a:t>Feature sophistication</a:t>
            </a:r>
          </a:p>
          <a:p>
            <a:pPr marL="171450" indent="-171450">
              <a:spcAft>
                <a:spcPts val="600"/>
              </a:spcAft>
              <a:buFont typeface="Arial" panose="020B0604020202020204" pitchFamily="34" charset="0"/>
              <a:buChar char="•"/>
            </a:pPr>
            <a:r>
              <a:rPr lang="en-US" sz="2400" dirty="0">
                <a:solidFill>
                  <a:schemeClr val="tx2">
                    <a:lumMod val="50000"/>
                  </a:schemeClr>
                </a:solidFill>
              </a:rPr>
              <a:t>This is a learning/upsell journey</a:t>
            </a:r>
          </a:p>
          <a:p>
            <a:pPr marL="171450" indent="-171450">
              <a:spcAft>
                <a:spcPts val="600"/>
              </a:spcAft>
              <a:buFont typeface="Arial" panose="020B0604020202020204" pitchFamily="34" charset="0"/>
              <a:buChar char="•"/>
            </a:pPr>
            <a:r>
              <a:rPr lang="en-US" sz="2400" dirty="0" err="1">
                <a:solidFill>
                  <a:schemeClr val="tx2">
                    <a:lumMod val="50000"/>
                  </a:schemeClr>
                </a:solidFill>
              </a:rPr>
              <a:t>Ancilliary</a:t>
            </a:r>
            <a:r>
              <a:rPr lang="en-US" sz="2400" dirty="0">
                <a:solidFill>
                  <a:schemeClr val="tx2">
                    <a:lumMod val="50000"/>
                  </a:schemeClr>
                </a:solidFill>
              </a:rPr>
              <a:t> services ?</a:t>
            </a:r>
          </a:p>
          <a:p>
            <a:pPr marL="171450" indent="-171450">
              <a:spcAft>
                <a:spcPts val="600"/>
              </a:spcAft>
              <a:buFont typeface="Arial" panose="020B0604020202020204" pitchFamily="34" charset="0"/>
              <a:buChar char="•"/>
            </a:pPr>
            <a:r>
              <a:rPr lang="en-US" sz="2400" dirty="0">
                <a:solidFill>
                  <a:schemeClr val="tx2">
                    <a:lumMod val="50000"/>
                  </a:schemeClr>
                </a:solidFill>
              </a:rPr>
              <a:t>Development vs Rollout</a:t>
            </a:r>
          </a:p>
          <a:p>
            <a:pPr marL="171450" indent="-171450">
              <a:spcAft>
                <a:spcPts val="600"/>
              </a:spcAft>
              <a:buFont typeface="Arial" panose="020B0604020202020204" pitchFamily="34" charset="0"/>
              <a:buChar char="•"/>
            </a:pPr>
            <a:r>
              <a:rPr lang="en-US" sz="2400" dirty="0">
                <a:solidFill>
                  <a:schemeClr val="tx2">
                    <a:lumMod val="50000"/>
                  </a:schemeClr>
                </a:solidFill>
              </a:rPr>
              <a:t>Call </a:t>
            </a:r>
            <a:r>
              <a:rPr lang="en-US" sz="2400" dirty="0" err="1">
                <a:solidFill>
                  <a:schemeClr val="tx2">
                    <a:lumMod val="50000"/>
                  </a:schemeClr>
                </a:solidFill>
              </a:rPr>
              <a:t>Centres</a:t>
            </a:r>
            <a:r>
              <a:rPr lang="en-US" sz="2400" dirty="0">
                <a:solidFill>
                  <a:schemeClr val="tx2">
                    <a:lumMod val="50000"/>
                  </a:schemeClr>
                </a:solidFill>
              </a:rPr>
              <a:t> or Omnichannel Customer Experience ?</a:t>
            </a:r>
          </a:p>
          <a:p>
            <a:pPr marL="171450" indent="-171450">
              <a:spcAft>
                <a:spcPts val="600"/>
              </a:spcAft>
              <a:buFont typeface="Arial" panose="020B0604020202020204" pitchFamily="34" charset="0"/>
              <a:buChar char="•"/>
            </a:pPr>
            <a:endParaRPr lang="en-US" sz="2400" dirty="0">
              <a:solidFill>
                <a:schemeClr val="tx2">
                  <a:lumMod val="50000"/>
                </a:schemeClr>
              </a:solidFill>
            </a:endParaRPr>
          </a:p>
        </p:txBody>
      </p:sp>
    </p:spTree>
    <p:extLst>
      <p:ext uri="{BB962C8B-B14F-4D97-AF65-F5344CB8AC3E}">
        <p14:creationId xmlns:p14="http://schemas.microsoft.com/office/powerpoint/2010/main" val="4003326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052452" cy="1466349"/>
          </a:xfrm>
        </p:spPr>
        <p:txBody>
          <a:bodyPr/>
          <a:lstStyle/>
          <a:p>
            <a:r>
              <a:rPr lang="en-US" dirty="0"/>
              <a:t>Features do vary in their sophistication</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82653"/>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Table 2">
            <a:extLst>
              <a:ext uri="{FF2B5EF4-FFF2-40B4-BE49-F238E27FC236}">
                <a16:creationId xmlns:a16="http://schemas.microsoft.com/office/drawing/2014/main" id="{99DF89FF-F808-3143-966F-7C97FAFC4261}"/>
              </a:ext>
            </a:extLst>
          </p:cNvPr>
          <p:cNvGraphicFramePr>
            <a:graphicFrameLocks noGrp="1"/>
          </p:cNvGraphicFramePr>
          <p:nvPr>
            <p:extLst>
              <p:ext uri="{D42A27DB-BD31-4B8C-83A1-F6EECF244321}">
                <p14:modId xmlns:p14="http://schemas.microsoft.com/office/powerpoint/2010/main" val="924237139"/>
              </p:ext>
            </p:extLst>
          </p:nvPr>
        </p:nvGraphicFramePr>
        <p:xfrm>
          <a:off x="2333766" y="930401"/>
          <a:ext cx="5850854" cy="5730240"/>
        </p:xfrm>
        <a:graphic>
          <a:graphicData uri="http://schemas.openxmlformats.org/drawingml/2006/table">
            <a:tbl>
              <a:tblPr firstRow="1" bandRow="1">
                <a:tableStyleId>{5C22544A-7EE6-4342-B048-85BDC9FD1C3A}</a:tableStyleId>
              </a:tblPr>
              <a:tblGrid>
                <a:gridCol w="364972">
                  <a:extLst>
                    <a:ext uri="{9D8B030D-6E8A-4147-A177-3AD203B41FA5}">
                      <a16:colId xmlns:a16="http://schemas.microsoft.com/office/drawing/2014/main" val="811362615"/>
                    </a:ext>
                  </a:extLst>
                </a:gridCol>
                <a:gridCol w="1914205">
                  <a:extLst>
                    <a:ext uri="{9D8B030D-6E8A-4147-A177-3AD203B41FA5}">
                      <a16:colId xmlns:a16="http://schemas.microsoft.com/office/drawing/2014/main" val="197163883"/>
                    </a:ext>
                  </a:extLst>
                </a:gridCol>
                <a:gridCol w="1190559">
                  <a:extLst>
                    <a:ext uri="{9D8B030D-6E8A-4147-A177-3AD203B41FA5}">
                      <a16:colId xmlns:a16="http://schemas.microsoft.com/office/drawing/2014/main" val="2796295587"/>
                    </a:ext>
                  </a:extLst>
                </a:gridCol>
                <a:gridCol w="1190559">
                  <a:extLst>
                    <a:ext uri="{9D8B030D-6E8A-4147-A177-3AD203B41FA5}">
                      <a16:colId xmlns:a16="http://schemas.microsoft.com/office/drawing/2014/main" val="4220225863"/>
                    </a:ext>
                  </a:extLst>
                </a:gridCol>
                <a:gridCol w="1190559">
                  <a:extLst>
                    <a:ext uri="{9D8B030D-6E8A-4147-A177-3AD203B41FA5}">
                      <a16:colId xmlns:a16="http://schemas.microsoft.com/office/drawing/2014/main" val="179081237"/>
                    </a:ext>
                  </a:extLst>
                </a:gridCol>
              </a:tblGrid>
              <a:tr h="357886">
                <a:tc>
                  <a:txBody>
                    <a:bodyPr/>
                    <a:lstStyle/>
                    <a:p>
                      <a:endParaRPr lang="en-US" dirty="0"/>
                    </a:p>
                  </a:txBody>
                  <a:tcPr>
                    <a:lnB w="12700" cap="flat" cmpd="sng" algn="ctr">
                      <a:solidFill>
                        <a:schemeClr val="tx1"/>
                      </a:solidFill>
                      <a:prstDash val="solid"/>
                      <a:round/>
                      <a:headEnd type="none" w="med" len="med"/>
                      <a:tailEnd type="none" w="med" len="med"/>
                    </a:lnB>
                    <a:noFill/>
                  </a:tcPr>
                </a:tc>
                <a:tc>
                  <a:txBody>
                    <a:bodyPr/>
                    <a:lstStyle/>
                    <a:p>
                      <a:endParaRPr lang="en-US" dirty="0"/>
                    </a:p>
                  </a:txBody>
                  <a:tcPr>
                    <a:noFill/>
                  </a:tcPr>
                </a:tc>
                <a:tc>
                  <a:txBody>
                    <a:bodyPr/>
                    <a:lstStyle/>
                    <a:p>
                      <a:pPr algn="ctr"/>
                      <a:r>
                        <a:rPr lang="en-US" sz="1400" dirty="0"/>
                        <a:t>Standard</a:t>
                      </a:r>
                    </a:p>
                  </a:txBody>
                  <a:tcPr/>
                </a:tc>
                <a:tc>
                  <a:txBody>
                    <a:bodyPr/>
                    <a:lstStyle/>
                    <a:p>
                      <a:pPr algn="ctr"/>
                      <a:r>
                        <a:rPr lang="en-US" sz="1400" dirty="0"/>
                        <a:t>Configurable</a:t>
                      </a:r>
                    </a:p>
                  </a:txBody>
                  <a:tcPr/>
                </a:tc>
                <a:tc>
                  <a:txBody>
                    <a:bodyPr/>
                    <a:lstStyle/>
                    <a:p>
                      <a:pPr algn="ctr"/>
                      <a:r>
                        <a:rPr lang="en-US" sz="1400" dirty="0"/>
                        <a:t>Sophisticated</a:t>
                      </a:r>
                    </a:p>
                  </a:txBody>
                  <a:tcPr/>
                </a:tc>
                <a:extLst>
                  <a:ext uri="{0D108BD9-81ED-4DB2-BD59-A6C34878D82A}">
                    <a16:rowId xmlns:a16="http://schemas.microsoft.com/office/drawing/2014/main" val="1112637302"/>
                  </a:ext>
                </a:extLst>
              </a:tr>
              <a:tr h="238591">
                <a:tc rowSpan="7">
                  <a:txBody>
                    <a:bodyPr/>
                    <a:lstStyle/>
                    <a:p>
                      <a:pPr algn="l" fontAlgn="t"/>
                      <a:r>
                        <a:rPr lang="en-GB" sz="1400" b="1" i="0" u="none" strike="noStrike" dirty="0">
                          <a:solidFill>
                            <a:schemeClr val="accent1"/>
                          </a:solidFill>
                          <a:effectLst/>
                          <a:latin typeface="Calibri" panose="020F0502020204030204" pitchFamily="34" charset="0"/>
                        </a:rPr>
                        <a:t>Compliance</a:t>
                      </a:r>
                    </a:p>
                  </a:txBody>
                  <a:tcPr marL="9525" marR="9525" marT="9525" marB="0" vert="vert27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GB" sz="1000" b="0" i="0" u="none" strike="noStrike" dirty="0">
                          <a:solidFill>
                            <a:schemeClr val="tx2">
                              <a:lumMod val="50000"/>
                            </a:schemeClr>
                          </a:solidFill>
                          <a:effectLst/>
                          <a:latin typeface="Calibri" panose="020F0502020204030204" pitchFamily="34" charset="0"/>
                        </a:rPr>
                        <a:t>Hardship identification</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3454541276"/>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Verification</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3646616314"/>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Pressurized Selling</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425987954"/>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Mis-selling</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2474872973"/>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Termination</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1452775085"/>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PCI compliance</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1894595677"/>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Disclosures</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529775742"/>
                  </a:ext>
                </a:extLst>
              </a:tr>
              <a:tr h="238591">
                <a:tc rowSpan="8">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400" b="1" i="0" u="none" strike="noStrike" dirty="0">
                          <a:solidFill>
                            <a:schemeClr val="accent2"/>
                          </a:solidFill>
                          <a:effectLst/>
                          <a:latin typeface="Calibri" panose="020F0502020204030204" pitchFamily="34" charset="0"/>
                        </a:rPr>
                        <a:t>Performance</a:t>
                      </a:r>
                      <a:endParaRPr lang="en-GB" sz="900" b="0" i="0" u="none" strike="noStrike" dirty="0">
                        <a:solidFill>
                          <a:schemeClr val="accent2"/>
                        </a:solidFill>
                        <a:effectLst/>
                        <a:latin typeface="Calibri" panose="020F0502020204030204" pitchFamily="34" charset="0"/>
                      </a:endParaRPr>
                    </a:p>
                  </a:txBody>
                  <a:tcPr marL="9525" marR="9525" marT="9525" marB="0" vert="vert270" anchor="ctr" anchorCtr="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GB" sz="1000" b="0" i="0" u="none" strike="noStrike" dirty="0">
                          <a:solidFill>
                            <a:schemeClr val="tx2">
                              <a:lumMod val="50000"/>
                            </a:schemeClr>
                          </a:solidFill>
                          <a:effectLst/>
                          <a:latin typeface="Calibri" panose="020F0502020204030204" pitchFamily="34" charset="0"/>
                        </a:rPr>
                        <a:t>Interaction Analytics QM</a:t>
                      </a:r>
                    </a:p>
                  </a:txBody>
                  <a:tcPr marL="9525" marR="9525" marT="9525" marB="0">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extLst>
                  <a:ext uri="{0D108BD9-81ED-4DB2-BD59-A6C34878D82A}">
                    <a16:rowId xmlns:a16="http://schemas.microsoft.com/office/drawing/2014/main" val="333126414"/>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Deep FCR (First Call Resolution)</a:t>
                      </a:r>
                    </a:p>
                  </a:txBody>
                  <a:tcPr marL="9525" marR="9525" marT="9525" marB="0">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extLst>
                  <a:ext uri="{0D108BD9-81ED-4DB2-BD59-A6C34878D82A}">
                    <a16:rowId xmlns:a16="http://schemas.microsoft.com/office/drawing/2014/main" val="3939035999"/>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Automated Wrap</a:t>
                      </a:r>
                    </a:p>
                  </a:txBody>
                  <a:tcPr marL="9525" marR="9525" marT="9525" marB="0">
                    <a:solidFill>
                      <a:schemeClr val="accent2">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extLst>
                  <a:ext uri="{0D108BD9-81ED-4DB2-BD59-A6C34878D82A}">
                    <a16:rowId xmlns:a16="http://schemas.microsoft.com/office/drawing/2014/main" val="479347478"/>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Cognitive QM</a:t>
                      </a:r>
                    </a:p>
                  </a:txBody>
                  <a:tcPr marL="9525" marR="9525" marT="9525" marB="0">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3352562044"/>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In Call Predictors</a:t>
                      </a:r>
                    </a:p>
                  </a:txBody>
                  <a:tcPr marL="9525" marR="9525" marT="9525" marB="0">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608178745"/>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Call outcome prediction engine</a:t>
                      </a:r>
                    </a:p>
                  </a:txBody>
                  <a:tcPr marL="9525" marR="9525" marT="9525" marB="0">
                    <a:solidFill>
                      <a:schemeClr val="accent2">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3886735091"/>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Script Intelligence</a:t>
                      </a:r>
                    </a:p>
                  </a:txBody>
                  <a:tcPr marL="9525" marR="9525" marT="9525" marB="0">
                    <a:solidFill>
                      <a:schemeClr val="accent2">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3597783490"/>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Agent Performance and Churn</a:t>
                      </a:r>
                    </a:p>
                  </a:txBody>
                  <a:tcPr marL="9525" marR="9525" marT="9525" marB="0">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900852151"/>
                  </a:ext>
                </a:extLst>
              </a:tr>
              <a:tr h="238591">
                <a:tc rowSpan="7">
                  <a:txBody>
                    <a:bodyPr/>
                    <a:lstStyle/>
                    <a:p>
                      <a:pPr algn="l" fontAlgn="t"/>
                      <a:r>
                        <a:rPr lang="en-GB" sz="1400" b="1" i="0" u="none" strike="noStrike" dirty="0">
                          <a:solidFill>
                            <a:schemeClr val="accent3"/>
                          </a:solidFill>
                          <a:effectLst/>
                          <a:latin typeface="Calibri" panose="020F0502020204030204" pitchFamily="34" charset="0"/>
                        </a:rPr>
                        <a:t>Experience</a:t>
                      </a:r>
                      <a:endParaRPr lang="en-GB" sz="1000" b="1" i="0" u="none" strike="noStrike" dirty="0">
                        <a:solidFill>
                          <a:schemeClr val="accent3"/>
                        </a:solidFill>
                        <a:effectLst/>
                        <a:latin typeface="Calibri" panose="020F0502020204030204" pitchFamily="34" charset="0"/>
                      </a:endParaRPr>
                    </a:p>
                  </a:txBody>
                  <a:tcPr marL="9525" marR="9525" marT="9525" marB="0" vert="vert270" anchor="ctr" anchorCtr="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GB" sz="1000" b="0" i="0" u="none" strike="noStrike" dirty="0">
                          <a:solidFill>
                            <a:schemeClr val="tx2">
                              <a:lumMod val="50000"/>
                            </a:schemeClr>
                          </a:solidFill>
                          <a:effectLst/>
                          <a:latin typeface="Calibri" panose="020F0502020204030204" pitchFamily="34" charset="0"/>
                        </a:rPr>
                        <a:t>Semantic Analysis</a:t>
                      </a:r>
                    </a:p>
                  </a:txBody>
                  <a:tcPr marL="9525" marR="9525" marT="9525" marB="0">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extLst>
                  <a:ext uri="{0D108BD9-81ED-4DB2-BD59-A6C34878D82A}">
                    <a16:rowId xmlns:a16="http://schemas.microsoft.com/office/drawing/2014/main" val="2177720422"/>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Termination</a:t>
                      </a:r>
                    </a:p>
                  </a:txBody>
                  <a:tcPr marL="9525" marR="9525" marT="9525" marB="0">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extLst>
                  <a:ext uri="{0D108BD9-81ED-4DB2-BD59-A6C34878D82A}">
                    <a16:rowId xmlns:a16="http://schemas.microsoft.com/office/drawing/2014/main" val="2829804755"/>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Precog Complaints</a:t>
                      </a:r>
                    </a:p>
                  </a:txBody>
                  <a:tcPr marL="9525" marR="9525" marT="9525" marB="0">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1437165409"/>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Predictive NPS</a:t>
                      </a:r>
                    </a:p>
                  </a:txBody>
                  <a:tcPr marL="9525" marR="9525" marT="9525" marB="0">
                    <a:solidFill>
                      <a:schemeClr val="accent3">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3067827250"/>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Multi-channel Dialogue</a:t>
                      </a:r>
                    </a:p>
                  </a:txBody>
                  <a:tcPr marL="9525" marR="9525" marT="9525" marB="0">
                    <a:solidFill>
                      <a:schemeClr val="accent3">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2222903360"/>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Dynamic Knowledgebase</a:t>
                      </a:r>
                    </a:p>
                  </a:txBody>
                  <a:tcPr marL="9525" marR="9525" marT="9525" marB="0">
                    <a:solidFill>
                      <a:schemeClr val="accent3">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1675119460"/>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Phone printing</a:t>
                      </a:r>
                    </a:p>
                  </a:txBody>
                  <a:tcPr marL="9525" marR="9525" marT="9525" marB="0">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3155510664"/>
                  </a:ext>
                </a:extLst>
              </a:tr>
            </a:tbl>
          </a:graphicData>
        </a:graphic>
      </p:graphicFrame>
    </p:spTree>
    <p:extLst>
      <p:ext uri="{BB962C8B-B14F-4D97-AF65-F5344CB8AC3E}">
        <p14:creationId xmlns:p14="http://schemas.microsoft.com/office/powerpoint/2010/main" val="820082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052452" cy="1466349"/>
          </a:xfrm>
        </p:spPr>
        <p:txBody>
          <a:bodyPr/>
          <a:lstStyle/>
          <a:p>
            <a:r>
              <a:rPr lang="en-US" dirty="0"/>
              <a:t>Perhaps we bundle by sophistication…</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82653"/>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Table 2">
            <a:extLst>
              <a:ext uri="{FF2B5EF4-FFF2-40B4-BE49-F238E27FC236}">
                <a16:creationId xmlns:a16="http://schemas.microsoft.com/office/drawing/2014/main" id="{99DF89FF-F808-3143-966F-7C97FAFC4261}"/>
              </a:ext>
            </a:extLst>
          </p:cNvPr>
          <p:cNvGraphicFramePr>
            <a:graphicFrameLocks noGrp="1"/>
          </p:cNvGraphicFramePr>
          <p:nvPr>
            <p:extLst>
              <p:ext uri="{D42A27DB-BD31-4B8C-83A1-F6EECF244321}">
                <p14:modId xmlns:p14="http://schemas.microsoft.com/office/powerpoint/2010/main" val="4176342230"/>
              </p:ext>
            </p:extLst>
          </p:nvPr>
        </p:nvGraphicFramePr>
        <p:xfrm>
          <a:off x="3316405" y="602855"/>
          <a:ext cx="5485882" cy="5974080"/>
        </p:xfrm>
        <a:graphic>
          <a:graphicData uri="http://schemas.openxmlformats.org/drawingml/2006/table">
            <a:tbl>
              <a:tblPr firstRow="1" bandRow="1">
                <a:tableStyleId>{5C22544A-7EE6-4342-B048-85BDC9FD1C3A}</a:tableStyleId>
              </a:tblPr>
              <a:tblGrid>
                <a:gridCol w="1914205">
                  <a:extLst>
                    <a:ext uri="{9D8B030D-6E8A-4147-A177-3AD203B41FA5}">
                      <a16:colId xmlns:a16="http://schemas.microsoft.com/office/drawing/2014/main" val="197163883"/>
                    </a:ext>
                  </a:extLst>
                </a:gridCol>
                <a:gridCol w="1190559">
                  <a:extLst>
                    <a:ext uri="{9D8B030D-6E8A-4147-A177-3AD203B41FA5}">
                      <a16:colId xmlns:a16="http://schemas.microsoft.com/office/drawing/2014/main" val="2796295587"/>
                    </a:ext>
                  </a:extLst>
                </a:gridCol>
                <a:gridCol w="1190559">
                  <a:extLst>
                    <a:ext uri="{9D8B030D-6E8A-4147-A177-3AD203B41FA5}">
                      <a16:colId xmlns:a16="http://schemas.microsoft.com/office/drawing/2014/main" val="4220225863"/>
                    </a:ext>
                  </a:extLst>
                </a:gridCol>
                <a:gridCol w="1190559">
                  <a:extLst>
                    <a:ext uri="{9D8B030D-6E8A-4147-A177-3AD203B41FA5}">
                      <a16:colId xmlns:a16="http://schemas.microsoft.com/office/drawing/2014/main" val="179081237"/>
                    </a:ext>
                  </a:extLst>
                </a:gridCol>
              </a:tblGrid>
              <a:tr h="345785">
                <a:tc>
                  <a:txBody>
                    <a:bodyPr/>
                    <a:lstStyle/>
                    <a:p>
                      <a:endParaRPr lang="en-US" dirty="0"/>
                    </a:p>
                  </a:txBody>
                  <a:tcPr>
                    <a:noFill/>
                  </a:tcPr>
                </a:tc>
                <a:tc>
                  <a:txBody>
                    <a:bodyPr/>
                    <a:lstStyle/>
                    <a:p>
                      <a:pPr algn="ctr"/>
                      <a:r>
                        <a:rPr lang="en-US" sz="1400" dirty="0"/>
                        <a:t>Standard</a:t>
                      </a:r>
                    </a:p>
                  </a:txBody>
                  <a:tcPr/>
                </a:tc>
                <a:tc>
                  <a:txBody>
                    <a:bodyPr/>
                    <a:lstStyle/>
                    <a:p>
                      <a:pPr algn="ctr"/>
                      <a:r>
                        <a:rPr lang="en-US" sz="1400" dirty="0"/>
                        <a:t>Configurable</a:t>
                      </a:r>
                    </a:p>
                  </a:txBody>
                  <a:tcPr/>
                </a:tc>
                <a:tc>
                  <a:txBody>
                    <a:bodyPr/>
                    <a:lstStyle/>
                    <a:p>
                      <a:pPr algn="ctr"/>
                      <a:r>
                        <a:rPr lang="en-US" sz="1400" dirty="0"/>
                        <a:t>Sophisticated</a:t>
                      </a:r>
                    </a:p>
                  </a:txBody>
                  <a:tcPr/>
                </a:tc>
                <a:extLst>
                  <a:ext uri="{0D108BD9-81ED-4DB2-BD59-A6C34878D82A}">
                    <a16:rowId xmlns:a16="http://schemas.microsoft.com/office/drawing/2014/main" val="1112637302"/>
                  </a:ext>
                </a:extLst>
              </a:tr>
              <a:tr h="230523">
                <a:tc>
                  <a:txBody>
                    <a:bodyPr/>
                    <a:lstStyle/>
                    <a:p>
                      <a:pPr algn="l" fontAlgn="t"/>
                      <a:r>
                        <a:rPr lang="en-GB" sz="1000" b="0" i="0" u="none" strike="noStrike" dirty="0">
                          <a:solidFill>
                            <a:srgbClr val="000000"/>
                          </a:solidFill>
                          <a:effectLst/>
                          <a:latin typeface="Calibri" panose="020F0502020204030204" pitchFamily="34" charset="0"/>
                        </a:rPr>
                        <a:t>Interaction Analytics QM</a:t>
                      </a:r>
                    </a:p>
                  </a:txBody>
                  <a:tcPr marL="9525" marR="9525" marT="9525" marB="0">
                    <a:lnL w="12700" cap="flat" cmpd="sng" algn="ctr">
                      <a:solidFill>
                        <a:schemeClr val="tx1"/>
                      </a:solidFill>
                      <a:prstDash val="solid"/>
                      <a:round/>
                      <a:headEnd type="none" w="med" len="med"/>
                      <a:tailEnd type="none" w="med" len="med"/>
                    </a:lnL>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extLst>
                  <a:ext uri="{0D108BD9-81ED-4DB2-BD59-A6C34878D82A}">
                    <a16:rowId xmlns:a16="http://schemas.microsoft.com/office/drawing/2014/main" val="3342051467"/>
                  </a:ext>
                </a:extLst>
              </a:tr>
              <a:tr h="230523">
                <a:tc>
                  <a:txBody>
                    <a:bodyPr/>
                    <a:lstStyle/>
                    <a:p>
                      <a:pPr algn="l" fontAlgn="t"/>
                      <a:r>
                        <a:rPr lang="en-GB" sz="1000" b="0" i="0" u="none" strike="noStrike" dirty="0">
                          <a:solidFill>
                            <a:srgbClr val="000000"/>
                          </a:solidFill>
                          <a:effectLst/>
                          <a:latin typeface="Calibri" panose="020F0502020204030204" pitchFamily="34" charset="0"/>
                        </a:rPr>
                        <a:t>Semantic Analysis</a:t>
                      </a:r>
                    </a:p>
                  </a:txBody>
                  <a:tcPr marL="9525" marR="9525" marT="9525" marB="0">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extLst>
                  <a:ext uri="{0D108BD9-81ED-4DB2-BD59-A6C34878D82A}">
                    <a16:rowId xmlns:a16="http://schemas.microsoft.com/office/drawing/2014/main" val="2514326512"/>
                  </a:ext>
                </a:extLst>
              </a:tr>
              <a:tr h="230523">
                <a:tc>
                  <a:txBody>
                    <a:bodyPr/>
                    <a:lstStyle/>
                    <a:p>
                      <a:pPr algn="l" fontAlgn="t"/>
                      <a:r>
                        <a:rPr lang="en-GB" sz="1000" b="0" i="0" u="none" strike="noStrike" dirty="0">
                          <a:solidFill>
                            <a:schemeClr val="tx2">
                              <a:lumMod val="50000"/>
                            </a:schemeClr>
                          </a:solidFill>
                          <a:effectLst/>
                          <a:latin typeface="Calibri" panose="020F0502020204030204" pitchFamily="34" charset="0"/>
                        </a:rPr>
                        <a:t>Hardship identification</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3454541276"/>
                  </a:ext>
                </a:extLst>
              </a:tr>
              <a:tr h="230523">
                <a:tc>
                  <a:txBody>
                    <a:bodyPr/>
                    <a:lstStyle/>
                    <a:p>
                      <a:pPr algn="l" fontAlgn="t"/>
                      <a:r>
                        <a:rPr lang="en-GB" sz="1000" b="0" i="0" u="none" strike="noStrike" dirty="0">
                          <a:solidFill>
                            <a:schemeClr val="tx2">
                              <a:lumMod val="50000"/>
                            </a:schemeClr>
                          </a:solidFill>
                          <a:effectLst/>
                          <a:latin typeface="Calibri" panose="020F0502020204030204" pitchFamily="34" charset="0"/>
                        </a:rPr>
                        <a:t>Verification</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3646616314"/>
                  </a:ext>
                </a:extLst>
              </a:tr>
              <a:tr h="230523">
                <a:tc>
                  <a:txBody>
                    <a:bodyPr/>
                    <a:lstStyle/>
                    <a:p>
                      <a:pPr algn="l" fontAlgn="t"/>
                      <a:r>
                        <a:rPr lang="en-GB" sz="1000" b="0" i="0" u="none" strike="noStrike" dirty="0">
                          <a:solidFill>
                            <a:schemeClr val="tx2">
                              <a:lumMod val="50000"/>
                            </a:schemeClr>
                          </a:solidFill>
                          <a:effectLst/>
                          <a:latin typeface="Calibri" panose="020F0502020204030204" pitchFamily="34" charset="0"/>
                        </a:rPr>
                        <a:t>Pressurized Selling</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425987954"/>
                  </a:ext>
                </a:extLst>
              </a:tr>
              <a:tr h="230523">
                <a:tc>
                  <a:txBody>
                    <a:bodyPr/>
                    <a:lstStyle/>
                    <a:p>
                      <a:pPr algn="l" fontAlgn="t"/>
                      <a:r>
                        <a:rPr lang="en-GB" sz="1000" b="0" i="0" u="none" strike="noStrike" dirty="0">
                          <a:solidFill>
                            <a:schemeClr val="tx2">
                              <a:lumMod val="50000"/>
                            </a:schemeClr>
                          </a:solidFill>
                          <a:effectLst/>
                          <a:latin typeface="Calibri" panose="020F0502020204030204" pitchFamily="34" charset="0"/>
                        </a:rPr>
                        <a:t>Mis-selling</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2474872973"/>
                  </a:ext>
                </a:extLst>
              </a:tr>
              <a:tr h="230523">
                <a:tc>
                  <a:txBody>
                    <a:bodyPr/>
                    <a:lstStyle/>
                    <a:p>
                      <a:pPr algn="l" fontAlgn="t"/>
                      <a:r>
                        <a:rPr lang="en-GB" sz="1000" b="0" i="0" u="none" strike="noStrike" dirty="0">
                          <a:solidFill>
                            <a:schemeClr val="tx2">
                              <a:lumMod val="50000"/>
                            </a:schemeClr>
                          </a:solidFill>
                          <a:effectLst/>
                          <a:latin typeface="Calibri" panose="020F0502020204030204" pitchFamily="34" charset="0"/>
                        </a:rPr>
                        <a:t>Termination</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1452775085"/>
                  </a:ext>
                </a:extLst>
              </a:tr>
              <a:tr h="230523">
                <a:tc>
                  <a:txBody>
                    <a:bodyPr/>
                    <a:lstStyle/>
                    <a:p>
                      <a:pPr algn="l" fontAlgn="t"/>
                      <a:r>
                        <a:rPr lang="en-GB" sz="1000" b="0" i="0" u="none" strike="noStrike" dirty="0">
                          <a:solidFill>
                            <a:srgbClr val="000000"/>
                          </a:solidFill>
                          <a:effectLst/>
                          <a:latin typeface="Calibri" panose="020F0502020204030204" pitchFamily="34" charset="0"/>
                        </a:rPr>
                        <a:t>Deep FCR (First Call Resolution)</a:t>
                      </a:r>
                    </a:p>
                  </a:txBody>
                  <a:tcPr marL="9525" marR="9525" marT="9525" marB="0">
                    <a:lnL w="12700" cap="flat" cmpd="sng" algn="ctr">
                      <a:solidFill>
                        <a:schemeClr val="tx1"/>
                      </a:solidFill>
                      <a:prstDash val="solid"/>
                      <a:round/>
                      <a:headEnd type="none" w="med" len="med"/>
                      <a:tailEnd type="none" w="med" len="med"/>
                    </a:lnL>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extLst>
                  <a:ext uri="{0D108BD9-81ED-4DB2-BD59-A6C34878D82A}">
                    <a16:rowId xmlns:a16="http://schemas.microsoft.com/office/drawing/2014/main" val="3877064915"/>
                  </a:ext>
                </a:extLst>
              </a:tr>
              <a:tr h="230523">
                <a:tc>
                  <a:txBody>
                    <a:bodyPr/>
                    <a:lstStyle/>
                    <a:p>
                      <a:pPr algn="l" fontAlgn="t"/>
                      <a:r>
                        <a:rPr lang="en-GB" sz="1000" b="0" i="0" u="none" strike="noStrike" dirty="0">
                          <a:solidFill>
                            <a:srgbClr val="000000"/>
                          </a:solidFill>
                          <a:effectLst/>
                          <a:latin typeface="Calibri" panose="020F0502020204030204" pitchFamily="34" charset="0"/>
                        </a:rPr>
                        <a:t>Termination</a:t>
                      </a:r>
                    </a:p>
                  </a:txBody>
                  <a:tcPr marL="9525" marR="9525" marT="9525" marB="0">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extLst>
                  <a:ext uri="{0D108BD9-81ED-4DB2-BD59-A6C34878D82A}">
                    <a16:rowId xmlns:a16="http://schemas.microsoft.com/office/drawing/2014/main" val="4049116258"/>
                  </a:ext>
                </a:extLst>
              </a:tr>
              <a:tr h="230523">
                <a:tc>
                  <a:txBody>
                    <a:bodyPr/>
                    <a:lstStyle/>
                    <a:p>
                      <a:pPr algn="l" fontAlgn="t"/>
                      <a:r>
                        <a:rPr lang="en-GB" sz="1000" b="0" i="0" u="none" strike="noStrike" dirty="0">
                          <a:solidFill>
                            <a:srgbClr val="000000"/>
                          </a:solidFill>
                          <a:effectLst/>
                          <a:latin typeface="Calibri" panose="020F0502020204030204" pitchFamily="34" charset="0"/>
                        </a:rPr>
                        <a:t>Precog Complaints</a:t>
                      </a:r>
                    </a:p>
                  </a:txBody>
                  <a:tcPr marL="9525" marR="9525" marT="9525" marB="0">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extLst>
                  <a:ext uri="{0D108BD9-81ED-4DB2-BD59-A6C34878D82A}">
                    <a16:rowId xmlns:a16="http://schemas.microsoft.com/office/drawing/2014/main" val="1311869088"/>
                  </a:ext>
                </a:extLst>
              </a:tr>
              <a:tr h="230523">
                <a:tc>
                  <a:txBody>
                    <a:bodyPr/>
                    <a:lstStyle/>
                    <a:p>
                      <a:pPr algn="l" fontAlgn="t"/>
                      <a:r>
                        <a:rPr lang="en-GB" sz="1000" b="0" i="0" u="none" strike="noStrike" dirty="0">
                          <a:solidFill>
                            <a:srgbClr val="000000"/>
                          </a:solidFill>
                          <a:effectLst/>
                          <a:latin typeface="Calibri" panose="020F0502020204030204" pitchFamily="34" charset="0"/>
                        </a:rPr>
                        <a:t>PCI compliance</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1894595677"/>
                  </a:ext>
                </a:extLst>
              </a:tr>
              <a:tr h="230523">
                <a:tc>
                  <a:txBody>
                    <a:bodyPr/>
                    <a:lstStyle/>
                    <a:p>
                      <a:pPr algn="l" fontAlgn="t"/>
                      <a:r>
                        <a:rPr lang="en-GB" sz="1000" b="0" i="0" u="none" strike="noStrike" dirty="0">
                          <a:solidFill>
                            <a:srgbClr val="000000"/>
                          </a:solidFill>
                          <a:effectLst/>
                          <a:latin typeface="Calibri" panose="020F0502020204030204" pitchFamily="34" charset="0"/>
                        </a:rPr>
                        <a:t>Disclosures</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529775742"/>
                  </a:ext>
                </a:extLst>
              </a:tr>
              <a:tr h="230523">
                <a:tc>
                  <a:txBody>
                    <a:bodyPr/>
                    <a:lstStyle/>
                    <a:p>
                      <a:pPr algn="l" fontAlgn="t"/>
                      <a:r>
                        <a:rPr lang="en-GB" sz="1000" b="0" i="0" u="none" strike="noStrike" dirty="0">
                          <a:solidFill>
                            <a:srgbClr val="000000"/>
                          </a:solidFill>
                          <a:effectLst/>
                          <a:latin typeface="Calibri" panose="020F0502020204030204" pitchFamily="34" charset="0"/>
                        </a:rPr>
                        <a:t>Automated Wrap</a:t>
                      </a:r>
                    </a:p>
                  </a:txBody>
                  <a:tcPr marL="9525" marR="9525" marT="9525" marB="0">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extLst>
                  <a:ext uri="{0D108BD9-81ED-4DB2-BD59-A6C34878D82A}">
                    <a16:rowId xmlns:a16="http://schemas.microsoft.com/office/drawing/2014/main" val="479347478"/>
                  </a:ext>
                </a:extLst>
              </a:tr>
              <a:tr h="230523">
                <a:tc>
                  <a:txBody>
                    <a:bodyPr/>
                    <a:lstStyle/>
                    <a:p>
                      <a:pPr algn="l" fontAlgn="t"/>
                      <a:r>
                        <a:rPr lang="en-GB" sz="1000" b="0" i="0" u="none" strike="noStrike" dirty="0">
                          <a:solidFill>
                            <a:srgbClr val="000000"/>
                          </a:solidFill>
                          <a:effectLst/>
                          <a:latin typeface="Calibri" panose="020F0502020204030204" pitchFamily="34" charset="0"/>
                        </a:rPr>
                        <a:t>Cognitive QM</a:t>
                      </a:r>
                    </a:p>
                  </a:txBody>
                  <a:tcPr marL="9525" marR="9525" marT="9525" marB="0">
                    <a:solidFill>
                      <a:schemeClr val="accent2">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3352562044"/>
                  </a:ext>
                </a:extLst>
              </a:tr>
              <a:tr h="230523">
                <a:tc>
                  <a:txBody>
                    <a:bodyPr/>
                    <a:lstStyle/>
                    <a:p>
                      <a:pPr algn="l" fontAlgn="t"/>
                      <a:r>
                        <a:rPr lang="en-GB" sz="1000" b="0" i="0" u="none" strike="noStrike" dirty="0">
                          <a:solidFill>
                            <a:srgbClr val="000000"/>
                          </a:solidFill>
                          <a:effectLst/>
                          <a:latin typeface="Calibri" panose="020F0502020204030204" pitchFamily="34" charset="0"/>
                        </a:rPr>
                        <a:t>In Call Predictors</a:t>
                      </a:r>
                    </a:p>
                  </a:txBody>
                  <a:tcPr marL="9525" marR="9525" marT="9525" marB="0">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608178745"/>
                  </a:ext>
                </a:extLst>
              </a:tr>
              <a:tr h="230523">
                <a:tc>
                  <a:txBody>
                    <a:bodyPr/>
                    <a:lstStyle/>
                    <a:p>
                      <a:pPr algn="l" fontAlgn="t"/>
                      <a:r>
                        <a:rPr lang="en-GB" sz="1000" b="0" i="0" u="none" strike="noStrike" dirty="0">
                          <a:solidFill>
                            <a:srgbClr val="000000"/>
                          </a:solidFill>
                          <a:effectLst/>
                          <a:latin typeface="Calibri" panose="020F0502020204030204" pitchFamily="34" charset="0"/>
                        </a:rPr>
                        <a:t>Call outcome prediction engine</a:t>
                      </a:r>
                    </a:p>
                  </a:txBody>
                  <a:tcPr marL="9525" marR="9525" marT="9525" marB="0">
                    <a:solidFill>
                      <a:schemeClr val="accent2">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3886735091"/>
                  </a:ext>
                </a:extLst>
              </a:tr>
              <a:tr h="230523">
                <a:tc>
                  <a:txBody>
                    <a:bodyPr/>
                    <a:lstStyle/>
                    <a:p>
                      <a:pPr algn="l" fontAlgn="t"/>
                      <a:r>
                        <a:rPr lang="en-GB" sz="1000" b="0" i="0" u="none" strike="noStrike" dirty="0">
                          <a:solidFill>
                            <a:srgbClr val="000000"/>
                          </a:solidFill>
                          <a:effectLst/>
                          <a:latin typeface="Calibri" panose="020F0502020204030204" pitchFamily="34" charset="0"/>
                        </a:rPr>
                        <a:t>Script Intelligence</a:t>
                      </a:r>
                    </a:p>
                  </a:txBody>
                  <a:tcPr marL="9525" marR="9525" marT="9525" marB="0">
                    <a:solidFill>
                      <a:schemeClr val="accent2">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3597783490"/>
                  </a:ext>
                </a:extLst>
              </a:tr>
              <a:tr h="230523">
                <a:tc>
                  <a:txBody>
                    <a:bodyPr/>
                    <a:lstStyle/>
                    <a:p>
                      <a:pPr algn="l" fontAlgn="t"/>
                      <a:r>
                        <a:rPr lang="en-GB" sz="1000" b="0" i="0" u="none" strike="noStrike" dirty="0">
                          <a:solidFill>
                            <a:srgbClr val="000000"/>
                          </a:solidFill>
                          <a:effectLst/>
                          <a:latin typeface="Calibri" panose="020F0502020204030204" pitchFamily="34" charset="0"/>
                        </a:rPr>
                        <a:t>Agent Performance and Churn</a:t>
                      </a:r>
                    </a:p>
                  </a:txBody>
                  <a:tcPr marL="9525" marR="9525" marT="9525" marB="0">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900852151"/>
                  </a:ext>
                </a:extLst>
              </a:tr>
              <a:tr h="230523">
                <a:tc>
                  <a:txBody>
                    <a:bodyPr/>
                    <a:lstStyle/>
                    <a:p>
                      <a:pPr algn="l" fontAlgn="t"/>
                      <a:r>
                        <a:rPr lang="en-GB" sz="1000" b="0" i="0" u="none" strike="noStrike" dirty="0">
                          <a:solidFill>
                            <a:srgbClr val="000000"/>
                          </a:solidFill>
                          <a:effectLst/>
                          <a:latin typeface="Calibri" panose="020F0502020204030204" pitchFamily="34" charset="0"/>
                        </a:rPr>
                        <a:t>Precog Complaints</a:t>
                      </a:r>
                    </a:p>
                  </a:txBody>
                  <a:tcPr marL="9525" marR="9525" marT="9525" marB="0">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1437165409"/>
                  </a:ext>
                </a:extLst>
              </a:tr>
              <a:tr h="230523">
                <a:tc>
                  <a:txBody>
                    <a:bodyPr/>
                    <a:lstStyle/>
                    <a:p>
                      <a:pPr algn="l" fontAlgn="t"/>
                      <a:r>
                        <a:rPr lang="en-GB" sz="1000" b="0" i="0" u="none" strike="noStrike" dirty="0">
                          <a:solidFill>
                            <a:srgbClr val="000000"/>
                          </a:solidFill>
                          <a:effectLst/>
                          <a:latin typeface="Calibri" panose="020F0502020204030204" pitchFamily="34" charset="0"/>
                        </a:rPr>
                        <a:t>Predictive NPS</a:t>
                      </a:r>
                    </a:p>
                  </a:txBody>
                  <a:tcPr marL="9525" marR="9525" marT="9525" marB="0">
                    <a:solidFill>
                      <a:schemeClr val="accent3">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3067827250"/>
                  </a:ext>
                </a:extLst>
              </a:tr>
              <a:tr h="230523">
                <a:tc>
                  <a:txBody>
                    <a:bodyPr/>
                    <a:lstStyle/>
                    <a:p>
                      <a:pPr algn="l" fontAlgn="t"/>
                      <a:r>
                        <a:rPr lang="en-GB" sz="1000" b="0" i="0" u="none" strike="noStrike" dirty="0">
                          <a:solidFill>
                            <a:srgbClr val="000000"/>
                          </a:solidFill>
                          <a:effectLst/>
                          <a:latin typeface="Calibri" panose="020F0502020204030204" pitchFamily="34" charset="0"/>
                        </a:rPr>
                        <a:t>Multi-channel Dialogue</a:t>
                      </a:r>
                    </a:p>
                  </a:txBody>
                  <a:tcPr marL="9525" marR="9525" marT="9525" marB="0">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2222903360"/>
                  </a:ext>
                </a:extLst>
              </a:tr>
              <a:tr h="230523">
                <a:tc>
                  <a:txBody>
                    <a:bodyPr/>
                    <a:lstStyle/>
                    <a:p>
                      <a:pPr algn="l" fontAlgn="t"/>
                      <a:r>
                        <a:rPr lang="en-GB" sz="1000" b="0" i="0" u="none" strike="noStrike" dirty="0">
                          <a:solidFill>
                            <a:srgbClr val="000000"/>
                          </a:solidFill>
                          <a:effectLst/>
                          <a:latin typeface="Calibri" panose="020F0502020204030204" pitchFamily="34" charset="0"/>
                        </a:rPr>
                        <a:t>Dynamic Knowledgebase</a:t>
                      </a:r>
                    </a:p>
                  </a:txBody>
                  <a:tcPr marL="9525" marR="9525" marT="9525" marB="0">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1675119460"/>
                  </a:ext>
                </a:extLst>
              </a:tr>
              <a:tr h="230523">
                <a:tc>
                  <a:txBody>
                    <a:bodyPr/>
                    <a:lstStyle/>
                    <a:p>
                      <a:pPr algn="l" fontAlgn="t"/>
                      <a:r>
                        <a:rPr lang="en-GB" sz="1000" b="0" i="0" u="none" strike="noStrike" dirty="0">
                          <a:solidFill>
                            <a:srgbClr val="000000"/>
                          </a:solidFill>
                          <a:effectLst/>
                          <a:latin typeface="Calibri" panose="020F0502020204030204" pitchFamily="34" charset="0"/>
                        </a:rPr>
                        <a:t>Phone printing</a:t>
                      </a:r>
                    </a:p>
                  </a:txBody>
                  <a:tcPr marL="9525" marR="9525" marT="9525" marB="0">
                    <a:solidFill>
                      <a:schemeClr val="accent3">
                        <a:lumMod val="20000"/>
                        <a:lumOff val="80000"/>
                      </a:schemeClr>
                    </a:solidFill>
                  </a:tcPr>
                </a:tc>
                <a:tc>
                  <a:txBody>
                    <a:bodyPr/>
                    <a:lstStyle/>
                    <a:p>
                      <a:pPr algn="ctr"/>
                      <a:endParaRPr lang="en-US" sz="100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3155510664"/>
                  </a:ext>
                </a:extLst>
              </a:tr>
            </a:tbl>
          </a:graphicData>
        </a:graphic>
      </p:graphicFrame>
    </p:spTree>
    <p:extLst>
      <p:ext uri="{BB962C8B-B14F-4D97-AF65-F5344CB8AC3E}">
        <p14:creationId xmlns:p14="http://schemas.microsoft.com/office/powerpoint/2010/main" val="512017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052452" cy="1466349"/>
          </a:xfrm>
        </p:spPr>
        <p:txBody>
          <a:bodyPr/>
          <a:lstStyle/>
          <a:p>
            <a:r>
              <a:rPr lang="en-US" dirty="0"/>
              <a:t>…or develop a version of each feature for each level</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82653"/>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sp>
        <p:nvSpPr>
          <p:cNvPr id="6" name="TextBox 5">
            <a:extLst>
              <a:ext uri="{FF2B5EF4-FFF2-40B4-BE49-F238E27FC236}">
                <a16:creationId xmlns:a16="http://schemas.microsoft.com/office/drawing/2014/main" id="{CDD9094A-C818-BD41-980E-F177AD2DBC8E}"/>
              </a:ext>
            </a:extLst>
          </p:cNvPr>
          <p:cNvSpPr txBox="1"/>
          <p:nvPr/>
        </p:nvSpPr>
        <p:spPr>
          <a:xfrm>
            <a:off x="393452" y="3712193"/>
            <a:ext cx="1760561" cy="307777"/>
          </a:xfrm>
          <a:prstGeom prst="rect">
            <a:avLst/>
          </a:prstGeom>
          <a:noFill/>
        </p:spPr>
        <p:txBody>
          <a:bodyPr wrap="square" rtlCol="0">
            <a:spAutoFit/>
          </a:bodyPr>
          <a:lstStyle/>
          <a:p>
            <a:r>
              <a:rPr lang="en-US" sz="1400" dirty="0">
                <a:solidFill>
                  <a:srgbClr val="FF0000"/>
                </a:solidFill>
                <a:latin typeface="Webdings" pitchFamily="2" charset="2"/>
              </a:rPr>
              <a:t>a</a:t>
            </a:r>
            <a:r>
              <a:rPr lang="en-US" sz="1400" dirty="0">
                <a:solidFill>
                  <a:srgbClr val="00B050"/>
                </a:solidFill>
              </a:rPr>
              <a:t> </a:t>
            </a:r>
            <a:r>
              <a:rPr lang="en-US" sz="1400" dirty="0">
                <a:solidFill>
                  <a:schemeClr val="tx2">
                    <a:lumMod val="50000"/>
                  </a:schemeClr>
                </a:solidFill>
              </a:rPr>
              <a:t>– To be developed</a:t>
            </a:r>
          </a:p>
        </p:txBody>
      </p:sp>
      <p:graphicFrame>
        <p:nvGraphicFramePr>
          <p:cNvPr id="7" name="Table 6">
            <a:extLst>
              <a:ext uri="{FF2B5EF4-FFF2-40B4-BE49-F238E27FC236}">
                <a16:creationId xmlns:a16="http://schemas.microsoft.com/office/drawing/2014/main" id="{EA086CC1-D451-A248-A96B-1705626F9B7E}"/>
              </a:ext>
            </a:extLst>
          </p:cNvPr>
          <p:cNvGraphicFramePr>
            <a:graphicFrameLocks noGrp="1"/>
          </p:cNvGraphicFramePr>
          <p:nvPr>
            <p:extLst>
              <p:ext uri="{D42A27DB-BD31-4B8C-83A1-F6EECF244321}">
                <p14:modId xmlns:p14="http://schemas.microsoft.com/office/powerpoint/2010/main" val="1292530750"/>
              </p:ext>
            </p:extLst>
          </p:nvPr>
        </p:nvGraphicFramePr>
        <p:xfrm>
          <a:off x="2333766" y="930401"/>
          <a:ext cx="5850854" cy="5730240"/>
        </p:xfrm>
        <a:graphic>
          <a:graphicData uri="http://schemas.openxmlformats.org/drawingml/2006/table">
            <a:tbl>
              <a:tblPr firstRow="1" bandRow="1">
                <a:tableStyleId>{5C22544A-7EE6-4342-B048-85BDC9FD1C3A}</a:tableStyleId>
              </a:tblPr>
              <a:tblGrid>
                <a:gridCol w="364972">
                  <a:extLst>
                    <a:ext uri="{9D8B030D-6E8A-4147-A177-3AD203B41FA5}">
                      <a16:colId xmlns:a16="http://schemas.microsoft.com/office/drawing/2014/main" val="811362615"/>
                    </a:ext>
                  </a:extLst>
                </a:gridCol>
                <a:gridCol w="1914205">
                  <a:extLst>
                    <a:ext uri="{9D8B030D-6E8A-4147-A177-3AD203B41FA5}">
                      <a16:colId xmlns:a16="http://schemas.microsoft.com/office/drawing/2014/main" val="197163883"/>
                    </a:ext>
                  </a:extLst>
                </a:gridCol>
                <a:gridCol w="1190559">
                  <a:extLst>
                    <a:ext uri="{9D8B030D-6E8A-4147-A177-3AD203B41FA5}">
                      <a16:colId xmlns:a16="http://schemas.microsoft.com/office/drawing/2014/main" val="2796295587"/>
                    </a:ext>
                  </a:extLst>
                </a:gridCol>
                <a:gridCol w="1190559">
                  <a:extLst>
                    <a:ext uri="{9D8B030D-6E8A-4147-A177-3AD203B41FA5}">
                      <a16:colId xmlns:a16="http://schemas.microsoft.com/office/drawing/2014/main" val="4220225863"/>
                    </a:ext>
                  </a:extLst>
                </a:gridCol>
                <a:gridCol w="1190559">
                  <a:extLst>
                    <a:ext uri="{9D8B030D-6E8A-4147-A177-3AD203B41FA5}">
                      <a16:colId xmlns:a16="http://schemas.microsoft.com/office/drawing/2014/main" val="179081237"/>
                    </a:ext>
                  </a:extLst>
                </a:gridCol>
              </a:tblGrid>
              <a:tr h="357886">
                <a:tc>
                  <a:txBody>
                    <a:bodyPr/>
                    <a:lstStyle/>
                    <a:p>
                      <a:endParaRPr lang="en-US" dirty="0"/>
                    </a:p>
                  </a:txBody>
                  <a:tcPr>
                    <a:lnB w="12700" cap="flat" cmpd="sng" algn="ctr">
                      <a:solidFill>
                        <a:schemeClr val="tx1"/>
                      </a:solidFill>
                      <a:prstDash val="solid"/>
                      <a:round/>
                      <a:headEnd type="none" w="med" len="med"/>
                      <a:tailEnd type="none" w="med" len="med"/>
                    </a:lnB>
                    <a:noFill/>
                  </a:tcPr>
                </a:tc>
                <a:tc>
                  <a:txBody>
                    <a:bodyPr/>
                    <a:lstStyle/>
                    <a:p>
                      <a:endParaRPr lang="en-US" dirty="0"/>
                    </a:p>
                  </a:txBody>
                  <a:tcPr>
                    <a:noFill/>
                  </a:tcPr>
                </a:tc>
                <a:tc>
                  <a:txBody>
                    <a:bodyPr/>
                    <a:lstStyle/>
                    <a:p>
                      <a:pPr algn="ctr"/>
                      <a:r>
                        <a:rPr lang="en-US" sz="1400" dirty="0"/>
                        <a:t>Standard</a:t>
                      </a:r>
                    </a:p>
                  </a:txBody>
                  <a:tcPr/>
                </a:tc>
                <a:tc>
                  <a:txBody>
                    <a:bodyPr/>
                    <a:lstStyle/>
                    <a:p>
                      <a:pPr algn="ctr"/>
                      <a:r>
                        <a:rPr lang="en-US" sz="1400" dirty="0"/>
                        <a:t>Configurable</a:t>
                      </a:r>
                    </a:p>
                  </a:txBody>
                  <a:tcPr/>
                </a:tc>
                <a:tc>
                  <a:txBody>
                    <a:bodyPr/>
                    <a:lstStyle/>
                    <a:p>
                      <a:pPr algn="ctr"/>
                      <a:r>
                        <a:rPr lang="en-US" sz="1400" dirty="0"/>
                        <a:t>Sophisticated</a:t>
                      </a:r>
                    </a:p>
                  </a:txBody>
                  <a:tcPr/>
                </a:tc>
                <a:extLst>
                  <a:ext uri="{0D108BD9-81ED-4DB2-BD59-A6C34878D82A}">
                    <a16:rowId xmlns:a16="http://schemas.microsoft.com/office/drawing/2014/main" val="1112637302"/>
                  </a:ext>
                </a:extLst>
              </a:tr>
              <a:tr h="238591">
                <a:tc rowSpan="7">
                  <a:txBody>
                    <a:bodyPr/>
                    <a:lstStyle/>
                    <a:p>
                      <a:pPr algn="l" fontAlgn="t"/>
                      <a:r>
                        <a:rPr lang="en-GB" sz="1400" b="1" i="0" u="none" strike="noStrike" dirty="0">
                          <a:solidFill>
                            <a:schemeClr val="accent1"/>
                          </a:solidFill>
                          <a:effectLst/>
                          <a:latin typeface="Calibri" panose="020F0502020204030204" pitchFamily="34" charset="0"/>
                        </a:rPr>
                        <a:t>Compliance</a:t>
                      </a:r>
                    </a:p>
                  </a:txBody>
                  <a:tcPr marL="9525" marR="9525" marT="9525" marB="0" vert="vert27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GB" sz="1000" b="0" i="0" u="none" strike="noStrike" dirty="0">
                          <a:solidFill>
                            <a:schemeClr val="tx2">
                              <a:lumMod val="50000"/>
                            </a:schemeClr>
                          </a:solidFill>
                          <a:effectLst/>
                          <a:latin typeface="Calibri" panose="020F0502020204030204" pitchFamily="34" charset="0"/>
                        </a:rPr>
                        <a:t>Hardship identification</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3454541276"/>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Verification</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3646616314"/>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Pressurized Selling</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425987954"/>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Mis-selling</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2474872973"/>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Termination</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1452775085"/>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PCI compliance</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rgbClr val="FF0000"/>
                          </a:solidFill>
                          <a:latin typeface="Webdings" pitchFamily="2" charset="2"/>
                        </a:rPr>
                        <a:t>a</a:t>
                      </a: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1894595677"/>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Disclosures</a:t>
                      </a:r>
                    </a:p>
                  </a:txBody>
                  <a:tcPr marL="9525" marR="9525" marT="9525" marB="0">
                    <a:lnL w="12700" cap="flat" cmpd="sng" algn="ctr">
                      <a:solidFill>
                        <a:schemeClr val="tx1"/>
                      </a:solidFill>
                      <a:prstDash val="solid"/>
                      <a:round/>
                      <a:headEnd type="none" w="med" len="med"/>
                      <a:tailEnd type="none" w="med" len="med"/>
                    </a:lnL>
                    <a:solidFill>
                      <a:schemeClr val="accent1">
                        <a:lumMod val="20000"/>
                        <a:lumOff val="80000"/>
                      </a:schemeClr>
                    </a:solidFill>
                  </a:tcPr>
                </a:tc>
                <a:tc>
                  <a:txBody>
                    <a:bodyPr/>
                    <a:lstStyle/>
                    <a:p>
                      <a:pPr algn="ctr"/>
                      <a:r>
                        <a:rPr lang="en-US" sz="1000" dirty="0">
                          <a:solidFill>
                            <a:srgbClr val="FF0000"/>
                          </a:solidFill>
                          <a:latin typeface="Webdings" pitchFamily="2" charset="2"/>
                        </a:rPr>
                        <a:t>a</a:t>
                      </a: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1">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1">
                        <a:lumMod val="20000"/>
                        <a:lumOff val="80000"/>
                      </a:schemeClr>
                    </a:solidFill>
                  </a:tcPr>
                </a:tc>
                <a:extLst>
                  <a:ext uri="{0D108BD9-81ED-4DB2-BD59-A6C34878D82A}">
                    <a16:rowId xmlns:a16="http://schemas.microsoft.com/office/drawing/2014/main" val="529775742"/>
                  </a:ext>
                </a:extLst>
              </a:tr>
              <a:tr h="238591">
                <a:tc rowSpan="8">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400" b="1" i="0" u="none" strike="noStrike" dirty="0">
                          <a:solidFill>
                            <a:schemeClr val="accent2"/>
                          </a:solidFill>
                          <a:effectLst/>
                          <a:latin typeface="Calibri" panose="020F0502020204030204" pitchFamily="34" charset="0"/>
                        </a:rPr>
                        <a:t>Performance</a:t>
                      </a:r>
                      <a:endParaRPr lang="en-GB" sz="900" b="0" i="0" u="none" strike="noStrike" dirty="0">
                        <a:solidFill>
                          <a:schemeClr val="accent2"/>
                        </a:solidFill>
                        <a:effectLst/>
                        <a:latin typeface="Calibri" panose="020F0502020204030204" pitchFamily="34" charset="0"/>
                      </a:endParaRPr>
                    </a:p>
                  </a:txBody>
                  <a:tcPr marL="9525" marR="9525" marT="9525" marB="0" vert="vert270" anchor="ctr" anchorCtr="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GB" sz="1000" b="0" i="0" u="none" strike="noStrike" dirty="0">
                          <a:solidFill>
                            <a:schemeClr val="tx2">
                              <a:lumMod val="50000"/>
                            </a:schemeClr>
                          </a:solidFill>
                          <a:effectLst/>
                          <a:latin typeface="Calibri" panose="020F0502020204030204" pitchFamily="34" charset="0"/>
                        </a:rPr>
                        <a:t>Interaction Analytics QM</a:t>
                      </a:r>
                    </a:p>
                  </a:txBody>
                  <a:tcPr marL="9525" marR="9525" marT="9525" marB="0">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rgbClr val="FF0000"/>
                          </a:solidFill>
                          <a:latin typeface="Webdings" pitchFamily="2" charset="2"/>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extLst>
                  <a:ext uri="{0D108BD9-81ED-4DB2-BD59-A6C34878D82A}">
                    <a16:rowId xmlns:a16="http://schemas.microsoft.com/office/drawing/2014/main" val="333126414"/>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Deep FCR (First Call Resolution)</a:t>
                      </a:r>
                    </a:p>
                  </a:txBody>
                  <a:tcPr marL="9525" marR="9525" marT="9525" marB="0">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extLst>
                  <a:ext uri="{0D108BD9-81ED-4DB2-BD59-A6C34878D82A}">
                    <a16:rowId xmlns:a16="http://schemas.microsoft.com/office/drawing/2014/main" val="3939035999"/>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Automated Wrap</a:t>
                      </a:r>
                    </a:p>
                  </a:txBody>
                  <a:tcPr marL="9525" marR="9525" marT="9525" marB="0">
                    <a:solidFill>
                      <a:schemeClr val="accent2">
                        <a:lumMod val="20000"/>
                        <a:lumOff val="80000"/>
                      </a:schemeClr>
                    </a:solidFill>
                  </a:tcPr>
                </a:tc>
                <a:tc>
                  <a:txBody>
                    <a:bodyPr/>
                    <a:lstStyle/>
                    <a:p>
                      <a:pPr algn="ctr"/>
                      <a:r>
                        <a:rPr lang="en-US" sz="1000" dirty="0">
                          <a:solidFill>
                            <a:srgbClr val="FF0000"/>
                          </a:solidFill>
                          <a:latin typeface="Webdings" pitchFamily="2" charset="2"/>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kumimoji="0" lang="en-US" sz="10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extLst>
                  <a:ext uri="{0D108BD9-81ED-4DB2-BD59-A6C34878D82A}">
                    <a16:rowId xmlns:a16="http://schemas.microsoft.com/office/drawing/2014/main" val="479347478"/>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Cognitive QM</a:t>
                      </a:r>
                    </a:p>
                  </a:txBody>
                  <a:tcPr marL="9525" marR="9525" marT="9525" marB="0">
                    <a:solidFill>
                      <a:schemeClr val="accent2">
                        <a:lumMod val="20000"/>
                        <a:lumOff val="80000"/>
                      </a:schemeClr>
                    </a:solidFill>
                  </a:tcPr>
                </a:tc>
                <a:tc>
                  <a:txBody>
                    <a:bodyPr/>
                    <a:lstStyle/>
                    <a:p>
                      <a:pPr algn="ctr"/>
                      <a:r>
                        <a:rPr lang="en-US" sz="1000" dirty="0">
                          <a:solidFill>
                            <a:srgbClr val="FF0000"/>
                          </a:solidFill>
                          <a:latin typeface="Webdings" pitchFamily="2" charset="2"/>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3352562044"/>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In Call Predictors</a:t>
                      </a:r>
                    </a:p>
                  </a:txBody>
                  <a:tcPr marL="9525" marR="9525" marT="9525" marB="0">
                    <a:solidFill>
                      <a:schemeClr val="accent2">
                        <a:lumMod val="20000"/>
                        <a:lumOff val="80000"/>
                      </a:schemeClr>
                    </a:solidFill>
                  </a:tcPr>
                </a:tc>
                <a:tc>
                  <a:txBody>
                    <a:bodyPr/>
                    <a:lstStyle/>
                    <a:p>
                      <a:pPr algn="ctr"/>
                      <a:r>
                        <a:rPr lang="en-US" sz="1000" dirty="0">
                          <a:solidFill>
                            <a:srgbClr val="FF0000"/>
                          </a:solidFill>
                          <a:latin typeface="Webdings" pitchFamily="2" charset="2"/>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608178745"/>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Call outcome prediction engine</a:t>
                      </a:r>
                    </a:p>
                  </a:txBody>
                  <a:tcPr marL="9525" marR="9525" marT="9525" marB="0">
                    <a:solidFill>
                      <a:schemeClr val="accent2">
                        <a:lumMod val="20000"/>
                        <a:lumOff val="80000"/>
                      </a:schemeClr>
                    </a:solidFill>
                  </a:tcPr>
                </a:tc>
                <a:tc>
                  <a:txBody>
                    <a:bodyPr/>
                    <a:lstStyle/>
                    <a:p>
                      <a:pPr algn="ctr"/>
                      <a:r>
                        <a:rPr lang="en-US" sz="1000" dirty="0">
                          <a:solidFill>
                            <a:srgbClr val="FF0000"/>
                          </a:solidFill>
                          <a:latin typeface="Webdings" pitchFamily="2" charset="2"/>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3886735091"/>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Script Intelligence</a:t>
                      </a:r>
                    </a:p>
                  </a:txBody>
                  <a:tcPr marL="9525" marR="9525" marT="9525" marB="0">
                    <a:solidFill>
                      <a:schemeClr val="accent2">
                        <a:lumMod val="20000"/>
                        <a:lumOff val="80000"/>
                      </a:schemeClr>
                    </a:solidFill>
                  </a:tcPr>
                </a:tc>
                <a:tc>
                  <a:txBody>
                    <a:bodyPr/>
                    <a:lstStyle/>
                    <a:p>
                      <a:pPr algn="ctr"/>
                      <a:r>
                        <a:rPr lang="en-US" sz="1000" dirty="0">
                          <a:solidFill>
                            <a:srgbClr val="FF0000"/>
                          </a:solidFill>
                          <a:latin typeface="Webdings" pitchFamily="2" charset="2"/>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3597783490"/>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Agent Performance and Churn</a:t>
                      </a:r>
                    </a:p>
                  </a:txBody>
                  <a:tcPr marL="9525" marR="9525" marT="9525" marB="0">
                    <a:solidFill>
                      <a:schemeClr val="accent2">
                        <a:lumMod val="20000"/>
                        <a:lumOff val="80000"/>
                      </a:schemeClr>
                    </a:solidFill>
                  </a:tcPr>
                </a:tc>
                <a:tc>
                  <a:txBody>
                    <a:bodyPr/>
                    <a:lstStyle/>
                    <a:p>
                      <a:pPr algn="ctr"/>
                      <a:r>
                        <a:rPr lang="en-US" sz="1000" dirty="0">
                          <a:solidFill>
                            <a:srgbClr val="FF0000"/>
                          </a:solidFill>
                          <a:latin typeface="Webdings" pitchFamily="2" charset="2"/>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2">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2">
                        <a:lumMod val="20000"/>
                        <a:lumOff val="80000"/>
                      </a:schemeClr>
                    </a:solidFill>
                  </a:tcPr>
                </a:tc>
                <a:extLst>
                  <a:ext uri="{0D108BD9-81ED-4DB2-BD59-A6C34878D82A}">
                    <a16:rowId xmlns:a16="http://schemas.microsoft.com/office/drawing/2014/main" val="900852151"/>
                  </a:ext>
                </a:extLst>
              </a:tr>
              <a:tr h="238591">
                <a:tc rowSpan="7">
                  <a:txBody>
                    <a:bodyPr/>
                    <a:lstStyle/>
                    <a:p>
                      <a:pPr algn="l" fontAlgn="t"/>
                      <a:r>
                        <a:rPr lang="en-GB" sz="1400" b="1" i="0" u="none" strike="noStrike" dirty="0">
                          <a:solidFill>
                            <a:schemeClr val="accent3"/>
                          </a:solidFill>
                          <a:effectLst/>
                          <a:latin typeface="Calibri" panose="020F0502020204030204" pitchFamily="34" charset="0"/>
                        </a:rPr>
                        <a:t>Experience</a:t>
                      </a:r>
                      <a:endParaRPr lang="en-GB" sz="1000" b="1" i="0" u="none" strike="noStrike" dirty="0">
                        <a:solidFill>
                          <a:schemeClr val="accent3"/>
                        </a:solidFill>
                        <a:effectLst/>
                        <a:latin typeface="Calibri" panose="020F0502020204030204" pitchFamily="34" charset="0"/>
                      </a:endParaRPr>
                    </a:p>
                  </a:txBody>
                  <a:tcPr marL="9525" marR="9525" marT="9525" marB="0" vert="vert270" anchor="ctr" anchorCtr="1">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GB" sz="1000" b="0" i="0" u="none" strike="noStrike" dirty="0">
                          <a:solidFill>
                            <a:schemeClr val="tx2">
                              <a:lumMod val="50000"/>
                            </a:schemeClr>
                          </a:solidFill>
                          <a:effectLst/>
                          <a:latin typeface="Calibri" panose="020F0502020204030204" pitchFamily="34" charset="0"/>
                        </a:rPr>
                        <a:t>Semantic Analysis</a:t>
                      </a:r>
                    </a:p>
                  </a:txBody>
                  <a:tcPr marL="9525" marR="9525" marT="9525" marB="0">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r>
                        <a:rPr kumimoji="0" lang="en-US" sz="10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extLst>
                  <a:ext uri="{0D108BD9-81ED-4DB2-BD59-A6C34878D82A}">
                    <a16:rowId xmlns:a16="http://schemas.microsoft.com/office/drawing/2014/main" val="2177720422"/>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Termination</a:t>
                      </a:r>
                    </a:p>
                  </a:txBody>
                  <a:tcPr marL="9525" marR="9525" marT="9525" marB="0">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r>
                        <a:rPr kumimoji="0" lang="en-US" sz="10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extLst>
                  <a:ext uri="{0D108BD9-81ED-4DB2-BD59-A6C34878D82A}">
                    <a16:rowId xmlns:a16="http://schemas.microsoft.com/office/drawing/2014/main" val="2829804755"/>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Precog Complaints</a:t>
                      </a:r>
                    </a:p>
                  </a:txBody>
                  <a:tcPr marL="9525" marR="9525" marT="9525" marB="0">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1437165409"/>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Predictive NPS</a:t>
                      </a:r>
                    </a:p>
                  </a:txBody>
                  <a:tcPr marL="9525" marR="9525" marT="9525" marB="0">
                    <a:solidFill>
                      <a:schemeClr val="accent3">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3067827250"/>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Multi-channel Dialogue</a:t>
                      </a:r>
                    </a:p>
                  </a:txBody>
                  <a:tcPr marL="9525" marR="9525" marT="9525" marB="0">
                    <a:solidFill>
                      <a:schemeClr val="accent3">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2222903360"/>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Dynamic Knowledgebase</a:t>
                      </a:r>
                    </a:p>
                  </a:txBody>
                  <a:tcPr marL="9525" marR="9525" marT="9525" marB="0">
                    <a:solidFill>
                      <a:schemeClr val="accent3">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kumimoji="0" lang="en-US" sz="10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1675119460"/>
                  </a:ext>
                </a:extLst>
              </a:tr>
              <a:tr h="238591">
                <a:tc vMerge="1">
                  <a:txBody>
                    <a:bodyPr/>
                    <a:lstStyle/>
                    <a:p>
                      <a:pPr algn="l" fontAlgn="t"/>
                      <a:endParaRPr lang="en-GB" sz="1000" b="0" i="0" u="none" strike="noStrike" dirty="0">
                        <a:solidFill>
                          <a:srgbClr val="000000"/>
                        </a:solidFill>
                        <a:effectLst/>
                        <a:latin typeface="Calibri" panose="020F0502020204030204" pitchFamily="34" charset="0"/>
                      </a:endParaRPr>
                    </a:p>
                  </a:txBody>
                  <a:tcPr marL="9525" marR="9525" marT="9525" marB="0"/>
                </a:tc>
                <a:tc>
                  <a:txBody>
                    <a:bodyPr/>
                    <a:lstStyle/>
                    <a:p>
                      <a:pPr algn="l" fontAlgn="t"/>
                      <a:r>
                        <a:rPr lang="en-GB" sz="1000" b="0" i="0" u="none" strike="noStrike" dirty="0">
                          <a:solidFill>
                            <a:schemeClr val="tx2">
                              <a:lumMod val="50000"/>
                            </a:schemeClr>
                          </a:solidFill>
                          <a:effectLst/>
                          <a:latin typeface="Calibri" panose="020F0502020204030204" pitchFamily="34" charset="0"/>
                        </a:rPr>
                        <a:t>Phone printing</a:t>
                      </a:r>
                    </a:p>
                  </a:txBody>
                  <a:tcPr marL="9525" marR="9525" marT="9525" marB="0">
                    <a:solidFill>
                      <a:schemeClr val="accent3">
                        <a:lumMod val="20000"/>
                        <a:lumOff val="80000"/>
                      </a:schemeClr>
                    </a:solidFill>
                  </a:tcPr>
                </a:tc>
                <a:tc>
                  <a:txBody>
                    <a:bodyPr/>
                    <a:lstStyle/>
                    <a:p>
                      <a:pPr algn="ctr"/>
                      <a:r>
                        <a:rPr kumimoji="0" lang="en-US" sz="10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kumimoji="0" lang="en-US" sz="10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000" dirty="0">
                        <a:solidFill>
                          <a:schemeClr val="tx2">
                            <a:lumMod val="50000"/>
                          </a:schemeClr>
                        </a:solidFill>
                        <a:latin typeface="Webdings" pitchFamily="2" charset="2"/>
                      </a:endParaRPr>
                    </a:p>
                  </a:txBody>
                  <a:tcPr>
                    <a:solidFill>
                      <a:schemeClr val="accent3">
                        <a:lumMod val="20000"/>
                        <a:lumOff val="80000"/>
                      </a:schemeClr>
                    </a:solidFill>
                  </a:tcPr>
                </a:tc>
                <a:tc>
                  <a:txBody>
                    <a:bodyPr/>
                    <a:lstStyle/>
                    <a:p>
                      <a:pPr algn="ctr"/>
                      <a:r>
                        <a:rPr lang="en-US" sz="1000" dirty="0">
                          <a:solidFill>
                            <a:schemeClr val="tx2">
                              <a:lumMod val="50000"/>
                            </a:schemeClr>
                          </a:solidFill>
                          <a:latin typeface="Webdings" pitchFamily="2" charset="2"/>
                        </a:rPr>
                        <a:t>a</a:t>
                      </a:r>
                    </a:p>
                  </a:txBody>
                  <a:tcPr>
                    <a:solidFill>
                      <a:schemeClr val="accent3">
                        <a:lumMod val="20000"/>
                        <a:lumOff val="80000"/>
                      </a:schemeClr>
                    </a:solidFill>
                  </a:tcPr>
                </a:tc>
                <a:extLst>
                  <a:ext uri="{0D108BD9-81ED-4DB2-BD59-A6C34878D82A}">
                    <a16:rowId xmlns:a16="http://schemas.microsoft.com/office/drawing/2014/main" val="3155510664"/>
                  </a:ext>
                </a:extLst>
              </a:tr>
            </a:tbl>
          </a:graphicData>
        </a:graphic>
      </p:graphicFrame>
    </p:spTree>
    <p:extLst>
      <p:ext uri="{BB962C8B-B14F-4D97-AF65-F5344CB8AC3E}">
        <p14:creationId xmlns:p14="http://schemas.microsoft.com/office/powerpoint/2010/main" val="2645755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052452" cy="1466349"/>
          </a:xfrm>
        </p:spPr>
        <p:txBody>
          <a:bodyPr/>
          <a:lstStyle/>
          <a:p>
            <a:r>
              <a:rPr lang="en-US" dirty="0"/>
              <a:t>So we combine the two to create different packages</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28066"/>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Table 2">
            <a:extLst>
              <a:ext uri="{FF2B5EF4-FFF2-40B4-BE49-F238E27FC236}">
                <a16:creationId xmlns:a16="http://schemas.microsoft.com/office/drawing/2014/main" id="{99DF89FF-F808-3143-966F-7C97FAFC4261}"/>
              </a:ext>
            </a:extLst>
          </p:cNvPr>
          <p:cNvGraphicFramePr>
            <a:graphicFrameLocks noGrp="1"/>
          </p:cNvGraphicFramePr>
          <p:nvPr>
            <p:extLst>
              <p:ext uri="{D42A27DB-BD31-4B8C-83A1-F6EECF244321}">
                <p14:modId xmlns:p14="http://schemas.microsoft.com/office/powerpoint/2010/main" val="3447524887"/>
              </p:ext>
            </p:extLst>
          </p:nvPr>
        </p:nvGraphicFramePr>
        <p:xfrm>
          <a:off x="1635211" y="1953983"/>
          <a:ext cx="6604001" cy="3152309"/>
        </p:xfrm>
        <a:graphic>
          <a:graphicData uri="http://schemas.openxmlformats.org/drawingml/2006/table">
            <a:tbl>
              <a:tblPr firstRow="1" bandRow="1">
                <a:tableStyleId>{5C22544A-7EE6-4342-B048-85BDC9FD1C3A}</a:tableStyleId>
              </a:tblPr>
              <a:tblGrid>
                <a:gridCol w="2186162">
                  <a:extLst>
                    <a:ext uri="{9D8B030D-6E8A-4147-A177-3AD203B41FA5}">
                      <a16:colId xmlns:a16="http://schemas.microsoft.com/office/drawing/2014/main" val="197163883"/>
                    </a:ext>
                  </a:extLst>
                </a:gridCol>
                <a:gridCol w="1472613">
                  <a:extLst>
                    <a:ext uri="{9D8B030D-6E8A-4147-A177-3AD203B41FA5}">
                      <a16:colId xmlns:a16="http://schemas.microsoft.com/office/drawing/2014/main" val="2796295587"/>
                    </a:ext>
                  </a:extLst>
                </a:gridCol>
                <a:gridCol w="1472613">
                  <a:extLst>
                    <a:ext uri="{9D8B030D-6E8A-4147-A177-3AD203B41FA5}">
                      <a16:colId xmlns:a16="http://schemas.microsoft.com/office/drawing/2014/main" val="4220225863"/>
                    </a:ext>
                  </a:extLst>
                </a:gridCol>
                <a:gridCol w="1472613">
                  <a:extLst>
                    <a:ext uri="{9D8B030D-6E8A-4147-A177-3AD203B41FA5}">
                      <a16:colId xmlns:a16="http://schemas.microsoft.com/office/drawing/2014/main" val="179081237"/>
                    </a:ext>
                  </a:extLst>
                </a:gridCol>
              </a:tblGrid>
              <a:tr h="357886">
                <a:tc>
                  <a:txBody>
                    <a:bodyPr/>
                    <a:lstStyle/>
                    <a:p>
                      <a:endParaRPr lang="en-US" sz="2000" dirty="0"/>
                    </a:p>
                  </a:txBody>
                  <a:tcPr>
                    <a:noFill/>
                  </a:tcPr>
                </a:tc>
                <a:tc>
                  <a:txBody>
                    <a:bodyPr/>
                    <a:lstStyle/>
                    <a:p>
                      <a:pPr algn="ctr"/>
                      <a:r>
                        <a:rPr lang="en-US" sz="1600" dirty="0"/>
                        <a:t>Standard</a:t>
                      </a:r>
                    </a:p>
                  </a:txBody>
                  <a:tcPr/>
                </a:tc>
                <a:tc>
                  <a:txBody>
                    <a:bodyPr/>
                    <a:lstStyle/>
                    <a:p>
                      <a:pPr algn="ctr"/>
                      <a:r>
                        <a:rPr lang="en-US" sz="1600" dirty="0"/>
                        <a:t>Configurable</a:t>
                      </a:r>
                    </a:p>
                  </a:txBody>
                  <a:tcPr/>
                </a:tc>
                <a:tc>
                  <a:txBody>
                    <a:bodyPr/>
                    <a:lstStyle/>
                    <a:p>
                      <a:pPr algn="ctr"/>
                      <a:r>
                        <a:rPr lang="en-US" sz="1600" dirty="0"/>
                        <a:t>Sophisticated</a:t>
                      </a:r>
                    </a:p>
                  </a:txBody>
                  <a:tcPr/>
                </a:tc>
                <a:extLst>
                  <a:ext uri="{0D108BD9-81ED-4DB2-BD59-A6C34878D82A}">
                    <a16:rowId xmlns:a16="http://schemas.microsoft.com/office/drawing/2014/main" val="1112637302"/>
                  </a:ext>
                </a:extLst>
              </a:tr>
              <a:tr h="238591">
                <a:tc>
                  <a:txBody>
                    <a:bodyPr/>
                    <a:lstStyle/>
                    <a:p>
                      <a:pPr algn="l" fontAlgn="t"/>
                      <a:r>
                        <a:rPr lang="en-GB" sz="1400" b="0" i="0" u="none" strike="noStrike" dirty="0">
                          <a:solidFill>
                            <a:srgbClr val="000000"/>
                          </a:solidFill>
                          <a:effectLst/>
                          <a:latin typeface="Calibri" panose="020F0502020204030204" pitchFamily="34" charset="0"/>
                        </a:rPr>
                        <a:t>Hardship identification</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3454541276"/>
                  </a:ext>
                </a:extLst>
              </a:tr>
              <a:tr h="238591">
                <a:tc>
                  <a:txBody>
                    <a:bodyPr/>
                    <a:lstStyle/>
                    <a:p>
                      <a:pPr algn="l" fontAlgn="t"/>
                      <a:r>
                        <a:rPr lang="en-GB" sz="1400" b="0" i="0" u="none" strike="noStrike" dirty="0">
                          <a:solidFill>
                            <a:srgbClr val="000000"/>
                          </a:solidFill>
                          <a:effectLst/>
                          <a:latin typeface="Calibri" panose="020F0502020204030204" pitchFamily="34" charset="0"/>
                        </a:rPr>
                        <a:t>Verification</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3646616314"/>
                  </a:ext>
                </a:extLst>
              </a:tr>
              <a:tr h="238591">
                <a:tc>
                  <a:txBody>
                    <a:bodyPr/>
                    <a:lstStyle/>
                    <a:p>
                      <a:pPr algn="l" fontAlgn="t"/>
                      <a:r>
                        <a:rPr lang="en-GB" sz="1400" b="0" i="0" u="none" strike="noStrike" dirty="0">
                          <a:solidFill>
                            <a:srgbClr val="000000"/>
                          </a:solidFill>
                          <a:effectLst/>
                          <a:latin typeface="Calibri" panose="020F0502020204030204" pitchFamily="34" charset="0"/>
                        </a:rPr>
                        <a:t>Pressurized Selling</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425987954"/>
                  </a:ext>
                </a:extLst>
              </a:tr>
              <a:tr h="238591">
                <a:tc>
                  <a:txBody>
                    <a:bodyPr/>
                    <a:lstStyle/>
                    <a:p>
                      <a:pPr algn="l" fontAlgn="t"/>
                      <a:r>
                        <a:rPr lang="en-GB" sz="1400" b="0" i="0" u="none" strike="noStrike" dirty="0">
                          <a:solidFill>
                            <a:srgbClr val="000000"/>
                          </a:solidFill>
                          <a:effectLst/>
                          <a:latin typeface="Calibri" panose="020F0502020204030204" pitchFamily="34" charset="0"/>
                        </a:rPr>
                        <a:t>Mis-selling</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2474872973"/>
                  </a:ext>
                </a:extLst>
              </a:tr>
              <a:tr h="238591">
                <a:tc>
                  <a:txBody>
                    <a:bodyPr/>
                    <a:lstStyle/>
                    <a:p>
                      <a:pPr algn="l" fontAlgn="t"/>
                      <a:r>
                        <a:rPr lang="en-GB" sz="1400" b="0" i="0" u="none" strike="noStrike" dirty="0">
                          <a:solidFill>
                            <a:srgbClr val="000000"/>
                          </a:solidFill>
                          <a:effectLst/>
                          <a:latin typeface="Calibri" panose="020F0502020204030204" pitchFamily="34" charset="0"/>
                        </a:rPr>
                        <a:t>Termination</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1452775085"/>
                  </a:ext>
                </a:extLst>
              </a:tr>
              <a:tr h="238591">
                <a:tc>
                  <a:txBody>
                    <a:bodyPr/>
                    <a:lstStyle/>
                    <a:p>
                      <a:pPr algn="l" fontAlgn="t"/>
                      <a:r>
                        <a:rPr lang="en-GB" sz="1400" b="0" i="0" u="none" strike="noStrike" dirty="0">
                          <a:solidFill>
                            <a:srgbClr val="000000"/>
                          </a:solidFill>
                          <a:effectLst/>
                          <a:latin typeface="Calibri" panose="020F0502020204030204" pitchFamily="34" charset="0"/>
                        </a:rPr>
                        <a:t>PCI compliance</a:t>
                      </a: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1894595677"/>
                  </a:ext>
                </a:extLst>
              </a:tr>
              <a:tr h="238591">
                <a:tc>
                  <a:txBody>
                    <a:bodyPr/>
                    <a:lstStyle/>
                    <a:p>
                      <a:pPr algn="l" fontAlgn="t"/>
                      <a:r>
                        <a:rPr lang="en-GB" sz="1400" b="0" i="0" u="none" strike="noStrike" dirty="0">
                          <a:solidFill>
                            <a:srgbClr val="000000"/>
                          </a:solidFill>
                          <a:effectLst/>
                          <a:latin typeface="Calibri" panose="020F0502020204030204" pitchFamily="34" charset="0"/>
                        </a:rPr>
                        <a:t>Disclosures</a:t>
                      </a: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529775742"/>
                  </a:ext>
                </a:extLst>
              </a:tr>
              <a:tr h="622469">
                <a:tc>
                  <a:txBody>
                    <a:bodyPr/>
                    <a:lstStyle/>
                    <a:p>
                      <a:pPr algn="l" fontAlgn="t"/>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a:r>
                        <a:rPr lang="en-US" sz="1800" dirty="0">
                          <a:solidFill>
                            <a:schemeClr val="tx2">
                              <a:lumMod val="50000"/>
                            </a:schemeClr>
                          </a:solidFill>
                          <a:latin typeface="+mn-lt"/>
                        </a:rPr>
                        <a:t>$45</a:t>
                      </a:r>
                    </a:p>
                  </a:txBody>
                  <a:tcPr anchor="ctr"/>
                </a:tc>
                <a:tc>
                  <a:txBody>
                    <a:bodyPr/>
                    <a:lstStyle/>
                    <a:p>
                      <a:pPr algn="ctr"/>
                      <a:r>
                        <a:rPr lang="en-US" sz="1800" dirty="0">
                          <a:solidFill>
                            <a:schemeClr val="tx2">
                              <a:lumMod val="50000"/>
                            </a:schemeClr>
                          </a:solidFill>
                          <a:latin typeface="+mn-lt"/>
                        </a:rPr>
                        <a:t>$60</a:t>
                      </a:r>
                    </a:p>
                  </a:txBody>
                  <a:tcPr anchor="ctr"/>
                </a:tc>
                <a:tc>
                  <a:txBody>
                    <a:bodyPr/>
                    <a:lstStyle/>
                    <a:p>
                      <a:pPr algn="ctr"/>
                      <a:r>
                        <a:rPr lang="en-US" sz="1800" dirty="0">
                          <a:solidFill>
                            <a:schemeClr val="tx2">
                              <a:lumMod val="50000"/>
                            </a:schemeClr>
                          </a:solidFill>
                          <a:latin typeface="+mn-lt"/>
                        </a:rPr>
                        <a:t>$80</a:t>
                      </a:r>
                    </a:p>
                  </a:txBody>
                  <a:tcPr anchor="ctr"/>
                </a:tc>
                <a:extLst>
                  <a:ext uri="{0D108BD9-81ED-4DB2-BD59-A6C34878D82A}">
                    <a16:rowId xmlns:a16="http://schemas.microsoft.com/office/drawing/2014/main" val="2417076128"/>
                  </a:ext>
                </a:extLst>
              </a:tr>
            </a:tbl>
          </a:graphicData>
        </a:graphic>
      </p:graphicFrame>
      <p:sp>
        <p:nvSpPr>
          <p:cNvPr id="5" name="TextBox 4">
            <a:extLst>
              <a:ext uri="{FF2B5EF4-FFF2-40B4-BE49-F238E27FC236}">
                <a16:creationId xmlns:a16="http://schemas.microsoft.com/office/drawing/2014/main" id="{A3B98B42-D94F-FC4D-B712-0B38D10D574D}"/>
              </a:ext>
            </a:extLst>
          </p:cNvPr>
          <p:cNvSpPr txBox="1"/>
          <p:nvPr/>
        </p:nvSpPr>
        <p:spPr>
          <a:xfrm>
            <a:off x="1635211" y="1323833"/>
            <a:ext cx="3196096" cy="382541"/>
          </a:xfrm>
          <a:prstGeom prst="rect">
            <a:avLst/>
          </a:prstGeom>
          <a:noFill/>
        </p:spPr>
        <p:txBody>
          <a:bodyPr wrap="square" rtlCol="0">
            <a:spAutoFit/>
          </a:bodyPr>
          <a:lstStyle/>
          <a:p>
            <a:r>
              <a:rPr lang="en-US" dirty="0" err="1">
                <a:solidFill>
                  <a:schemeClr val="tx2">
                    <a:lumMod val="50000"/>
                  </a:schemeClr>
                </a:solidFill>
              </a:rPr>
              <a:t>Ekko</a:t>
            </a:r>
            <a:r>
              <a:rPr lang="en-US" dirty="0">
                <a:solidFill>
                  <a:schemeClr val="tx2">
                    <a:lumMod val="50000"/>
                  </a:schemeClr>
                </a:solidFill>
              </a:rPr>
              <a:t> Compliance</a:t>
            </a:r>
          </a:p>
        </p:txBody>
      </p:sp>
      <p:sp>
        <p:nvSpPr>
          <p:cNvPr id="6" name="TextBox 5">
            <a:extLst>
              <a:ext uri="{FF2B5EF4-FFF2-40B4-BE49-F238E27FC236}">
                <a16:creationId xmlns:a16="http://schemas.microsoft.com/office/drawing/2014/main" id="{C18BCA97-B524-B24D-9D63-721F6D3E2DB9}"/>
              </a:ext>
            </a:extLst>
          </p:cNvPr>
          <p:cNvSpPr txBox="1"/>
          <p:nvPr/>
        </p:nvSpPr>
        <p:spPr>
          <a:xfrm>
            <a:off x="4080681" y="5459105"/>
            <a:ext cx="2565779" cy="400110"/>
          </a:xfrm>
          <a:prstGeom prst="rect">
            <a:avLst/>
          </a:prstGeom>
          <a:noFill/>
        </p:spPr>
        <p:txBody>
          <a:bodyPr wrap="square" rtlCol="0">
            <a:spAutoFit/>
          </a:bodyPr>
          <a:lstStyle/>
          <a:p>
            <a:r>
              <a:rPr lang="en-US" sz="2000" dirty="0">
                <a:solidFill>
                  <a:srgbClr val="FF0000"/>
                </a:solidFill>
                <a:latin typeface="Webdings" pitchFamily="2" charset="2"/>
              </a:rPr>
              <a:t>a</a:t>
            </a:r>
            <a:r>
              <a:rPr lang="en-US" sz="2000" dirty="0">
                <a:solidFill>
                  <a:srgbClr val="00B050"/>
                </a:solidFill>
              </a:rPr>
              <a:t> </a:t>
            </a:r>
            <a:r>
              <a:rPr lang="en-US" sz="2000" dirty="0">
                <a:solidFill>
                  <a:schemeClr val="tx2">
                    <a:lumMod val="50000"/>
                  </a:schemeClr>
                </a:solidFill>
              </a:rPr>
              <a:t>– To be developed</a:t>
            </a:r>
            <a:endParaRPr lang="en-US" dirty="0">
              <a:solidFill>
                <a:schemeClr val="tx2">
                  <a:lumMod val="50000"/>
                </a:schemeClr>
              </a:solidFill>
            </a:endParaRPr>
          </a:p>
        </p:txBody>
      </p:sp>
    </p:spTree>
    <p:extLst>
      <p:ext uri="{BB962C8B-B14F-4D97-AF65-F5344CB8AC3E}">
        <p14:creationId xmlns:p14="http://schemas.microsoft.com/office/powerpoint/2010/main" val="1578828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6" y="197227"/>
            <a:ext cx="5298463" cy="1466349"/>
          </a:xfrm>
        </p:spPr>
        <p:txBody>
          <a:bodyPr>
            <a:normAutofit/>
          </a:bodyPr>
          <a:lstStyle/>
          <a:p>
            <a:r>
              <a:rPr lang="en-US" dirty="0"/>
              <a:t>Price by feature so customers put together their own package</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28066"/>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Table 2">
            <a:extLst>
              <a:ext uri="{FF2B5EF4-FFF2-40B4-BE49-F238E27FC236}">
                <a16:creationId xmlns:a16="http://schemas.microsoft.com/office/drawing/2014/main" id="{99DF89FF-F808-3143-966F-7C97FAFC4261}"/>
              </a:ext>
            </a:extLst>
          </p:cNvPr>
          <p:cNvGraphicFramePr>
            <a:graphicFrameLocks noGrp="1"/>
          </p:cNvGraphicFramePr>
          <p:nvPr>
            <p:extLst>
              <p:ext uri="{D42A27DB-BD31-4B8C-83A1-F6EECF244321}">
                <p14:modId xmlns:p14="http://schemas.microsoft.com/office/powerpoint/2010/main" val="683241829"/>
              </p:ext>
            </p:extLst>
          </p:nvPr>
        </p:nvGraphicFramePr>
        <p:xfrm>
          <a:off x="1635211" y="1953983"/>
          <a:ext cx="6604001" cy="2529840"/>
        </p:xfrm>
        <a:graphic>
          <a:graphicData uri="http://schemas.openxmlformats.org/drawingml/2006/table">
            <a:tbl>
              <a:tblPr firstRow="1" bandRow="1">
                <a:tableStyleId>{5C22544A-7EE6-4342-B048-85BDC9FD1C3A}</a:tableStyleId>
              </a:tblPr>
              <a:tblGrid>
                <a:gridCol w="2186162">
                  <a:extLst>
                    <a:ext uri="{9D8B030D-6E8A-4147-A177-3AD203B41FA5}">
                      <a16:colId xmlns:a16="http://schemas.microsoft.com/office/drawing/2014/main" val="197163883"/>
                    </a:ext>
                  </a:extLst>
                </a:gridCol>
                <a:gridCol w="1472613">
                  <a:extLst>
                    <a:ext uri="{9D8B030D-6E8A-4147-A177-3AD203B41FA5}">
                      <a16:colId xmlns:a16="http://schemas.microsoft.com/office/drawing/2014/main" val="2796295587"/>
                    </a:ext>
                  </a:extLst>
                </a:gridCol>
                <a:gridCol w="1472613">
                  <a:extLst>
                    <a:ext uri="{9D8B030D-6E8A-4147-A177-3AD203B41FA5}">
                      <a16:colId xmlns:a16="http://schemas.microsoft.com/office/drawing/2014/main" val="4220225863"/>
                    </a:ext>
                  </a:extLst>
                </a:gridCol>
                <a:gridCol w="1472613">
                  <a:extLst>
                    <a:ext uri="{9D8B030D-6E8A-4147-A177-3AD203B41FA5}">
                      <a16:colId xmlns:a16="http://schemas.microsoft.com/office/drawing/2014/main" val="179081237"/>
                    </a:ext>
                  </a:extLst>
                </a:gridCol>
              </a:tblGrid>
              <a:tr h="357886">
                <a:tc>
                  <a:txBody>
                    <a:bodyPr/>
                    <a:lstStyle/>
                    <a:p>
                      <a:endParaRPr lang="en-US" sz="2000" dirty="0"/>
                    </a:p>
                  </a:txBody>
                  <a:tcPr>
                    <a:noFill/>
                  </a:tcPr>
                </a:tc>
                <a:tc>
                  <a:txBody>
                    <a:bodyPr/>
                    <a:lstStyle/>
                    <a:p>
                      <a:pPr algn="ctr"/>
                      <a:r>
                        <a:rPr lang="en-US" sz="1600" dirty="0"/>
                        <a:t>Standard</a:t>
                      </a:r>
                    </a:p>
                  </a:txBody>
                  <a:tcPr/>
                </a:tc>
                <a:tc>
                  <a:txBody>
                    <a:bodyPr/>
                    <a:lstStyle/>
                    <a:p>
                      <a:pPr algn="ctr"/>
                      <a:r>
                        <a:rPr lang="en-US" sz="1600" dirty="0"/>
                        <a:t>Configurable</a:t>
                      </a:r>
                    </a:p>
                  </a:txBody>
                  <a:tcPr/>
                </a:tc>
                <a:tc>
                  <a:txBody>
                    <a:bodyPr/>
                    <a:lstStyle/>
                    <a:p>
                      <a:pPr algn="ctr"/>
                      <a:r>
                        <a:rPr lang="en-US" sz="1600" dirty="0"/>
                        <a:t>Sophisticated</a:t>
                      </a:r>
                    </a:p>
                  </a:txBody>
                  <a:tcPr/>
                </a:tc>
                <a:extLst>
                  <a:ext uri="{0D108BD9-81ED-4DB2-BD59-A6C34878D82A}">
                    <a16:rowId xmlns:a16="http://schemas.microsoft.com/office/drawing/2014/main" val="1112637302"/>
                  </a:ext>
                </a:extLst>
              </a:tr>
              <a:tr h="238591">
                <a:tc>
                  <a:txBody>
                    <a:bodyPr/>
                    <a:lstStyle/>
                    <a:p>
                      <a:pPr algn="l" fontAlgn="t"/>
                      <a:r>
                        <a:rPr lang="en-GB" sz="1400" b="0" i="0" u="none" strike="noStrike" dirty="0">
                          <a:solidFill>
                            <a:srgbClr val="000000"/>
                          </a:solidFill>
                          <a:effectLst/>
                          <a:latin typeface="Calibri" panose="020F0502020204030204" pitchFamily="34" charset="0"/>
                        </a:rPr>
                        <a:t>Hardship identification</a:t>
                      </a:r>
                    </a:p>
                  </a:txBody>
                  <a:tcPr marL="9525" marR="9525" marT="9525" marB="0" anchor="ctr"/>
                </a:tc>
                <a:tc>
                  <a:txBody>
                    <a:bodyPr/>
                    <a:lstStyle/>
                    <a:p>
                      <a:pPr algn="ctr"/>
                      <a:r>
                        <a:rPr lang="en-US" sz="1400" dirty="0">
                          <a:solidFill>
                            <a:schemeClr val="tx2">
                              <a:lumMod val="50000"/>
                            </a:schemeClr>
                          </a:solidFill>
                          <a:latin typeface="+mn-lt"/>
                        </a:rPr>
                        <a:t>$10</a:t>
                      </a:r>
                    </a:p>
                  </a:txBody>
                  <a:tcPr anchor="ctr"/>
                </a:tc>
                <a:tc>
                  <a:txBody>
                    <a:bodyPr/>
                    <a:lstStyle/>
                    <a:p>
                      <a:pPr algn="ctr"/>
                      <a:r>
                        <a:rPr lang="en-US" sz="1400" dirty="0">
                          <a:solidFill>
                            <a:schemeClr val="tx2">
                              <a:lumMod val="50000"/>
                            </a:schemeClr>
                          </a:solidFill>
                          <a:latin typeface="+mn-lt"/>
                        </a:rPr>
                        <a:t>$4</a:t>
                      </a:r>
                    </a:p>
                  </a:txBody>
                  <a:tcPr anchor="ctr"/>
                </a:tc>
                <a:tc rowSpan="7">
                  <a:txBody>
                    <a:bodyPr/>
                    <a:lstStyle/>
                    <a:p>
                      <a:pPr algn="ctr"/>
                      <a:r>
                        <a:rPr lang="en-US" sz="1400" dirty="0">
                          <a:solidFill>
                            <a:schemeClr val="tx2">
                              <a:lumMod val="50000"/>
                            </a:schemeClr>
                          </a:solidFill>
                          <a:latin typeface="+mn-lt"/>
                        </a:rPr>
                        <a:t>Negotiable</a:t>
                      </a:r>
                    </a:p>
                  </a:txBody>
                  <a:tcPr anchor="ctr"/>
                </a:tc>
                <a:extLst>
                  <a:ext uri="{0D108BD9-81ED-4DB2-BD59-A6C34878D82A}">
                    <a16:rowId xmlns:a16="http://schemas.microsoft.com/office/drawing/2014/main" val="3454541276"/>
                  </a:ext>
                </a:extLst>
              </a:tr>
              <a:tr h="238591">
                <a:tc>
                  <a:txBody>
                    <a:bodyPr/>
                    <a:lstStyle/>
                    <a:p>
                      <a:pPr algn="l" fontAlgn="t"/>
                      <a:r>
                        <a:rPr lang="en-GB" sz="1400" b="0" i="0" u="none" strike="noStrike" dirty="0">
                          <a:solidFill>
                            <a:srgbClr val="000000"/>
                          </a:solidFill>
                          <a:effectLst/>
                          <a:latin typeface="Calibri" panose="020F0502020204030204" pitchFamily="34" charset="0"/>
                        </a:rPr>
                        <a:t>Verification</a:t>
                      </a:r>
                    </a:p>
                  </a:txBody>
                  <a:tcPr marL="9525" marR="9525" marT="9525" marB="0" anchor="ctr"/>
                </a:tc>
                <a:tc>
                  <a:txBody>
                    <a:bodyPr/>
                    <a:lstStyle/>
                    <a:p>
                      <a:pPr algn="ctr"/>
                      <a:r>
                        <a:rPr lang="en-US" sz="1400" dirty="0">
                          <a:solidFill>
                            <a:schemeClr val="tx2">
                              <a:lumMod val="50000"/>
                            </a:schemeClr>
                          </a:solidFill>
                          <a:latin typeface="+mn-lt"/>
                        </a:rPr>
                        <a:t>$5</a:t>
                      </a:r>
                    </a:p>
                  </a:txBody>
                  <a:tcPr anchor="ctr"/>
                </a:tc>
                <a:tc>
                  <a:txBody>
                    <a:bodyPr/>
                    <a:lstStyle/>
                    <a:p>
                      <a:pPr algn="ctr"/>
                      <a:r>
                        <a:rPr lang="en-US" sz="1400" dirty="0">
                          <a:solidFill>
                            <a:schemeClr val="tx2">
                              <a:lumMod val="50000"/>
                            </a:schemeClr>
                          </a:solidFill>
                          <a:latin typeface="+mn-lt"/>
                        </a:rPr>
                        <a:t>$6</a:t>
                      </a:r>
                    </a:p>
                  </a:txBody>
                  <a:tcPr anchor="ctr"/>
                </a:tc>
                <a:tc vMerge="1">
                  <a:txBody>
                    <a:bodyPr/>
                    <a:lstStyle/>
                    <a:p>
                      <a:pPr algn="ctr"/>
                      <a:endParaRPr lang="en-US" sz="1400" dirty="0">
                        <a:solidFill>
                          <a:schemeClr val="tx2">
                            <a:lumMod val="50000"/>
                          </a:schemeClr>
                        </a:solidFill>
                        <a:latin typeface="+mn-lt"/>
                      </a:endParaRPr>
                    </a:p>
                  </a:txBody>
                  <a:tcPr/>
                </a:tc>
                <a:extLst>
                  <a:ext uri="{0D108BD9-81ED-4DB2-BD59-A6C34878D82A}">
                    <a16:rowId xmlns:a16="http://schemas.microsoft.com/office/drawing/2014/main" val="3646616314"/>
                  </a:ext>
                </a:extLst>
              </a:tr>
              <a:tr h="238591">
                <a:tc>
                  <a:txBody>
                    <a:bodyPr/>
                    <a:lstStyle/>
                    <a:p>
                      <a:pPr algn="l" fontAlgn="t"/>
                      <a:r>
                        <a:rPr lang="en-GB" sz="1400" b="0" i="0" u="none" strike="noStrike" dirty="0">
                          <a:solidFill>
                            <a:srgbClr val="000000"/>
                          </a:solidFill>
                          <a:effectLst/>
                          <a:latin typeface="Calibri" panose="020F0502020204030204" pitchFamily="34" charset="0"/>
                        </a:rPr>
                        <a:t>Pressurized Selling</a:t>
                      </a:r>
                    </a:p>
                  </a:txBody>
                  <a:tcPr marL="9525" marR="9525" marT="9525" marB="0" anchor="ctr"/>
                </a:tc>
                <a:tc>
                  <a:txBody>
                    <a:bodyPr/>
                    <a:lstStyle/>
                    <a:p>
                      <a:pPr algn="ctr"/>
                      <a:r>
                        <a:rPr lang="en-US" sz="1400" dirty="0">
                          <a:solidFill>
                            <a:schemeClr val="tx2">
                              <a:lumMod val="50000"/>
                            </a:schemeClr>
                          </a:solidFill>
                          <a:latin typeface="+mn-lt"/>
                        </a:rPr>
                        <a:t>$5</a:t>
                      </a:r>
                    </a:p>
                  </a:txBody>
                  <a:tcPr anchor="ctr"/>
                </a:tc>
                <a:tc>
                  <a:txBody>
                    <a:bodyPr/>
                    <a:lstStyle/>
                    <a:p>
                      <a:pPr algn="ctr"/>
                      <a:r>
                        <a:rPr lang="en-US" sz="1400" dirty="0">
                          <a:solidFill>
                            <a:schemeClr val="tx2">
                              <a:lumMod val="50000"/>
                            </a:schemeClr>
                          </a:solidFill>
                          <a:latin typeface="+mn-lt"/>
                        </a:rPr>
                        <a:t>$10</a:t>
                      </a:r>
                    </a:p>
                  </a:txBody>
                  <a:tcPr anchor="ctr"/>
                </a:tc>
                <a:tc vMerge="1">
                  <a:txBody>
                    <a:bodyPr/>
                    <a:lstStyle/>
                    <a:p>
                      <a:pPr algn="ctr"/>
                      <a:endParaRPr lang="en-US" sz="1400" dirty="0">
                        <a:solidFill>
                          <a:schemeClr val="tx2">
                            <a:lumMod val="50000"/>
                          </a:schemeClr>
                        </a:solidFill>
                        <a:latin typeface="+mn-lt"/>
                      </a:endParaRPr>
                    </a:p>
                  </a:txBody>
                  <a:tcPr/>
                </a:tc>
                <a:extLst>
                  <a:ext uri="{0D108BD9-81ED-4DB2-BD59-A6C34878D82A}">
                    <a16:rowId xmlns:a16="http://schemas.microsoft.com/office/drawing/2014/main" val="425987954"/>
                  </a:ext>
                </a:extLst>
              </a:tr>
              <a:tr h="238591">
                <a:tc>
                  <a:txBody>
                    <a:bodyPr/>
                    <a:lstStyle/>
                    <a:p>
                      <a:pPr algn="l" fontAlgn="t"/>
                      <a:r>
                        <a:rPr lang="en-GB" sz="1400" b="0" i="0" u="none" strike="noStrike" dirty="0">
                          <a:solidFill>
                            <a:srgbClr val="000000"/>
                          </a:solidFill>
                          <a:effectLst/>
                          <a:latin typeface="Calibri" panose="020F0502020204030204" pitchFamily="34" charset="0"/>
                        </a:rPr>
                        <a:t>Mis-selling</a:t>
                      </a:r>
                    </a:p>
                  </a:txBody>
                  <a:tcPr marL="9525" marR="9525" marT="9525" marB="0" anchor="ctr"/>
                </a:tc>
                <a:tc>
                  <a:txBody>
                    <a:bodyPr/>
                    <a:lstStyle/>
                    <a:p>
                      <a:pPr algn="ctr"/>
                      <a:r>
                        <a:rPr lang="en-US" sz="1400" dirty="0">
                          <a:solidFill>
                            <a:schemeClr val="tx2">
                              <a:lumMod val="50000"/>
                            </a:schemeClr>
                          </a:solidFill>
                          <a:latin typeface="+mn-lt"/>
                        </a:rPr>
                        <a:t>$10</a:t>
                      </a:r>
                    </a:p>
                  </a:txBody>
                  <a:tcPr anchor="ctr"/>
                </a:tc>
                <a:tc>
                  <a:txBody>
                    <a:bodyPr/>
                    <a:lstStyle/>
                    <a:p>
                      <a:pPr algn="ctr"/>
                      <a:r>
                        <a:rPr lang="en-US" sz="1400" dirty="0">
                          <a:solidFill>
                            <a:schemeClr val="tx2">
                              <a:lumMod val="50000"/>
                            </a:schemeClr>
                          </a:solidFill>
                          <a:latin typeface="+mn-lt"/>
                        </a:rPr>
                        <a:t>$8</a:t>
                      </a:r>
                    </a:p>
                  </a:txBody>
                  <a:tcPr anchor="ctr"/>
                </a:tc>
                <a:tc vMerge="1">
                  <a:txBody>
                    <a:bodyPr/>
                    <a:lstStyle/>
                    <a:p>
                      <a:pPr algn="ctr"/>
                      <a:endParaRPr lang="en-US" sz="1400" dirty="0">
                        <a:solidFill>
                          <a:schemeClr val="tx2">
                            <a:lumMod val="50000"/>
                          </a:schemeClr>
                        </a:solidFill>
                        <a:latin typeface="+mn-lt"/>
                      </a:endParaRPr>
                    </a:p>
                  </a:txBody>
                  <a:tcPr/>
                </a:tc>
                <a:extLst>
                  <a:ext uri="{0D108BD9-81ED-4DB2-BD59-A6C34878D82A}">
                    <a16:rowId xmlns:a16="http://schemas.microsoft.com/office/drawing/2014/main" val="2474872973"/>
                  </a:ext>
                </a:extLst>
              </a:tr>
              <a:tr h="238591">
                <a:tc>
                  <a:txBody>
                    <a:bodyPr/>
                    <a:lstStyle/>
                    <a:p>
                      <a:pPr algn="l" fontAlgn="t"/>
                      <a:r>
                        <a:rPr lang="en-GB" sz="1400" b="0" i="0" u="none" strike="noStrike" dirty="0">
                          <a:solidFill>
                            <a:srgbClr val="000000"/>
                          </a:solidFill>
                          <a:effectLst/>
                          <a:latin typeface="Calibri" panose="020F0502020204030204" pitchFamily="34" charset="0"/>
                        </a:rPr>
                        <a:t>Termination</a:t>
                      </a:r>
                    </a:p>
                  </a:txBody>
                  <a:tcPr marL="9525" marR="9525" marT="9525" marB="0" anchor="ctr"/>
                </a:tc>
                <a:tc>
                  <a:txBody>
                    <a:bodyPr/>
                    <a:lstStyle/>
                    <a:p>
                      <a:pPr algn="ctr"/>
                      <a:r>
                        <a:rPr lang="en-US" sz="1400" dirty="0">
                          <a:solidFill>
                            <a:schemeClr val="tx2">
                              <a:lumMod val="50000"/>
                            </a:schemeClr>
                          </a:solidFill>
                          <a:latin typeface="+mn-lt"/>
                        </a:rPr>
                        <a:t>$5</a:t>
                      </a:r>
                    </a:p>
                  </a:txBody>
                  <a:tcPr anchor="ctr"/>
                </a:tc>
                <a:tc>
                  <a:txBody>
                    <a:bodyPr/>
                    <a:lstStyle/>
                    <a:p>
                      <a:pPr algn="ctr"/>
                      <a:r>
                        <a:rPr lang="en-US" sz="1400" dirty="0">
                          <a:solidFill>
                            <a:schemeClr val="tx2">
                              <a:lumMod val="50000"/>
                            </a:schemeClr>
                          </a:solidFill>
                          <a:latin typeface="+mn-lt"/>
                        </a:rPr>
                        <a:t>$9</a:t>
                      </a:r>
                    </a:p>
                  </a:txBody>
                  <a:tcPr anchor="ctr"/>
                </a:tc>
                <a:tc vMerge="1">
                  <a:txBody>
                    <a:bodyPr/>
                    <a:lstStyle/>
                    <a:p>
                      <a:pPr algn="ctr"/>
                      <a:endParaRPr lang="en-US" sz="1400" dirty="0">
                        <a:solidFill>
                          <a:schemeClr val="tx2">
                            <a:lumMod val="50000"/>
                          </a:schemeClr>
                        </a:solidFill>
                        <a:latin typeface="+mn-lt"/>
                      </a:endParaRPr>
                    </a:p>
                  </a:txBody>
                  <a:tcPr/>
                </a:tc>
                <a:extLst>
                  <a:ext uri="{0D108BD9-81ED-4DB2-BD59-A6C34878D82A}">
                    <a16:rowId xmlns:a16="http://schemas.microsoft.com/office/drawing/2014/main" val="1452775085"/>
                  </a:ext>
                </a:extLst>
              </a:tr>
              <a:tr h="238591">
                <a:tc>
                  <a:txBody>
                    <a:bodyPr/>
                    <a:lstStyle/>
                    <a:p>
                      <a:pPr algn="l" fontAlgn="t"/>
                      <a:r>
                        <a:rPr lang="en-GB" sz="1400" b="0" i="0" u="none" strike="noStrike" dirty="0">
                          <a:solidFill>
                            <a:srgbClr val="000000"/>
                          </a:solidFill>
                          <a:effectLst/>
                          <a:latin typeface="Calibri" panose="020F0502020204030204" pitchFamily="34" charset="0"/>
                        </a:rPr>
                        <a:t>PCI compliance</a:t>
                      </a: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2">
                              <a:lumMod val="50000"/>
                            </a:schemeClr>
                          </a:solidFill>
                          <a:latin typeface="+mn-lt"/>
                        </a:rPr>
                        <a:t>$5</a:t>
                      </a:r>
                    </a:p>
                  </a:txBody>
                  <a:tcPr anchor="ctr"/>
                </a:tc>
                <a:tc>
                  <a:txBody>
                    <a:bodyPr/>
                    <a:lstStyle/>
                    <a:p>
                      <a:pPr algn="ctr"/>
                      <a:r>
                        <a:rPr lang="en-US" sz="1400" dirty="0">
                          <a:solidFill>
                            <a:schemeClr val="tx2">
                              <a:lumMod val="50000"/>
                            </a:schemeClr>
                          </a:solidFill>
                          <a:latin typeface="+mn-lt"/>
                        </a:rPr>
                        <a:t>$11</a:t>
                      </a:r>
                    </a:p>
                  </a:txBody>
                  <a:tcPr anchor="ctr"/>
                </a:tc>
                <a:tc vMerge="1">
                  <a:txBody>
                    <a:bodyPr/>
                    <a:lstStyle/>
                    <a:p>
                      <a:pPr algn="ctr"/>
                      <a:endParaRPr lang="en-US" sz="1400" dirty="0">
                        <a:solidFill>
                          <a:schemeClr val="tx2">
                            <a:lumMod val="50000"/>
                          </a:schemeClr>
                        </a:solidFill>
                        <a:latin typeface="+mn-lt"/>
                      </a:endParaRPr>
                    </a:p>
                  </a:txBody>
                  <a:tcPr/>
                </a:tc>
                <a:extLst>
                  <a:ext uri="{0D108BD9-81ED-4DB2-BD59-A6C34878D82A}">
                    <a16:rowId xmlns:a16="http://schemas.microsoft.com/office/drawing/2014/main" val="1894595677"/>
                  </a:ext>
                </a:extLst>
              </a:tr>
              <a:tr h="238591">
                <a:tc>
                  <a:txBody>
                    <a:bodyPr/>
                    <a:lstStyle/>
                    <a:p>
                      <a:pPr algn="l" fontAlgn="t"/>
                      <a:r>
                        <a:rPr lang="en-GB" sz="1400" b="0" i="0" u="none" strike="noStrike" dirty="0">
                          <a:solidFill>
                            <a:srgbClr val="000000"/>
                          </a:solidFill>
                          <a:effectLst/>
                          <a:latin typeface="Calibri" panose="020F0502020204030204" pitchFamily="34" charset="0"/>
                        </a:rPr>
                        <a:t>Disclosures</a:t>
                      </a: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2">
                              <a:lumMod val="50000"/>
                            </a:schemeClr>
                          </a:solidFill>
                          <a:latin typeface="+mn-lt"/>
                        </a:rPr>
                        <a:t>$5</a:t>
                      </a:r>
                    </a:p>
                  </a:txBody>
                  <a:tcPr anchor="ctr"/>
                </a:tc>
                <a:tc>
                  <a:txBody>
                    <a:bodyPr/>
                    <a:lstStyle/>
                    <a:p>
                      <a:pPr algn="ctr"/>
                      <a:r>
                        <a:rPr lang="en-US" sz="1400" dirty="0">
                          <a:solidFill>
                            <a:schemeClr val="tx2">
                              <a:lumMod val="50000"/>
                            </a:schemeClr>
                          </a:solidFill>
                          <a:latin typeface="+mn-lt"/>
                        </a:rPr>
                        <a:t>$8</a:t>
                      </a:r>
                    </a:p>
                  </a:txBody>
                  <a:tcPr anchor="ctr"/>
                </a:tc>
                <a:tc vMerge="1">
                  <a:txBody>
                    <a:bodyPr/>
                    <a:lstStyle/>
                    <a:p>
                      <a:pPr algn="ctr"/>
                      <a:endParaRPr lang="en-US" sz="1400" dirty="0">
                        <a:solidFill>
                          <a:schemeClr val="tx2">
                            <a:lumMod val="50000"/>
                          </a:schemeClr>
                        </a:solidFill>
                        <a:latin typeface="+mn-lt"/>
                      </a:endParaRPr>
                    </a:p>
                  </a:txBody>
                  <a:tcPr/>
                </a:tc>
                <a:extLst>
                  <a:ext uri="{0D108BD9-81ED-4DB2-BD59-A6C34878D82A}">
                    <a16:rowId xmlns:a16="http://schemas.microsoft.com/office/drawing/2014/main" val="529775742"/>
                  </a:ext>
                </a:extLst>
              </a:tr>
            </a:tbl>
          </a:graphicData>
        </a:graphic>
      </p:graphicFrame>
      <p:sp>
        <p:nvSpPr>
          <p:cNvPr id="5" name="TextBox 4">
            <a:extLst>
              <a:ext uri="{FF2B5EF4-FFF2-40B4-BE49-F238E27FC236}">
                <a16:creationId xmlns:a16="http://schemas.microsoft.com/office/drawing/2014/main" id="{A3B98B42-D94F-FC4D-B712-0B38D10D574D}"/>
              </a:ext>
            </a:extLst>
          </p:cNvPr>
          <p:cNvSpPr txBox="1"/>
          <p:nvPr/>
        </p:nvSpPr>
        <p:spPr>
          <a:xfrm>
            <a:off x="1635211" y="1323833"/>
            <a:ext cx="3196096" cy="382541"/>
          </a:xfrm>
          <a:prstGeom prst="rect">
            <a:avLst/>
          </a:prstGeom>
          <a:noFill/>
        </p:spPr>
        <p:txBody>
          <a:bodyPr wrap="square" rtlCol="0">
            <a:spAutoFit/>
          </a:bodyPr>
          <a:lstStyle/>
          <a:p>
            <a:r>
              <a:rPr lang="en-US" dirty="0" err="1">
                <a:solidFill>
                  <a:schemeClr val="tx2">
                    <a:lumMod val="50000"/>
                  </a:schemeClr>
                </a:solidFill>
              </a:rPr>
              <a:t>Ekko</a:t>
            </a:r>
            <a:r>
              <a:rPr lang="en-US" dirty="0">
                <a:solidFill>
                  <a:schemeClr val="tx2">
                    <a:lumMod val="50000"/>
                  </a:schemeClr>
                </a:solidFill>
              </a:rPr>
              <a:t> Compliance</a:t>
            </a:r>
          </a:p>
        </p:txBody>
      </p:sp>
    </p:spTree>
    <p:extLst>
      <p:ext uri="{BB962C8B-B14F-4D97-AF65-F5344CB8AC3E}">
        <p14:creationId xmlns:p14="http://schemas.microsoft.com/office/powerpoint/2010/main" val="69969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6119010" cy="1466349"/>
          </a:xfrm>
        </p:spPr>
        <p:txBody>
          <a:bodyPr/>
          <a:lstStyle/>
          <a:p>
            <a:r>
              <a:rPr lang="en-US" dirty="0"/>
              <a:t>…or we express the bundles with labels which enable customers to self identify</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28066"/>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Table 2">
            <a:extLst>
              <a:ext uri="{FF2B5EF4-FFF2-40B4-BE49-F238E27FC236}">
                <a16:creationId xmlns:a16="http://schemas.microsoft.com/office/drawing/2014/main" id="{99DF89FF-F808-3143-966F-7C97FAFC4261}"/>
              </a:ext>
            </a:extLst>
          </p:cNvPr>
          <p:cNvGraphicFramePr>
            <a:graphicFrameLocks noGrp="1"/>
          </p:cNvGraphicFramePr>
          <p:nvPr>
            <p:extLst>
              <p:ext uri="{D42A27DB-BD31-4B8C-83A1-F6EECF244321}">
                <p14:modId xmlns:p14="http://schemas.microsoft.com/office/powerpoint/2010/main" val="2773321683"/>
              </p:ext>
            </p:extLst>
          </p:nvPr>
        </p:nvGraphicFramePr>
        <p:xfrm>
          <a:off x="1635211" y="1953983"/>
          <a:ext cx="6604001" cy="3152309"/>
        </p:xfrm>
        <a:graphic>
          <a:graphicData uri="http://schemas.openxmlformats.org/drawingml/2006/table">
            <a:tbl>
              <a:tblPr firstRow="1" bandRow="1">
                <a:tableStyleId>{5C22544A-7EE6-4342-B048-85BDC9FD1C3A}</a:tableStyleId>
              </a:tblPr>
              <a:tblGrid>
                <a:gridCol w="2186162">
                  <a:extLst>
                    <a:ext uri="{9D8B030D-6E8A-4147-A177-3AD203B41FA5}">
                      <a16:colId xmlns:a16="http://schemas.microsoft.com/office/drawing/2014/main" val="197163883"/>
                    </a:ext>
                  </a:extLst>
                </a:gridCol>
                <a:gridCol w="1472613">
                  <a:extLst>
                    <a:ext uri="{9D8B030D-6E8A-4147-A177-3AD203B41FA5}">
                      <a16:colId xmlns:a16="http://schemas.microsoft.com/office/drawing/2014/main" val="2796295587"/>
                    </a:ext>
                  </a:extLst>
                </a:gridCol>
                <a:gridCol w="1472613">
                  <a:extLst>
                    <a:ext uri="{9D8B030D-6E8A-4147-A177-3AD203B41FA5}">
                      <a16:colId xmlns:a16="http://schemas.microsoft.com/office/drawing/2014/main" val="4220225863"/>
                    </a:ext>
                  </a:extLst>
                </a:gridCol>
                <a:gridCol w="1472613">
                  <a:extLst>
                    <a:ext uri="{9D8B030D-6E8A-4147-A177-3AD203B41FA5}">
                      <a16:colId xmlns:a16="http://schemas.microsoft.com/office/drawing/2014/main" val="179081237"/>
                    </a:ext>
                  </a:extLst>
                </a:gridCol>
              </a:tblGrid>
              <a:tr h="357886">
                <a:tc>
                  <a:txBody>
                    <a:bodyPr/>
                    <a:lstStyle/>
                    <a:p>
                      <a:endParaRPr lang="en-US" sz="2000" dirty="0"/>
                    </a:p>
                  </a:txBody>
                  <a:tcPr>
                    <a:noFill/>
                  </a:tcPr>
                </a:tc>
                <a:tc>
                  <a:txBody>
                    <a:bodyPr/>
                    <a:lstStyle/>
                    <a:p>
                      <a:pPr algn="ctr"/>
                      <a:r>
                        <a:rPr lang="en-US" sz="1600" dirty="0"/>
                        <a:t>Beginner</a:t>
                      </a:r>
                    </a:p>
                  </a:txBody>
                  <a:tcPr/>
                </a:tc>
                <a:tc>
                  <a:txBody>
                    <a:bodyPr/>
                    <a:lstStyle/>
                    <a:p>
                      <a:pPr algn="ctr"/>
                      <a:r>
                        <a:rPr lang="en-US" sz="1600" dirty="0"/>
                        <a:t>Intermediate</a:t>
                      </a:r>
                    </a:p>
                  </a:txBody>
                  <a:tcPr/>
                </a:tc>
                <a:tc>
                  <a:txBody>
                    <a:bodyPr/>
                    <a:lstStyle/>
                    <a:p>
                      <a:pPr algn="ctr"/>
                      <a:r>
                        <a:rPr lang="en-US" sz="1600" dirty="0"/>
                        <a:t>Expert</a:t>
                      </a:r>
                    </a:p>
                  </a:txBody>
                  <a:tcPr/>
                </a:tc>
                <a:extLst>
                  <a:ext uri="{0D108BD9-81ED-4DB2-BD59-A6C34878D82A}">
                    <a16:rowId xmlns:a16="http://schemas.microsoft.com/office/drawing/2014/main" val="1112637302"/>
                  </a:ext>
                </a:extLst>
              </a:tr>
              <a:tr h="238591">
                <a:tc>
                  <a:txBody>
                    <a:bodyPr/>
                    <a:lstStyle/>
                    <a:p>
                      <a:pPr algn="l" fontAlgn="t"/>
                      <a:r>
                        <a:rPr lang="en-GB" sz="1400" b="0" i="0" u="none" strike="noStrike" dirty="0">
                          <a:solidFill>
                            <a:srgbClr val="000000"/>
                          </a:solidFill>
                          <a:effectLst/>
                          <a:latin typeface="Calibri" panose="020F0502020204030204" pitchFamily="34" charset="0"/>
                        </a:rPr>
                        <a:t>Hardship identification</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3454541276"/>
                  </a:ext>
                </a:extLst>
              </a:tr>
              <a:tr h="238591">
                <a:tc>
                  <a:txBody>
                    <a:bodyPr/>
                    <a:lstStyle/>
                    <a:p>
                      <a:pPr algn="l" fontAlgn="t"/>
                      <a:r>
                        <a:rPr lang="en-GB" sz="1400" b="0" i="0" u="none" strike="noStrike" dirty="0">
                          <a:solidFill>
                            <a:srgbClr val="000000"/>
                          </a:solidFill>
                          <a:effectLst/>
                          <a:latin typeface="Calibri" panose="020F0502020204030204" pitchFamily="34" charset="0"/>
                        </a:rPr>
                        <a:t>Verification</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3646616314"/>
                  </a:ext>
                </a:extLst>
              </a:tr>
              <a:tr h="238591">
                <a:tc>
                  <a:txBody>
                    <a:bodyPr/>
                    <a:lstStyle/>
                    <a:p>
                      <a:pPr algn="l" fontAlgn="t"/>
                      <a:r>
                        <a:rPr lang="en-GB" sz="1400" b="0" i="0" u="none" strike="noStrike" dirty="0">
                          <a:solidFill>
                            <a:srgbClr val="000000"/>
                          </a:solidFill>
                          <a:effectLst/>
                          <a:latin typeface="Calibri" panose="020F0502020204030204" pitchFamily="34" charset="0"/>
                        </a:rPr>
                        <a:t>Pressurized Selling</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425987954"/>
                  </a:ext>
                </a:extLst>
              </a:tr>
              <a:tr h="238591">
                <a:tc>
                  <a:txBody>
                    <a:bodyPr/>
                    <a:lstStyle/>
                    <a:p>
                      <a:pPr algn="l" fontAlgn="t"/>
                      <a:r>
                        <a:rPr lang="en-GB" sz="1400" b="0" i="0" u="none" strike="noStrike" dirty="0">
                          <a:solidFill>
                            <a:srgbClr val="000000"/>
                          </a:solidFill>
                          <a:effectLst/>
                          <a:latin typeface="Calibri" panose="020F0502020204030204" pitchFamily="34" charset="0"/>
                        </a:rPr>
                        <a:t>Mis-selling</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2474872973"/>
                  </a:ext>
                </a:extLst>
              </a:tr>
              <a:tr h="238591">
                <a:tc>
                  <a:txBody>
                    <a:bodyPr/>
                    <a:lstStyle/>
                    <a:p>
                      <a:pPr algn="l" fontAlgn="t"/>
                      <a:r>
                        <a:rPr lang="en-GB" sz="1400" b="0" i="0" u="none" strike="noStrike" dirty="0">
                          <a:solidFill>
                            <a:srgbClr val="000000"/>
                          </a:solidFill>
                          <a:effectLst/>
                          <a:latin typeface="Calibri" panose="020F0502020204030204" pitchFamily="34" charset="0"/>
                        </a:rPr>
                        <a:t>Termination</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1452775085"/>
                  </a:ext>
                </a:extLst>
              </a:tr>
              <a:tr h="238591">
                <a:tc>
                  <a:txBody>
                    <a:bodyPr/>
                    <a:lstStyle/>
                    <a:p>
                      <a:pPr algn="l" fontAlgn="t"/>
                      <a:r>
                        <a:rPr lang="en-GB" sz="1400" b="0" i="0" u="none" strike="noStrike" dirty="0">
                          <a:solidFill>
                            <a:srgbClr val="000000"/>
                          </a:solidFill>
                          <a:effectLst/>
                          <a:latin typeface="Calibri" panose="020F0502020204030204" pitchFamily="34" charset="0"/>
                        </a:rPr>
                        <a:t>PCI compliance</a:t>
                      </a: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1894595677"/>
                  </a:ext>
                </a:extLst>
              </a:tr>
              <a:tr h="238591">
                <a:tc>
                  <a:txBody>
                    <a:bodyPr/>
                    <a:lstStyle/>
                    <a:p>
                      <a:pPr algn="l" fontAlgn="t"/>
                      <a:r>
                        <a:rPr lang="en-GB" sz="1400" b="0" i="0" u="none" strike="noStrike" dirty="0">
                          <a:solidFill>
                            <a:srgbClr val="000000"/>
                          </a:solidFill>
                          <a:effectLst/>
                          <a:latin typeface="Calibri" panose="020F0502020204030204" pitchFamily="34" charset="0"/>
                        </a:rPr>
                        <a:t>Disclosures</a:t>
                      </a: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529775742"/>
                  </a:ext>
                </a:extLst>
              </a:tr>
              <a:tr h="622469">
                <a:tc>
                  <a:txBody>
                    <a:bodyPr/>
                    <a:lstStyle/>
                    <a:p>
                      <a:pPr algn="l" fontAlgn="t"/>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a:r>
                        <a:rPr lang="en-US" sz="1800" dirty="0">
                          <a:solidFill>
                            <a:schemeClr val="tx2">
                              <a:lumMod val="50000"/>
                            </a:schemeClr>
                          </a:solidFill>
                          <a:latin typeface="+mn-lt"/>
                        </a:rPr>
                        <a:t>$45</a:t>
                      </a:r>
                    </a:p>
                  </a:txBody>
                  <a:tcPr anchor="ctr"/>
                </a:tc>
                <a:tc>
                  <a:txBody>
                    <a:bodyPr/>
                    <a:lstStyle/>
                    <a:p>
                      <a:pPr algn="ctr"/>
                      <a:r>
                        <a:rPr lang="en-US" sz="1800" dirty="0">
                          <a:solidFill>
                            <a:schemeClr val="tx2">
                              <a:lumMod val="50000"/>
                            </a:schemeClr>
                          </a:solidFill>
                          <a:latin typeface="+mn-lt"/>
                        </a:rPr>
                        <a:t>$60</a:t>
                      </a:r>
                    </a:p>
                  </a:txBody>
                  <a:tcPr anchor="ctr"/>
                </a:tc>
                <a:tc>
                  <a:txBody>
                    <a:bodyPr/>
                    <a:lstStyle/>
                    <a:p>
                      <a:pPr algn="ctr"/>
                      <a:r>
                        <a:rPr lang="en-US" sz="1800" dirty="0">
                          <a:solidFill>
                            <a:schemeClr val="tx2">
                              <a:lumMod val="50000"/>
                            </a:schemeClr>
                          </a:solidFill>
                          <a:latin typeface="+mn-lt"/>
                        </a:rPr>
                        <a:t>$neg</a:t>
                      </a:r>
                    </a:p>
                  </a:txBody>
                  <a:tcPr anchor="ctr"/>
                </a:tc>
                <a:extLst>
                  <a:ext uri="{0D108BD9-81ED-4DB2-BD59-A6C34878D82A}">
                    <a16:rowId xmlns:a16="http://schemas.microsoft.com/office/drawing/2014/main" val="2417076128"/>
                  </a:ext>
                </a:extLst>
              </a:tr>
            </a:tbl>
          </a:graphicData>
        </a:graphic>
      </p:graphicFrame>
      <p:sp>
        <p:nvSpPr>
          <p:cNvPr id="5" name="TextBox 4">
            <a:extLst>
              <a:ext uri="{FF2B5EF4-FFF2-40B4-BE49-F238E27FC236}">
                <a16:creationId xmlns:a16="http://schemas.microsoft.com/office/drawing/2014/main" id="{A3B98B42-D94F-FC4D-B712-0B38D10D574D}"/>
              </a:ext>
            </a:extLst>
          </p:cNvPr>
          <p:cNvSpPr txBox="1"/>
          <p:nvPr/>
        </p:nvSpPr>
        <p:spPr>
          <a:xfrm>
            <a:off x="1635211" y="1323833"/>
            <a:ext cx="3196096" cy="382541"/>
          </a:xfrm>
          <a:prstGeom prst="rect">
            <a:avLst/>
          </a:prstGeom>
          <a:noFill/>
        </p:spPr>
        <p:txBody>
          <a:bodyPr wrap="square" rtlCol="0">
            <a:spAutoFit/>
          </a:bodyPr>
          <a:lstStyle/>
          <a:p>
            <a:r>
              <a:rPr lang="en-US" dirty="0" err="1">
                <a:solidFill>
                  <a:schemeClr val="tx2">
                    <a:lumMod val="50000"/>
                  </a:schemeClr>
                </a:solidFill>
              </a:rPr>
              <a:t>Ekko</a:t>
            </a:r>
            <a:r>
              <a:rPr lang="en-US" dirty="0">
                <a:solidFill>
                  <a:schemeClr val="tx2">
                    <a:lumMod val="50000"/>
                  </a:schemeClr>
                </a:solidFill>
              </a:rPr>
              <a:t> Compliance</a:t>
            </a:r>
          </a:p>
        </p:txBody>
      </p:sp>
      <p:sp>
        <p:nvSpPr>
          <p:cNvPr id="6" name="TextBox 5">
            <a:extLst>
              <a:ext uri="{FF2B5EF4-FFF2-40B4-BE49-F238E27FC236}">
                <a16:creationId xmlns:a16="http://schemas.microsoft.com/office/drawing/2014/main" id="{C18BCA97-B524-B24D-9D63-721F6D3E2DB9}"/>
              </a:ext>
            </a:extLst>
          </p:cNvPr>
          <p:cNvSpPr txBox="1"/>
          <p:nvPr/>
        </p:nvSpPr>
        <p:spPr>
          <a:xfrm>
            <a:off x="4080681" y="5459105"/>
            <a:ext cx="2565779" cy="400110"/>
          </a:xfrm>
          <a:prstGeom prst="rect">
            <a:avLst/>
          </a:prstGeom>
          <a:noFill/>
        </p:spPr>
        <p:txBody>
          <a:bodyPr wrap="square" rtlCol="0">
            <a:spAutoFit/>
          </a:bodyPr>
          <a:lstStyle/>
          <a:p>
            <a:r>
              <a:rPr lang="en-US" sz="2000" dirty="0">
                <a:solidFill>
                  <a:srgbClr val="FF0000"/>
                </a:solidFill>
                <a:latin typeface="Webdings" pitchFamily="2" charset="2"/>
              </a:rPr>
              <a:t>a</a:t>
            </a:r>
            <a:r>
              <a:rPr lang="en-US" sz="2000" dirty="0">
                <a:solidFill>
                  <a:srgbClr val="00B050"/>
                </a:solidFill>
              </a:rPr>
              <a:t> </a:t>
            </a:r>
            <a:r>
              <a:rPr lang="en-US" sz="2000" dirty="0">
                <a:solidFill>
                  <a:schemeClr val="tx2">
                    <a:lumMod val="50000"/>
                  </a:schemeClr>
                </a:solidFill>
              </a:rPr>
              <a:t>– To be developed</a:t>
            </a:r>
            <a:endParaRPr lang="en-US" dirty="0">
              <a:solidFill>
                <a:schemeClr val="tx2">
                  <a:lumMod val="50000"/>
                </a:schemeClr>
              </a:solidFill>
            </a:endParaRPr>
          </a:p>
        </p:txBody>
      </p:sp>
    </p:spTree>
    <p:extLst>
      <p:ext uri="{BB962C8B-B14F-4D97-AF65-F5344CB8AC3E}">
        <p14:creationId xmlns:p14="http://schemas.microsoft.com/office/powerpoint/2010/main" val="2997895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535870" cy="1466349"/>
          </a:xfrm>
        </p:spPr>
        <p:txBody>
          <a:bodyPr/>
          <a:lstStyle/>
          <a:p>
            <a:r>
              <a:rPr lang="en-US" dirty="0"/>
              <a:t>…or we assume sophistication correlates with size </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28066"/>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Table 2">
            <a:extLst>
              <a:ext uri="{FF2B5EF4-FFF2-40B4-BE49-F238E27FC236}">
                <a16:creationId xmlns:a16="http://schemas.microsoft.com/office/drawing/2014/main" id="{99DF89FF-F808-3143-966F-7C97FAFC4261}"/>
              </a:ext>
            </a:extLst>
          </p:cNvPr>
          <p:cNvGraphicFramePr>
            <a:graphicFrameLocks noGrp="1"/>
          </p:cNvGraphicFramePr>
          <p:nvPr>
            <p:extLst>
              <p:ext uri="{D42A27DB-BD31-4B8C-83A1-F6EECF244321}">
                <p14:modId xmlns:p14="http://schemas.microsoft.com/office/powerpoint/2010/main" val="2063729581"/>
              </p:ext>
            </p:extLst>
          </p:nvPr>
        </p:nvGraphicFramePr>
        <p:xfrm>
          <a:off x="1635211" y="1953983"/>
          <a:ext cx="6604001" cy="3152309"/>
        </p:xfrm>
        <a:graphic>
          <a:graphicData uri="http://schemas.openxmlformats.org/drawingml/2006/table">
            <a:tbl>
              <a:tblPr firstRow="1" bandRow="1">
                <a:tableStyleId>{5C22544A-7EE6-4342-B048-85BDC9FD1C3A}</a:tableStyleId>
              </a:tblPr>
              <a:tblGrid>
                <a:gridCol w="2186162">
                  <a:extLst>
                    <a:ext uri="{9D8B030D-6E8A-4147-A177-3AD203B41FA5}">
                      <a16:colId xmlns:a16="http://schemas.microsoft.com/office/drawing/2014/main" val="197163883"/>
                    </a:ext>
                  </a:extLst>
                </a:gridCol>
                <a:gridCol w="1472613">
                  <a:extLst>
                    <a:ext uri="{9D8B030D-6E8A-4147-A177-3AD203B41FA5}">
                      <a16:colId xmlns:a16="http://schemas.microsoft.com/office/drawing/2014/main" val="2796295587"/>
                    </a:ext>
                  </a:extLst>
                </a:gridCol>
                <a:gridCol w="1472613">
                  <a:extLst>
                    <a:ext uri="{9D8B030D-6E8A-4147-A177-3AD203B41FA5}">
                      <a16:colId xmlns:a16="http://schemas.microsoft.com/office/drawing/2014/main" val="4220225863"/>
                    </a:ext>
                  </a:extLst>
                </a:gridCol>
                <a:gridCol w="1472613">
                  <a:extLst>
                    <a:ext uri="{9D8B030D-6E8A-4147-A177-3AD203B41FA5}">
                      <a16:colId xmlns:a16="http://schemas.microsoft.com/office/drawing/2014/main" val="179081237"/>
                    </a:ext>
                  </a:extLst>
                </a:gridCol>
              </a:tblGrid>
              <a:tr h="357886">
                <a:tc>
                  <a:txBody>
                    <a:bodyPr/>
                    <a:lstStyle/>
                    <a:p>
                      <a:endParaRPr lang="en-US" sz="2000" dirty="0"/>
                    </a:p>
                  </a:txBody>
                  <a:tcPr>
                    <a:noFill/>
                  </a:tcPr>
                </a:tc>
                <a:tc>
                  <a:txBody>
                    <a:bodyPr/>
                    <a:lstStyle/>
                    <a:p>
                      <a:pPr algn="ctr"/>
                      <a:r>
                        <a:rPr lang="en-US" sz="1600" dirty="0"/>
                        <a:t>Small</a:t>
                      </a:r>
                    </a:p>
                  </a:txBody>
                  <a:tcPr/>
                </a:tc>
                <a:tc>
                  <a:txBody>
                    <a:bodyPr/>
                    <a:lstStyle/>
                    <a:p>
                      <a:pPr algn="ctr"/>
                      <a:r>
                        <a:rPr lang="en-US" sz="1600" dirty="0"/>
                        <a:t>Medium</a:t>
                      </a:r>
                    </a:p>
                  </a:txBody>
                  <a:tcPr/>
                </a:tc>
                <a:tc>
                  <a:txBody>
                    <a:bodyPr/>
                    <a:lstStyle/>
                    <a:p>
                      <a:pPr algn="ctr"/>
                      <a:r>
                        <a:rPr lang="en-US" sz="1600" dirty="0"/>
                        <a:t>Large</a:t>
                      </a:r>
                    </a:p>
                  </a:txBody>
                  <a:tcPr/>
                </a:tc>
                <a:extLst>
                  <a:ext uri="{0D108BD9-81ED-4DB2-BD59-A6C34878D82A}">
                    <a16:rowId xmlns:a16="http://schemas.microsoft.com/office/drawing/2014/main" val="1112637302"/>
                  </a:ext>
                </a:extLst>
              </a:tr>
              <a:tr h="238591">
                <a:tc>
                  <a:txBody>
                    <a:bodyPr/>
                    <a:lstStyle/>
                    <a:p>
                      <a:pPr algn="l" fontAlgn="t"/>
                      <a:r>
                        <a:rPr lang="en-GB" sz="1400" b="0" i="0" u="none" strike="noStrike" dirty="0">
                          <a:solidFill>
                            <a:srgbClr val="000000"/>
                          </a:solidFill>
                          <a:effectLst/>
                          <a:latin typeface="Calibri" panose="020F0502020204030204" pitchFamily="34" charset="0"/>
                        </a:rPr>
                        <a:t>Hardship identification</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3454541276"/>
                  </a:ext>
                </a:extLst>
              </a:tr>
              <a:tr h="238591">
                <a:tc>
                  <a:txBody>
                    <a:bodyPr/>
                    <a:lstStyle/>
                    <a:p>
                      <a:pPr algn="l" fontAlgn="t"/>
                      <a:r>
                        <a:rPr lang="en-GB" sz="1400" b="0" i="0" u="none" strike="noStrike" dirty="0">
                          <a:solidFill>
                            <a:srgbClr val="000000"/>
                          </a:solidFill>
                          <a:effectLst/>
                          <a:latin typeface="Calibri" panose="020F0502020204030204" pitchFamily="34" charset="0"/>
                        </a:rPr>
                        <a:t>Verification</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3646616314"/>
                  </a:ext>
                </a:extLst>
              </a:tr>
              <a:tr h="238591">
                <a:tc>
                  <a:txBody>
                    <a:bodyPr/>
                    <a:lstStyle/>
                    <a:p>
                      <a:pPr algn="l" fontAlgn="t"/>
                      <a:r>
                        <a:rPr lang="en-GB" sz="1400" b="0" i="0" u="none" strike="noStrike" dirty="0">
                          <a:solidFill>
                            <a:srgbClr val="000000"/>
                          </a:solidFill>
                          <a:effectLst/>
                          <a:latin typeface="Calibri" panose="020F0502020204030204" pitchFamily="34" charset="0"/>
                        </a:rPr>
                        <a:t>Pressurized Selling</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425987954"/>
                  </a:ext>
                </a:extLst>
              </a:tr>
              <a:tr h="238591">
                <a:tc>
                  <a:txBody>
                    <a:bodyPr/>
                    <a:lstStyle/>
                    <a:p>
                      <a:pPr algn="l" fontAlgn="t"/>
                      <a:r>
                        <a:rPr lang="en-GB" sz="1400" b="0" i="0" u="none" strike="noStrike" dirty="0">
                          <a:solidFill>
                            <a:srgbClr val="000000"/>
                          </a:solidFill>
                          <a:effectLst/>
                          <a:latin typeface="Calibri" panose="020F0502020204030204" pitchFamily="34" charset="0"/>
                        </a:rPr>
                        <a:t>Mis-selling</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2474872973"/>
                  </a:ext>
                </a:extLst>
              </a:tr>
              <a:tr h="238591">
                <a:tc>
                  <a:txBody>
                    <a:bodyPr/>
                    <a:lstStyle/>
                    <a:p>
                      <a:pPr algn="l" fontAlgn="t"/>
                      <a:r>
                        <a:rPr lang="en-GB" sz="1400" b="0" i="0" u="none" strike="noStrike" dirty="0">
                          <a:solidFill>
                            <a:srgbClr val="000000"/>
                          </a:solidFill>
                          <a:effectLst/>
                          <a:latin typeface="Calibri" panose="020F0502020204030204" pitchFamily="34" charset="0"/>
                        </a:rPr>
                        <a:t>Termination</a:t>
                      </a:r>
                    </a:p>
                  </a:txBody>
                  <a:tcPr marL="9525" marR="9525" marT="9525" marB="0"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1452775085"/>
                  </a:ext>
                </a:extLst>
              </a:tr>
              <a:tr h="238591">
                <a:tc>
                  <a:txBody>
                    <a:bodyPr/>
                    <a:lstStyle/>
                    <a:p>
                      <a:pPr algn="l" fontAlgn="t"/>
                      <a:r>
                        <a:rPr lang="en-GB" sz="1400" b="0" i="0" u="none" strike="noStrike" dirty="0">
                          <a:solidFill>
                            <a:srgbClr val="000000"/>
                          </a:solidFill>
                          <a:effectLst/>
                          <a:latin typeface="Calibri" panose="020F0502020204030204" pitchFamily="34" charset="0"/>
                        </a:rPr>
                        <a:t>PCI compliance</a:t>
                      </a: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1894595677"/>
                  </a:ext>
                </a:extLst>
              </a:tr>
              <a:tr h="238591">
                <a:tc>
                  <a:txBody>
                    <a:bodyPr/>
                    <a:lstStyle/>
                    <a:p>
                      <a:pPr algn="l" fontAlgn="t"/>
                      <a:r>
                        <a:rPr lang="en-GB" sz="1400" b="0" i="0" u="none" strike="noStrike" dirty="0">
                          <a:solidFill>
                            <a:srgbClr val="000000"/>
                          </a:solidFill>
                          <a:effectLst/>
                          <a:latin typeface="Calibri" panose="020F0502020204030204" pitchFamily="34" charset="0"/>
                        </a:rPr>
                        <a:t>Disclosures</a:t>
                      </a: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latin typeface="Webdings" pitchFamily="2" charset="2"/>
                        </a:rPr>
                        <a:t>a</a:t>
                      </a:r>
                    </a:p>
                  </a:txBody>
                  <a:tcPr anchor="ctr"/>
                </a:tc>
                <a:tc>
                  <a:txBody>
                    <a:bodyPr/>
                    <a:lstStyle/>
                    <a:p>
                      <a:pPr algn="ctr"/>
                      <a:r>
                        <a:rPr lang="en-US" sz="1400" dirty="0">
                          <a:solidFill>
                            <a:schemeClr val="tx2">
                              <a:lumMod val="50000"/>
                            </a:schemeClr>
                          </a:solidFill>
                          <a:latin typeface="Webdings" pitchFamily="2" charset="2"/>
                        </a:rPr>
                        <a:t>a</a:t>
                      </a:r>
                    </a:p>
                  </a:txBody>
                  <a:tcPr anchor="ctr"/>
                </a:tc>
                <a:tc>
                  <a:txBody>
                    <a:bodyPr/>
                    <a:lstStyle/>
                    <a:p>
                      <a:pPr algn="ctr"/>
                      <a:r>
                        <a:rPr kumimoji="0" lang="en-US" sz="1400" b="0" i="0" u="none" strike="noStrike" kern="1200" cap="none" spc="0" normalizeH="0" baseline="0" noProof="0" dirty="0">
                          <a:ln>
                            <a:noFill/>
                          </a:ln>
                          <a:solidFill>
                            <a:srgbClr val="FF0000"/>
                          </a:solidFill>
                          <a:effectLst/>
                          <a:uLnTx/>
                          <a:uFillTx/>
                          <a:latin typeface="Webdings" pitchFamily="2" charset="2"/>
                          <a:ea typeface="+mn-ea"/>
                          <a:cs typeface="+mn-cs"/>
                        </a:rPr>
                        <a:t>a</a:t>
                      </a:r>
                      <a:endParaRPr lang="en-US" sz="1400" dirty="0">
                        <a:solidFill>
                          <a:srgbClr val="FF0000"/>
                        </a:solidFill>
                        <a:latin typeface="Webdings" pitchFamily="2" charset="2"/>
                      </a:endParaRPr>
                    </a:p>
                  </a:txBody>
                  <a:tcPr/>
                </a:tc>
                <a:extLst>
                  <a:ext uri="{0D108BD9-81ED-4DB2-BD59-A6C34878D82A}">
                    <a16:rowId xmlns:a16="http://schemas.microsoft.com/office/drawing/2014/main" val="529775742"/>
                  </a:ext>
                </a:extLst>
              </a:tr>
              <a:tr h="622469">
                <a:tc>
                  <a:txBody>
                    <a:bodyPr/>
                    <a:lstStyle/>
                    <a:p>
                      <a:pPr algn="l" fontAlgn="t"/>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a:r>
                        <a:rPr lang="en-US" sz="1800" dirty="0">
                          <a:solidFill>
                            <a:schemeClr val="tx2">
                              <a:lumMod val="50000"/>
                            </a:schemeClr>
                          </a:solidFill>
                          <a:latin typeface="+mn-lt"/>
                        </a:rPr>
                        <a:t>$45</a:t>
                      </a:r>
                    </a:p>
                  </a:txBody>
                  <a:tcPr anchor="ctr"/>
                </a:tc>
                <a:tc>
                  <a:txBody>
                    <a:bodyPr/>
                    <a:lstStyle/>
                    <a:p>
                      <a:pPr algn="ctr"/>
                      <a:r>
                        <a:rPr lang="en-US" sz="1800" dirty="0">
                          <a:solidFill>
                            <a:schemeClr val="tx2">
                              <a:lumMod val="50000"/>
                            </a:schemeClr>
                          </a:solidFill>
                          <a:latin typeface="+mn-lt"/>
                        </a:rPr>
                        <a:t>$60</a:t>
                      </a:r>
                    </a:p>
                  </a:txBody>
                  <a:tcPr anchor="ctr"/>
                </a:tc>
                <a:tc>
                  <a:txBody>
                    <a:bodyPr/>
                    <a:lstStyle/>
                    <a:p>
                      <a:pPr algn="ctr"/>
                      <a:r>
                        <a:rPr lang="en-US" sz="1800" dirty="0">
                          <a:solidFill>
                            <a:schemeClr val="tx2">
                              <a:lumMod val="50000"/>
                            </a:schemeClr>
                          </a:solidFill>
                          <a:latin typeface="+mn-lt"/>
                        </a:rPr>
                        <a:t>$80</a:t>
                      </a:r>
                    </a:p>
                  </a:txBody>
                  <a:tcPr anchor="ctr"/>
                </a:tc>
                <a:extLst>
                  <a:ext uri="{0D108BD9-81ED-4DB2-BD59-A6C34878D82A}">
                    <a16:rowId xmlns:a16="http://schemas.microsoft.com/office/drawing/2014/main" val="2417076128"/>
                  </a:ext>
                </a:extLst>
              </a:tr>
            </a:tbl>
          </a:graphicData>
        </a:graphic>
      </p:graphicFrame>
      <p:sp>
        <p:nvSpPr>
          <p:cNvPr id="5" name="TextBox 4">
            <a:extLst>
              <a:ext uri="{FF2B5EF4-FFF2-40B4-BE49-F238E27FC236}">
                <a16:creationId xmlns:a16="http://schemas.microsoft.com/office/drawing/2014/main" id="{A3B98B42-D94F-FC4D-B712-0B38D10D574D}"/>
              </a:ext>
            </a:extLst>
          </p:cNvPr>
          <p:cNvSpPr txBox="1"/>
          <p:nvPr/>
        </p:nvSpPr>
        <p:spPr>
          <a:xfrm>
            <a:off x="1635211" y="1323833"/>
            <a:ext cx="3196096" cy="382541"/>
          </a:xfrm>
          <a:prstGeom prst="rect">
            <a:avLst/>
          </a:prstGeom>
          <a:noFill/>
        </p:spPr>
        <p:txBody>
          <a:bodyPr wrap="square" rtlCol="0">
            <a:spAutoFit/>
          </a:bodyPr>
          <a:lstStyle/>
          <a:p>
            <a:r>
              <a:rPr lang="en-US" dirty="0" err="1">
                <a:solidFill>
                  <a:schemeClr val="tx2">
                    <a:lumMod val="50000"/>
                  </a:schemeClr>
                </a:solidFill>
              </a:rPr>
              <a:t>Ekko</a:t>
            </a:r>
            <a:r>
              <a:rPr lang="en-US" dirty="0">
                <a:solidFill>
                  <a:schemeClr val="tx2">
                    <a:lumMod val="50000"/>
                  </a:schemeClr>
                </a:solidFill>
              </a:rPr>
              <a:t> Compliance</a:t>
            </a:r>
          </a:p>
        </p:txBody>
      </p:sp>
      <p:sp>
        <p:nvSpPr>
          <p:cNvPr id="6" name="TextBox 5">
            <a:extLst>
              <a:ext uri="{FF2B5EF4-FFF2-40B4-BE49-F238E27FC236}">
                <a16:creationId xmlns:a16="http://schemas.microsoft.com/office/drawing/2014/main" id="{C18BCA97-B524-B24D-9D63-721F6D3E2DB9}"/>
              </a:ext>
            </a:extLst>
          </p:cNvPr>
          <p:cNvSpPr txBox="1"/>
          <p:nvPr/>
        </p:nvSpPr>
        <p:spPr>
          <a:xfrm>
            <a:off x="4080681" y="5459105"/>
            <a:ext cx="2565779" cy="400110"/>
          </a:xfrm>
          <a:prstGeom prst="rect">
            <a:avLst/>
          </a:prstGeom>
          <a:noFill/>
        </p:spPr>
        <p:txBody>
          <a:bodyPr wrap="square" rtlCol="0">
            <a:spAutoFit/>
          </a:bodyPr>
          <a:lstStyle/>
          <a:p>
            <a:r>
              <a:rPr lang="en-US" sz="2000" dirty="0">
                <a:solidFill>
                  <a:srgbClr val="FF0000"/>
                </a:solidFill>
                <a:latin typeface="Webdings" pitchFamily="2" charset="2"/>
              </a:rPr>
              <a:t>a</a:t>
            </a:r>
            <a:r>
              <a:rPr lang="en-US" sz="2000" dirty="0">
                <a:solidFill>
                  <a:srgbClr val="00B050"/>
                </a:solidFill>
              </a:rPr>
              <a:t> </a:t>
            </a:r>
            <a:r>
              <a:rPr lang="en-US" sz="2000" dirty="0">
                <a:solidFill>
                  <a:schemeClr val="tx2">
                    <a:lumMod val="50000"/>
                  </a:schemeClr>
                </a:solidFill>
              </a:rPr>
              <a:t>– To be developed</a:t>
            </a:r>
            <a:endParaRPr lang="en-US" dirty="0">
              <a:solidFill>
                <a:schemeClr val="tx2">
                  <a:lumMod val="50000"/>
                </a:schemeClr>
              </a:solidFill>
            </a:endParaRPr>
          </a:p>
        </p:txBody>
      </p:sp>
    </p:spTree>
    <p:extLst>
      <p:ext uri="{BB962C8B-B14F-4D97-AF65-F5344CB8AC3E}">
        <p14:creationId xmlns:p14="http://schemas.microsoft.com/office/powerpoint/2010/main" val="2941714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a:extLst>
              <a:ext uri="{FF2B5EF4-FFF2-40B4-BE49-F238E27FC236}">
                <a16:creationId xmlns:a16="http://schemas.microsoft.com/office/drawing/2014/main" id="{D56FF861-ABE7-2B4F-A7F1-58A679909E29}"/>
              </a:ext>
            </a:extLst>
          </p:cNvPr>
          <p:cNvSpPr/>
          <p:nvPr/>
        </p:nvSpPr>
        <p:spPr>
          <a:xfrm>
            <a:off x="7441299" y="1670339"/>
            <a:ext cx="395785" cy="2661313"/>
          </a:xfrm>
          <a:prstGeom prst="roundRect">
            <a:avLst/>
          </a:prstGeom>
          <a:solidFill>
            <a:schemeClr val="accent3">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Experience</a:t>
            </a:r>
          </a:p>
        </p:txBody>
      </p:sp>
      <p:sp>
        <p:nvSpPr>
          <p:cNvPr id="16" name="Rounded Rectangle 15">
            <a:extLst>
              <a:ext uri="{FF2B5EF4-FFF2-40B4-BE49-F238E27FC236}">
                <a16:creationId xmlns:a16="http://schemas.microsoft.com/office/drawing/2014/main" id="{488F182B-13C5-A34D-9BC8-BBF878A40752}"/>
              </a:ext>
            </a:extLst>
          </p:cNvPr>
          <p:cNvSpPr/>
          <p:nvPr/>
        </p:nvSpPr>
        <p:spPr>
          <a:xfrm>
            <a:off x="6846760" y="1670339"/>
            <a:ext cx="395785" cy="2661313"/>
          </a:xfrm>
          <a:prstGeom prst="roundRect">
            <a:avLst/>
          </a:prstGeom>
          <a:solidFill>
            <a:schemeClr val="accent2">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Performance</a:t>
            </a:r>
          </a:p>
        </p:txBody>
      </p:sp>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052452" cy="1466349"/>
          </a:xfrm>
        </p:spPr>
        <p:txBody>
          <a:bodyPr/>
          <a:lstStyle/>
          <a:p>
            <a:r>
              <a:rPr lang="en-US" dirty="0"/>
              <a:t>Applying this to segments by size &amp; level</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137244"/>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Table 2">
            <a:extLst>
              <a:ext uri="{FF2B5EF4-FFF2-40B4-BE49-F238E27FC236}">
                <a16:creationId xmlns:a16="http://schemas.microsoft.com/office/drawing/2014/main" id="{82C041CF-DF47-BC4B-9266-57BC2AFDE7B9}"/>
              </a:ext>
            </a:extLst>
          </p:cNvPr>
          <p:cNvGraphicFramePr>
            <a:graphicFrameLocks noGrp="1"/>
          </p:cNvGraphicFramePr>
          <p:nvPr>
            <p:extLst>
              <p:ext uri="{D42A27DB-BD31-4B8C-83A1-F6EECF244321}">
                <p14:modId xmlns:p14="http://schemas.microsoft.com/office/powerpoint/2010/main" val="2842668514"/>
              </p:ext>
            </p:extLst>
          </p:nvPr>
        </p:nvGraphicFramePr>
        <p:xfrm>
          <a:off x="1856096" y="1514901"/>
          <a:ext cx="6180540" cy="4702563"/>
        </p:xfrm>
        <a:graphic>
          <a:graphicData uri="http://schemas.openxmlformats.org/drawingml/2006/table">
            <a:tbl>
              <a:tblPr firstRow="1" bandRow="1">
                <a:tableStyleId>{5940675A-B579-460E-94D1-54222C63F5DA}</a:tableStyleId>
              </a:tblPr>
              <a:tblGrid>
                <a:gridCol w="368490">
                  <a:extLst>
                    <a:ext uri="{9D8B030D-6E8A-4147-A177-3AD203B41FA5}">
                      <a16:colId xmlns:a16="http://schemas.microsoft.com/office/drawing/2014/main" val="4111904392"/>
                    </a:ext>
                  </a:extLst>
                </a:gridCol>
                <a:gridCol w="1937350">
                  <a:extLst>
                    <a:ext uri="{9D8B030D-6E8A-4147-A177-3AD203B41FA5}">
                      <a16:colId xmlns:a16="http://schemas.microsoft.com/office/drawing/2014/main" val="3760971371"/>
                    </a:ext>
                  </a:extLst>
                </a:gridCol>
                <a:gridCol w="1937350">
                  <a:extLst>
                    <a:ext uri="{9D8B030D-6E8A-4147-A177-3AD203B41FA5}">
                      <a16:colId xmlns:a16="http://schemas.microsoft.com/office/drawing/2014/main" val="3846741787"/>
                    </a:ext>
                  </a:extLst>
                </a:gridCol>
                <a:gridCol w="1937350">
                  <a:extLst>
                    <a:ext uri="{9D8B030D-6E8A-4147-A177-3AD203B41FA5}">
                      <a16:colId xmlns:a16="http://schemas.microsoft.com/office/drawing/2014/main" val="3184536568"/>
                    </a:ext>
                  </a:extLst>
                </a:gridCol>
              </a:tblGrid>
              <a:tr h="1455761">
                <a:tc>
                  <a:txBody>
                    <a:bodyPr/>
                    <a:lstStyle/>
                    <a:p>
                      <a:r>
                        <a:rPr lang="en-US" sz="1600" dirty="0"/>
                        <a:t>Sophisticated</a:t>
                      </a:r>
                    </a:p>
                  </a:txBody>
                  <a:tcPr vert="vert270" anchor="ctr" anchorCtr="1"/>
                </a:tc>
                <a:tc>
                  <a:txBody>
                    <a:bodyPr/>
                    <a:lstStyle/>
                    <a:p>
                      <a:pPr algn="ctr"/>
                      <a:r>
                        <a:rPr lang="en-US" sz="1600" dirty="0"/>
                        <a:t>Not applicable ?</a:t>
                      </a: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79887372"/>
                  </a:ext>
                </a:extLst>
              </a:tr>
              <a:tr h="1455761">
                <a:tc>
                  <a:txBody>
                    <a:bodyPr/>
                    <a:lstStyle/>
                    <a:p>
                      <a:r>
                        <a:rPr lang="en-US" sz="1600" dirty="0"/>
                        <a:t>Configurable</a:t>
                      </a:r>
                    </a:p>
                  </a:txBody>
                  <a:tcPr vert="vert270" anchor="ctr" anchorCtr="1"/>
                </a:tc>
                <a:tc>
                  <a:txBody>
                    <a:bodyPr/>
                    <a:lstStyle/>
                    <a:p>
                      <a:r>
                        <a:rPr lang="en-US" sz="1600" dirty="0"/>
                        <a:t>Difficult to configure for a marketplace offering ?</a:t>
                      </a:r>
                    </a:p>
                  </a:txBody>
                  <a:tcPr anchor="ctr"/>
                </a:tc>
                <a:tc>
                  <a:txBody>
                    <a:bodyPr/>
                    <a:lstStyle/>
                    <a:p>
                      <a:endParaRPr lang="en-US" sz="1600" dirty="0"/>
                    </a:p>
                  </a:txBody>
                  <a:tcPr/>
                </a:tc>
                <a:tc>
                  <a:txBody>
                    <a:bodyPr/>
                    <a:lstStyle/>
                    <a:p>
                      <a:endParaRPr lang="en-US" sz="1600"/>
                    </a:p>
                  </a:txBody>
                  <a:tcPr/>
                </a:tc>
                <a:extLst>
                  <a:ext uri="{0D108BD9-81ED-4DB2-BD59-A6C34878D82A}">
                    <a16:rowId xmlns:a16="http://schemas.microsoft.com/office/drawing/2014/main" val="2094861978"/>
                  </a:ext>
                </a:extLst>
              </a:tr>
              <a:tr h="1455761">
                <a:tc>
                  <a:txBody>
                    <a:bodyPr/>
                    <a:lstStyle/>
                    <a:p>
                      <a:r>
                        <a:rPr lang="en-US" sz="1600" dirty="0"/>
                        <a:t>Standard</a:t>
                      </a:r>
                    </a:p>
                  </a:txBody>
                  <a:tcPr vert="vert270" anchor="ctr" anchorCtr="1"/>
                </a:tc>
                <a:tc>
                  <a:txBody>
                    <a:bodyPr/>
                    <a:lstStyle/>
                    <a:p>
                      <a:endParaRPr lang="en-US" sz="1600" dirty="0"/>
                    </a:p>
                  </a:txBody>
                  <a:tcPr/>
                </a:tc>
                <a:tc>
                  <a:txBody>
                    <a:bodyPr/>
                    <a:lstStyle/>
                    <a:p>
                      <a:endParaRPr lang="en-US" sz="1600"/>
                    </a:p>
                  </a:txBody>
                  <a:tcPr/>
                </a:tc>
                <a:tc>
                  <a:txBody>
                    <a:bodyPr/>
                    <a:lstStyle/>
                    <a:p>
                      <a:pPr algn="ctr"/>
                      <a:r>
                        <a:rPr lang="en-US" sz="1600" dirty="0"/>
                        <a:t>Not applicable ?</a:t>
                      </a:r>
                    </a:p>
                  </a:txBody>
                  <a:tcPr anchor="ctr"/>
                </a:tc>
                <a:extLst>
                  <a:ext uri="{0D108BD9-81ED-4DB2-BD59-A6C34878D82A}">
                    <a16:rowId xmlns:a16="http://schemas.microsoft.com/office/drawing/2014/main" val="2249133003"/>
                  </a:ext>
                </a:extLst>
              </a:tr>
              <a:tr h="327547">
                <a:tc>
                  <a:txBody>
                    <a:bodyPr/>
                    <a:lstStyle/>
                    <a:p>
                      <a:endParaRPr lang="en-US" sz="1600" dirty="0"/>
                    </a:p>
                  </a:txBody>
                  <a:tcPr/>
                </a:tc>
                <a:tc>
                  <a:txBody>
                    <a:bodyPr/>
                    <a:lstStyle/>
                    <a:p>
                      <a:pPr algn="ctr"/>
                      <a:r>
                        <a:rPr lang="en-US" sz="1600" dirty="0"/>
                        <a:t>Small</a:t>
                      </a:r>
                    </a:p>
                  </a:txBody>
                  <a:tcPr/>
                </a:tc>
                <a:tc>
                  <a:txBody>
                    <a:bodyPr/>
                    <a:lstStyle/>
                    <a:p>
                      <a:pPr algn="ctr"/>
                      <a:r>
                        <a:rPr lang="en-US" sz="1600" dirty="0"/>
                        <a:t>Medium</a:t>
                      </a:r>
                    </a:p>
                  </a:txBody>
                  <a:tcPr/>
                </a:tc>
                <a:tc>
                  <a:txBody>
                    <a:bodyPr/>
                    <a:lstStyle/>
                    <a:p>
                      <a:pPr algn="ctr"/>
                      <a:r>
                        <a:rPr lang="en-US" sz="1600" dirty="0"/>
                        <a:t>Large</a:t>
                      </a:r>
                    </a:p>
                  </a:txBody>
                  <a:tcPr/>
                </a:tc>
                <a:extLst>
                  <a:ext uri="{0D108BD9-81ED-4DB2-BD59-A6C34878D82A}">
                    <a16:rowId xmlns:a16="http://schemas.microsoft.com/office/drawing/2014/main" val="2950723063"/>
                  </a:ext>
                </a:extLst>
              </a:tr>
            </a:tbl>
          </a:graphicData>
        </a:graphic>
      </p:graphicFrame>
      <p:sp>
        <p:nvSpPr>
          <p:cNvPr id="12" name="Rounded Rectangle 11">
            <a:extLst>
              <a:ext uri="{FF2B5EF4-FFF2-40B4-BE49-F238E27FC236}">
                <a16:creationId xmlns:a16="http://schemas.microsoft.com/office/drawing/2014/main" id="{0AEB9D48-3607-0A45-9A0A-07F17B56284C}"/>
              </a:ext>
            </a:extLst>
          </p:cNvPr>
          <p:cNvSpPr/>
          <p:nvPr/>
        </p:nvSpPr>
        <p:spPr>
          <a:xfrm>
            <a:off x="4928012" y="1670339"/>
            <a:ext cx="395785" cy="2661313"/>
          </a:xfrm>
          <a:prstGeom prst="roundRect">
            <a:avLst/>
          </a:prstGeom>
          <a:solidFill>
            <a:schemeClr val="accent2">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Performance</a:t>
            </a:r>
          </a:p>
        </p:txBody>
      </p:sp>
      <p:sp>
        <p:nvSpPr>
          <p:cNvPr id="13" name="Rounded Rectangle 12">
            <a:extLst>
              <a:ext uri="{FF2B5EF4-FFF2-40B4-BE49-F238E27FC236}">
                <a16:creationId xmlns:a16="http://schemas.microsoft.com/office/drawing/2014/main" id="{A6EA04EA-4D34-2244-9024-C596D13BF5AE}"/>
              </a:ext>
            </a:extLst>
          </p:cNvPr>
          <p:cNvSpPr/>
          <p:nvPr/>
        </p:nvSpPr>
        <p:spPr>
          <a:xfrm>
            <a:off x="5524096" y="1670339"/>
            <a:ext cx="395785" cy="2661313"/>
          </a:xfrm>
          <a:prstGeom prst="roundRect">
            <a:avLst/>
          </a:prstGeom>
          <a:solidFill>
            <a:schemeClr val="accent3">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Experience</a:t>
            </a:r>
          </a:p>
        </p:txBody>
      </p:sp>
      <p:sp>
        <p:nvSpPr>
          <p:cNvPr id="18" name="Rounded Rectangle 17">
            <a:extLst>
              <a:ext uri="{FF2B5EF4-FFF2-40B4-BE49-F238E27FC236}">
                <a16:creationId xmlns:a16="http://schemas.microsoft.com/office/drawing/2014/main" id="{6DC45FCF-822A-9649-A02B-06320770E80F}"/>
              </a:ext>
            </a:extLst>
          </p:cNvPr>
          <p:cNvSpPr/>
          <p:nvPr/>
        </p:nvSpPr>
        <p:spPr>
          <a:xfrm>
            <a:off x="2321664" y="4503761"/>
            <a:ext cx="395785" cy="1241946"/>
          </a:xfrm>
          <a:prstGeom prst="roundRect">
            <a:avLst/>
          </a:prstGeom>
          <a:solidFill>
            <a:schemeClr val="accent1">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600" dirty="0"/>
              <a:t>Compliance</a:t>
            </a:r>
          </a:p>
        </p:txBody>
      </p:sp>
      <p:sp>
        <p:nvSpPr>
          <p:cNvPr id="19" name="TextBox 18">
            <a:extLst>
              <a:ext uri="{FF2B5EF4-FFF2-40B4-BE49-F238E27FC236}">
                <a16:creationId xmlns:a16="http://schemas.microsoft.com/office/drawing/2014/main" id="{615D120E-D9B1-B642-B3A6-CC2AF5BE63F2}"/>
              </a:ext>
            </a:extLst>
          </p:cNvPr>
          <p:cNvSpPr txBox="1"/>
          <p:nvPr/>
        </p:nvSpPr>
        <p:spPr>
          <a:xfrm>
            <a:off x="4822521" y="4544594"/>
            <a:ext cx="1252602" cy="1169551"/>
          </a:xfrm>
          <a:prstGeom prst="rect">
            <a:avLst/>
          </a:prstGeom>
          <a:noFill/>
        </p:spPr>
        <p:txBody>
          <a:bodyPr wrap="square" rtlCol="0">
            <a:spAutoFit/>
          </a:bodyPr>
          <a:lstStyle/>
          <a:p>
            <a:r>
              <a:rPr lang="en-US" sz="1400" dirty="0"/>
              <a:t>Performance &amp; Experience more sophisticated offerings ?</a:t>
            </a:r>
          </a:p>
        </p:txBody>
      </p:sp>
      <p:sp>
        <p:nvSpPr>
          <p:cNvPr id="20" name="Rounded Rectangle 19">
            <a:extLst>
              <a:ext uri="{FF2B5EF4-FFF2-40B4-BE49-F238E27FC236}">
                <a16:creationId xmlns:a16="http://schemas.microsoft.com/office/drawing/2014/main" id="{6545544C-5BD3-9849-9DA4-E3BA8298F6F1}"/>
              </a:ext>
            </a:extLst>
          </p:cNvPr>
          <p:cNvSpPr/>
          <p:nvPr/>
        </p:nvSpPr>
        <p:spPr>
          <a:xfrm>
            <a:off x="4331927" y="3093928"/>
            <a:ext cx="395785" cy="2645015"/>
          </a:xfrm>
          <a:prstGeom prst="roundRect">
            <a:avLst/>
          </a:prstGeom>
          <a:solidFill>
            <a:schemeClr val="accent1">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Compliance</a:t>
            </a:r>
          </a:p>
        </p:txBody>
      </p:sp>
      <p:sp>
        <p:nvSpPr>
          <p:cNvPr id="21" name="Rounded Rectangle 20">
            <a:extLst>
              <a:ext uri="{FF2B5EF4-FFF2-40B4-BE49-F238E27FC236}">
                <a16:creationId xmlns:a16="http://schemas.microsoft.com/office/drawing/2014/main" id="{4A8DAD4C-5BBF-6B43-BDBC-2181173280AD}"/>
              </a:ext>
            </a:extLst>
          </p:cNvPr>
          <p:cNvSpPr/>
          <p:nvPr/>
        </p:nvSpPr>
        <p:spPr>
          <a:xfrm>
            <a:off x="6252221" y="3093928"/>
            <a:ext cx="395785" cy="1237724"/>
          </a:xfrm>
          <a:prstGeom prst="roundRect">
            <a:avLst/>
          </a:prstGeom>
          <a:solidFill>
            <a:schemeClr val="accent1">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600" dirty="0"/>
              <a:t>Compliance</a:t>
            </a:r>
          </a:p>
        </p:txBody>
      </p:sp>
    </p:spTree>
    <p:extLst>
      <p:ext uri="{BB962C8B-B14F-4D97-AF65-F5344CB8AC3E}">
        <p14:creationId xmlns:p14="http://schemas.microsoft.com/office/powerpoint/2010/main" val="1987119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052452" cy="1466349"/>
          </a:xfrm>
        </p:spPr>
        <p:txBody>
          <a:bodyPr/>
          <a:lstStyle/>
          <a:p>
            <a:r>
              <a:rPr lang="en-US" dirty="0"/>
              <a:t>…or build propositions for each segment</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137244"/>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Table 2">
            <a:extLst>
              <a:ext uri="{FF2B5EF4-FFF2-40B4-BE49-F238E27FC236}">
                <a16:creationId xmlns:a16="http://schemas.microsoft.com/office/drawing/2014/main" id="{82C041CF-DF47-BC4B-9266-57BC2AFDE7B9}"/>
              </a:ext>
            </a:extLst>
          </p:cNvPr>
          <p:cNvGraphicFramePr>
            <a:graphicFrameLocks noGrp="1"/>
          </p:cNvGraphicFramePr>
          <p:nvPr>
            <p:extLst>
              <p:ext uri="{D42A27DB-BD31-4B8C-83A1-F6EECF244321}">
                <p14:modId xmlns:p14="http://schemas.microsoft.com/office/powerpoint/2010/main" val="468668137"/>
              </p:ext>
            </p:extLst>
          </p:nvPr>
        </p:nvGraphicFramePr>
        <p:xfrm>
          <a:off x="1856096" y="1514901"/>
          <a:ext cx="6180540" cy="4702563"/>
        </p:xfrm>
        <a:graphic>
          <a:graphicData uri="http://schemas.openxmlformats.org/drawingml/2006/table">
            <a:tbl>
              <a:tblPr firstRow="1" bandRow="1">
                <a:tableStyleId>{5940675A-B579-460E-94D1-54222C63F5DA}</a:tableStyleId>
              </a:tblPr>
              <a:tblGrid>
                <a:gridCol w="368490">
                  <a:extLst>
                    <a:ext uri="{9D8B030D-6E8A-4147-A177-3AD203B41FA5}">
                      <a16:colId xmlns:a16="http://schemas.microsoft.com/office/drawing/2014/main" val="4111904392"/>
                    </a:ext>
                  </a:extLst>
                </a:gridCol>
                <a:gridCol w="1937350">
                  <a:extLst>
                    <a:ext uri="{9D8B030D-6E8A-4147-A177-3AD203B41FA5}">
                      <a16:colId xmlns:a16="http://schemas.microsoft.com/office/drawing/2014/main" val="3760971371"/>
                    </a:ext>
                  </a:extLst>
                </a:gridCol>
                <a:gridCol w="1937350">
                  <a:extLst>
                    <a:ext uri="{9D8B030D-6E8A-4147-A177-3AD203B41FA5}">
                      <a16:colId xmlns:a16="http://schemas.microsoft.com/office/drawing/2014/main" val="3846741787"/>
                    </a:ext>
                  </a:extLst>
                </a:gridCol>
                <a:gridCol w="1937350">
                  <a:extLst>
                    <a:ext uri="{9D8B030D-6E8A-4147-A177-3AD203B41FA5}">
                      <a16:colId xmlns:a16="http://schemas.microsoft.com/office/drawing/2014/main" val="3184536568"/>
                    </a:ext>
                  </a:extLst>
                </a:gridCol>
              </a:tblGrid>
              <a:tr h="1455761">
                <a:tc>
                  <a:txBody>
                    <a:bodyPr/>
                    <a:lstStyle/>
                    <a:p>
                      <a:r>
                        <a:rPr lang="en-US" sz="1600" dirty="0"/>
                        <a:t>Sophisticated</a:t>
                      </a:r>
                    </a:p>
                  </a:txBody>
                  <a:tcPr vert="vert270"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Drive revenue</a:t>
                      </a:r>
                    </a:p>
                  </a:txBody>
                  <a:tcPr anchor="ctr"/>
                </a:tc>
                <a:tc>
                  <a:txBody>
                    <a:bodyPr/>
                    <a:lstStyle/>
                    <a:p>
                      <a:pPr algn="ctr"/>
                      <a:r>
                        <a:rPr lang="en-US" sz="1600" dirty="0"/>
                        <a:t>Cost Centre to Revenue Driver</a:t>
                      </a:r>
                    </a:p>
                  </a:txBody>
                  <a:tcPr anchor="ctr"/>
                </a:tc>
                <a:tc>
                  <a:txBody>
                    <a:bodyPr/>
                    <a:lstStyle/>
                    <a:p>
                      <a:pPr algn="ctr"/>
                      <a:r>
                        <a:rPr lang="en-US" sz="1600" dirty="0"/>
                        <a:t>100% Customer Experience</a:t>
                      </a:r>
                    </a:p>
                  </a:txBody>
                  <a:tcPr anchor="ctr"/>
                </a:tc>
                <a:extLst>
                  <a:ext uri="{0D108BD9-81ED-4DB2-BD59-A6C34878D82A}">
                    <a16:rowId xmlns:a16="http://schemas.microsoft.com/office/drawing/2014/main" val="79887372"/>
                  </a:ext>
                </a:extLst>
              </a:tr>
              <a:tr h="1455761">
                <a:tc>
                  <a:txBody>
                    <a:bodyPr/>
                    <a:lstStyle/>
                    <a:p>
                      <a:r>
                        <a:rPr lang="en-US" sz="1600" dirty="0"/>
                        <a:t>Configurable</a:t>
                      </a:r>
                    </a:p>
                  </a:txBody>
                  <a:tcPr vert="vert270"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Direct your customer</a:t>
                      </a:r>
                    </a:p>
                  </a:txBody>
                  <a:tcPr anchor="ctr"/>
                </a:tc>
                <a:tc>
                  <a:txBody>
                    <a:bodyPr/>
                    <a:lstStyle/>
                    <a:p>
                      <a:pPr algn="ctr"/>
                      <a:r>
                        <a:rPr lang="en-US" sz="1600" dirty="0"/>
                        <a:t>Develop your people</a:t>
                      </a:r>
                    </a:p>
                  </a:txBody>
                  <a:tcPr anchor="ctr"/>
                </a:tc>
                <a:tc>
                  <a:txBody>
                    <a:bodyPr/>
                    <a:lstStyle/>
                    <a:p>
                      <a:pPr algn="ctr"/>
                      <a:r>
                        <a:rPr lang="en-US" sz="1600" dirty="0"/>
                        <a:t>100% Experience</a:t>
                      </a:r>
                    </a:p>
                  </a:txBody>
                  <a:tcPr anchor="ctr"/>
                </a:tc>
                <a:extLst>
                  <a:ext uri="{0D108BD9-81ED-4DB2-BD59-A6C34878D82A}">
                    <a16:rowId xmlns:a16="http://schemas.microsoft.com/office/drawing/2014/main" val="2094861978"/>
                  </a:ext>
                </a:extLst>
              </a:tr>
              <a:tr h="1455761">
                <a:tc>
                  <a:txBody>
                    <a:bodyPr/>
                    <a:lstStyle/>
                    <a:p>
                      <a:r>
                        <a:rPr lang="en-US" sz="1600" dirty="0"/>
                        <a:t>Standard</a:t>
                      </a:r>
                    </a:p>
                  </a:txBody>
                  <a:tcPr vert="vert270" anchor="ctr" anchorCtr="1"/>
                </a:tc>
                <a:tc>
                  <a:txBody>
                    <a:bodyPr/>
                    <a:lstStyle/>
                    <a:p>
                      <a:pPr algn="ctr"/>
                      <a:r>
                        <a:rPr lang="en-US" sz="1600" dirty="0"/>
                        <a:t>Understand your customer</a:t>
                      </a:r>
                    </a:p>
                  </a:txBody>
                  <a:tcPr anchor="ctr"/>
                </a:tc>
                <a:tc>
                  <a:txBody>
                    <a:bodyPr/>
                    <a:lstStyle/>
                    <a:p>
                      <a:pPr algn="ctr"/>
                      <a:r>
                        <a:rPr lang="en-US" sz="1600" dirty="0"/>
                        <a:t>Drive your brand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100% Compliance</a:t>
                      </a:r>
                    </a:p>
                  </a:txBody>
                  <a:tcPr anchor="ctr"/>
                </a:tc>
                <a:extLst>
                  <a:ext uri="{0D108BD9-81ED-4DB2-BD59-A6C34878D82A}">
                    <a16:rowId xmlns:a16="http://schemas.microsoft.com/office/drawing/2014/main" val="2249133003"/>
                  </a:ext>
                </a:extLst>
              </a:tr>
              <a:tr h="327547">
                <a:tc>
                  <a:txBody>
                    <a:bodyPr/>
                    <a:lstStyle/>
                    <a:p>
                      <a:endParaRPr lang="en-US" sz="1600" dirty="0"/>
                    </a:p>
                  </a:txBody>
                  <a:tcPr/>
                </a:tc>
                <a:tc>
                  <a:txBody>
                    <a:bodyPr/>
                    <a:lstStyle/>
                    <a:p>
                      <a:pPr algn="ctr"/>
                      <a:r>
                        <a:rPr lang="en-US" sz="1600" dirty="0"/>
                        <a:t>Small</a:t>
                      </a:r>
                    </a:p>
                  </a:txBody>
                  <a:tcPr/>
                </a:tc>
                <a:tc>
                  <a:txBody>
                    <a:bodyPr/>
                    <a:lstStyle/>
                    <a:p>
                      <a:pPr algn="ctr"/>
                      <a:r>
                        <a:rPr lang="en-US" sz="1600" dirty="0"/>
                        <a:t>Medium</a:t>
                      </a:r>
                    </a:p>
                  </a:txBody>
                  <a:tcPr/>
                </a:tc>
                <a:tc>
                  <a:txBody>
                    <a:bodyPr/>
                    <a:lstStyle/>
                    <a:p>
                      <a:pPr algn="ctr"/>
                      <a:r>
                        <a:rPr lang="en-US" sz="1600" dirty="0"/>
                        <a:t>Large</a:t>
                      </a:r>
                    </a:p>
                  </a:txBody>
                  <a:tcPr/>
                </a:tc>
                <a:extLst>
                  <a:ext uri="{0D108BD9-81ED-4DB2-BD59-A6C34878D82A}">
                    <a16:rowId xmlns:a16="http://schemas.microsoft.com/office/drawing/2014/main" val="2950723063"/>
                  </a:ext>
                </a:extLst>
              </a:tr>
            </a:tbl>
          </a:graphicData>
        </a:graphic>
      </p:graphicFrame>
    </p:spTree>
    <p:extLst>
      <p:ext uri="{BB962C8B-B14F-4D97-AF65-F5344CB8AC3E}">
        <p14:creationId xmlns:p14="http://schemas.microsoft.com/office/powerpoint/2010/main" val="3857303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6" y="197227"/>
            <a:ext cx="4809947" cy="1466349"/>
          </a:xfrm>
        </p:spPr>
        <p:txBody>
          <a:bodyPr/>
          <a:lstStyle/>
          <a:p>
            <a:r>
              <a:rPr lang="en-US" dirty="0" err="1"/>
              <a:t>Ancilliary</a:t>
            </a:r>
            <a:r>
              <a:rPr lang="en-US" dirty="0"/>
              <a:t> services should build customer success &amp; upsell</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38915"/>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Table 2">
            <a:extLst>
              <a:ext uri="{FF2B5EF4-FFF2-40B4-BE49-F238E27FC236}">
                <a16:creationId xmlns:a16="http://schemas.microsoft.com/office/drawing/2014/main" id="{67D79ED1-8D14-194D-B25A-AC39EAF386E0}"/>
              </a:ext>
            </a:extLst>
          </p:cNvPr>
          <p:cNvGraphicFramePr>
            <a:graphicFrameLocks noGrp="1"/>
          </p:cNvGraphicFramePr>
          <p:nvPr>
            <p:extLst>
              <p:ext uri="{D42A27DB-BD31-4B8C-83A1-F6EECF244321}">
                <p14:modId xmlns:p14="http://schemas.microsoft.com/office/powerpoint/2010/main" val="3981536571"/>
              </p:ext>
            </p:extLst>
          </p:nvPr>
        </p:nvGraphicFramePr>
        <p:xfrm>
          <a:off x="1007414" y="1610629"/>
          <a:ext cx="8021369" cy="3920727"/>
        </p:xfrm>
        <a:graphic>
          <a:graphicData uri="http://schemas.openxmlformats.org/drawingml/2006/table">
            <a:tbl>
              <a:tblPr firstRow="1" bandRow="1">
                <a:tableStyleId>{5940675A-B579-460E-94D1-54222C63F5DA}</a:tableStyleId>
              </a:tblPr>
              <a:tblGrid>
                <a:gridCol w="474605">
                  <a:extLst>
                    <a:ext uri="{9D8B030D-6E8A-4147-A177-3AD203B41FA5}">
                      <a16:colId xmlns:a16="http://schemas.microsoft.com/office/drawing/2014/main" val="283943076"/>
                    </a:ext>
                  </a:extLst>
                </a:gridCol>
                <a:gridCol w="2515588">
                  <a:extLst>
                    <a:ext uri="{9D8B030D-6E8A-4147-A177-3AD203B41FA5}">
                      <a16:colId xmlns:a16="http://schemas.microsoft.com/office/drawing/2014/main" val="2729556312"/>
                    </a:ext>
                  </a:extLst>
                </a:gridCol>
                <a:gridCol w="2515588">
                  <a:extLst>
                    <a:ext uri="{9D8B030D-6E8A-4147-A177-3AD203B41FA5}">
                      <a16:colId xmlns:a16="http://schemas.microsoft.com/office/drawing/2014/main" val="1791506978"/>
                    </a:ext>
                  </a:extLst>
                </a:gridCol>
                <a:gridCol w="2515588">
                  <a:extLst>
                    <a:ext uri="{9D8B030D-6E8A-4147-A177-3AD203B41FA5}">
                      <a16:colId xmlns:a16="http://schemas.microsoft.com/office/drawing/2014/main" val="1627773238"/>
                    </a:ext>
                  </a:extLst>
                </a:gridCol>
              </a:tblGrid>
              <a:tr h="376899">
                <a:tc>
                  <a:txBody>
                    <a:bodyPr/>
                    <a:lstStyle/>
                    <a:p>
                      <a:endParaRPr lang="en-US" dirty="0"/>
                    </a:p>
                  </a:txBody>
                  <a:tcPr/>
                </a:tc>
                <a:tc>
                  <a:txBody>
                    <a:bodyPr/>
                    <a:lstStyle/>
                    <a:p>
                      <a:pPr algn="ctr"/>
                      <a:r>
                        <a:rPr lang="en-US" dirty="0"/>
                        <a:t>Standard</a:t>
                      </a:r>
                    </a:p>
                  </a:txBody>
                  <a:tcPr/>
                </a:tc>
                <a:tc>
                  <a:txBody>
                    <a:bodyPr/>
                    <a:lstStyle/>
                    <a:p>
                      <a:pPr algn="ctr"/>
                      <a:r>
                        <a:rPr lang="en-US" dirty="0"/>
                        <a:t>Configurable</a:t>
                      </a:r>
                    </a:p>
                  </a:txBody>
                  <a:tcPr/>
                </a:tc>
                <a:tc>
                  <a:txBody>
                    <a:bodyPr/>
                    <a:lstStyle/>
                    <a:p>
                      <a:pPr algn="ctr"/>
                      <a:r>
                        <a:rPr lang="en-US" dirty="0"/>
                        <a:t>Sophisticated</a:t>
                      </a:r>
                    </a:p>
                  </a:txBody>
                  <a:tcPr/>
                </a:tc>
                <a:extLst>
                  <a:ext uri="{0D108BD9-81ED-4DB2-BD59-A6C34878D82A}">
                    <a16:rowId xmlns:a16="http://schemas.microsoft.com/office/drawing/2014/main" val="1303688658"/>
                  </a:ext>
                </a:extLst>
              </a:tr>
              <a:tr h="1013988">
                <a:tc>
                  <a:txBody>
                    <a:bodyPr/>
                    <a:lstStyle/>
                    <a:p>
                      <a:r>
                        <a:rPr lang="en-US" sz="1600" dirty="0"/>
                        <a:t>Training</a:t>
                      </a:r>
                    </a:p>
                  </a:txBody>
                  <a:tcPr vert="vert270" anchor="ctr" anchorCtr="1"/>
                </a:tc>
                <a:tc>
                  <a:txBody>
                    <a:bodyPr/>
                    <a:lstStyle/>
                    <a:p>
                      <a:pPr marL="98425" indent="-98425">
                        <a:buFont typeface="Arial" panose="020B0604020202020204" pitchFamily="34" charset="0"/>
                        <a:buChar char="•"/>
                        <a:tabLst/>
                      </a:pPr>
                      <a:r>
                        <a:rPr lang="en-US" sz="1100" dirty="0"/>
                        <a:t>Introducing </a:t>
                      </a:r>
                      <a:r>
                        <a:rPr lang="en-US" sz="1100" dirty="0" err="1"/>
                        <a:t>Ekko</a:t>
                      </a:r>
                      <a:r>
                        <a:rPr lang="en-US" sz="1100" dirty="0"/>
                        <a:t> Compliance to call </a:t>
                      </a:r>
                      <a:r>
                        <a:rPr lang="en-US" sz="1100" dirty="0" err="1"/>
                        <a:t>centre</a:t>
                      </a:r>
                      <a:r>
                        <a:rPr lang="en-US" sz="1100" dirty="0"/>
                        <a:t> agents</a:t>
                      </a:r>
                    </a:p>
                    <a:p>
                      <a:pPr marL="98425" indent="-98425">
                        <a:buFont typeface="Arial" panose="020B0604020202020204" pitchFamily="34" charset="0"/>
                        <a:buChar char="•"/>
                        <a:tabLst/>
                      </a:pPr>
                      <a:r>
                        <a:rPr lang="en-US" sz="1100" dirty="0"/>
                        <a:t>Helping management to make the most of reporting</a:t>
                      </a:r>
                    </a:p>
                    <a:p>
                      <a:pPr marL="98425" indent="-98425">
                        <a:buFont typeface="Arial" panose="020B0604020202020204" pitchFamily="34" charset="0"/>
                        <a:buChar char="•"/>
                        <a:tabLst/>
                      </a:pPr>
                      <a:r>
                        <a:rPr lang="en-US" sz="1100" dirty="0"/>
                        <a:t>Preparing for Intermediate Compliance</a:t>
                      </a:r>
                    </a:p>
                  </a:txBody>
                  <a:tcPr/>
                </a:tc>
                <a:tc>
                  <a:txBody>
                    <a:bodyPr/>
                    <a:lstStyle/>
                    <a:p>
                      <a:pPr marL="98425" indent="-98425">
                        <a:buFont typeface="Arial" panose="020B0604020202020204" pitchFamily="34" charset="0"/>
                        <a:buChar char="•"/>
                        <a:tabLst/>
                      </a:pPr>
                      <a:r>
                        <a:rPr lang="en-US" sz="1100" dirty="0"/>
                        <a:t>Introducing Intermediate Compliance</a:t>
                      </a:r>
                    </a:p>
                    <a:p>
                      <a:pPr marL="98425" indent="-98425">
                        <a:buFont typeface="Arial" panose="020B0604020202020204" pitchFamily="34" charset="0"/>
                        <a:buChar char="•"/>
                        <a:tabLst/>
                      </a:pPr>
                      <a:r>
                        <a:rPr lang="en-US" sz="1100" dirty="0"/>
                        <a:t>Working with teams and management to identify key phrases</a:t>
                      </a:r>
                    </a:p>
                    <a:p>
                      <a:pPr marL="98425" indent="-98425">
                        <a:buFont typeface="Arial" panose="020B0604020202020204" pitchFamily="34" charset="0"/>
                        <a:buChar char="•"/>
                        <a:tabLst/>
                      </a:pPr>
                      <a:r>
                        <a:rPr lang="en-US" sz="1100" dirty="0"/>
                        <a:t>Introducing Performance module &amp; how to use it</a:t>
                      </a:r>
                    </a:p>
                  </a:txBody>
                  <a:tcPr/>
                </a:tc>
                <a:tc>
                  <a:txBody>
                    <a:bodyPr/>
                    <a:lstStyle/>
                    <a:p>
                      <a:pPr marL="98425" indent="-98425">
                        <a:buFont typeface="Arial" panose="020B0604020202020204" pitchFamily="34" charset="0"/>
                        <a:buChar char="•"/>
                        <a:tabLst/>
                      </a:pPr>
                      <a:r>
                        <a:rPr lang="en-US" sz="1100" dirty="0"/>
                        <a:t>Introducing Experience module </a:t>
                      </a:r>
                    </a:p>
                    <a:p>
                      <a:pPr marL="98425" indent="-98425">
                        <a:buFont typeface="Arial" panose="020B0604020202020204" pitchFamily="34" charset="0"/>
                        <a:buChar char="•"/>
                        <a:tabLst/>
                      </a:pPr>
                      <a:r>
                        <a:rPr lang="en-US" sz="1100" dirty="0"/>
                        <a:t>Understanding how all three modules interact</a:t>
                      </a:r>
                    </a:p>
                  </a:txBody>
                  <a:tcPr/>
                </a:tc>
                <a:extLst>
                  <a:ext uri="{0D108BD9-81ED-4DB2-BD59-A6C34878D82A}">
                    <a16:rowId xmlns:a16="http://schemas.microsoft.com/office/drawing/2014/main" val="3805335974"/>
                  </a:ext>
                </a:extLst>
              </a:tr>
              <a:tr h="1264510">
                <a:tc>
                  <a:txBody>
                    <a:bodyPr/>
                    <a:lstStyle/>
                    <a:p>
                      <a:r>
                        <a:rPr lang="en-US" sz="1600" dirty="0"/>
                        <a:t>Consulting</a:t>
                      </a:r>
                    </a:p>
                  </a:txBody>
                  <a:tcPr vert="vert270" anchor="ctr" anchorCtr="1"/>
                </a:tc>
                <a:tc>
                  <a:txBody>
                    <a:bodyPr/>
                    <a:lstStyle/>
                    <a:p>
                      <a:pPr marL="98425" indent="-98425">
                        <a:buFont typeface="Arial" panose="020B0604020202020204" pitchFamily="34" charset="0"/>
                        <a:buChar char="•"/>
                        <a:tabLst/>
                      </a:pPr>
                      <a:r>
                        <a:rPr lang="en-US" sz="1100" dirty="0"/>
                        <a:t>Defining manpower levels</a:t>
                      </a:r>
                    </a:p>
                    <a:p>
                      <a:pPr marL="98425" indent="-98425">
                        <a:buFont typeface="Arial" panose="020B0604020202020204" pitchFamily="34" charset="0"/>
                        <a:buChar char="•"/>
                        <a:tabLst/>
                      </a:pPr>
                      <a:r>
                        <a:rPr lang="en-US" sz="1100" dirty="0"/>
                        <a:t>Re-modelling the organization &amp; jobs around </a:t>
                      </a:r>
                      <a:r>
                        <a:rPr lang="en-US" sz="1100" dirty="0" err="1"/>
                        <a:t>Ekko</a:t>
                      </a:r>
                      <a:endParaRPr lang="en-US" sz="1100" dirty="0"/>
                    </a:p>
                    <a:p>
                      <a:pPr marL="98425" indent="-98425">
                        <a:buFont typeface="Arial" panose="020B0604020202020204" pitchFamily="34" charset="0"/>
                        <a:buChar char="•"/>
                        <a:tabLst/>
                      </a:pPr>
                      <a:r>
                        <a:rPr lang="en-US" sz="1100" dirty="0"/>
                        <a:t>Making the most of the reporting</a:t>
                      </a:r>
                    </a:p>
                    <a:p>
                      <a:endParaRPr lang="en-US" sz="1100" dirty="0"/>
                    </a:p>
                  </a:txBody>
                  <a:tcPr/>
                </a:tc>
                <a:tc>
                  <a:txBody>
                    <a:bodyPr/>
                    <a:lstStyle/>
                    <a:p>
                      <a:pPr marL="98425" indent="-98425">
                        <a:buFont typeface="Arial" panose="020B0604020202020204" pitchFamily="34" charset="0"/>
                        <a:buChar char="•"/>
                        <a:tabLst/>
                      </a:pPr>
                      <a:r>
                        <a:rPr lang="en-US" sz="1100" dirty="0"/>
                        <a:t>Mapping the gaps highlighted by Compliance </a:t>
                      </a:r>
                    </a:p>
                    <a:p>
                      <a:pPr marL="98425" indent="-98425">
                        <a:buFont typeface="Arial" panose="020B0604020202020204" pitchFamily="34" charset="0"/>
                        <a:buChar char="•"/>
                        <a:tabLst/>
                      </a:pPr>
                      <a:r>
                        <a:rPr lang="en-US" sz="1100" dirty="0"/>
                        <a:t>Working with Learning &amp; Development function to define training packages</a:t>
                      </a:r>
                    </a:p>
                    <a:p>
                      <a:pPr marL="98425" indent="-98425">
                        <a:buFont typeface="Arial" panose="020B0604020202020204" pitchFamily="34" charset="0"/>
                        <a:buChar char="•"/>
                        <a:tabLst/>
                      </a:pPr>
                      <a:r>
                        <a:rPr lang="en-US" sz="1100" dirty="0"/>
                        <a:t>Introducing other channels in addition to Voice</a:t>
                      </a:r>
                    </a:p>
                    <a:p>
                      <a:pPr marL="98425" indent="-98425">
                        <a:buFont typeface="Arial" panose="020B0604020202020204" pitchFamily="34" charset="0"/>
                        <a:buChar char="•"/>
                        <a:tabLst/>
                      </a:pPr>
                      <a:r>
                        <a:rPr lang="en-US" sz="1100" dirty="0"/>
                        <a:t>Defining management reporting</a:t>
                      </a:r>
                    </a:p>
                  </a:txBody>
                  <a:tcPr/>
                </a:tc>
                <a:tc>
                  <a:txBody>
                    <a:bodyPr/>
                    <a:lstStyle/>
                    <a:p>
                      <a:pPr marL="98425" indent="-98425">
                        <a:buFont typeface="Arial" panose="020B0604020202020204" pitchFamily="34" charset="0"/>
                        <a:buChar char="•"/>
                        <a:tabLst/>
                      </a:pPr>
                      <a:r>
                        <a:rPr lang="en-US" sz="1100" dirty="0"/>
                        <a:t>Working with Marketing and Customer Experience</a:t>
                      </a:r>
                    </a:p>
                    <a:p>
                      <a:pPr marL="98425" indent="-98425">
                        <a:buFont typeface="Arial" panose="020B0604020202020204" pitchFamily="34" charset="0"/>
                        <a:buChar char="•"/>
                        <a:tabLst/>
                      </a:pPr>
                      <a:r>
                        <a:rPr lang="en-US" sz="1100" dirty="0"/>
                        <a:t>Mapping Customer Journeys</a:t>
                      </a:r>
                    </a:p>
                    <a:p>
                      <a:pPr marL="98425" indent="-98425">
                        <a:buFont typeface="Arial" panose="020B0604020202020204" pitchFamily="34" charset="0"/>
                        <a:buChar char="•"/>
                        <a:tabLst/>
                      </a:pPr>
                      <a:r>
                        <a:rPr lang="en-US" sz="1100" dirty="0"/>
                        <a:t>Defining service level targets</a:t>
                      </a:r>
                    </a:p>
                    <a:p>
                      <a:endParaRPr lang="en-US" sz="1100" dirty="0"/>
                    </a:p>
                  </a:txBody>
                  <a:tcPr/>
                </a:tc>
                <a:extLst>
                  <a:ext uri="{0D108BD9-81ED-4DB2-BD59-A6C34878D82A}">
                    <a16:rowId xmlns:a16="http://schemas.microsoft.com/office/drawing/2014/main" val="2042436448"/>
                  </a:ext>
                </a:extLst>
              </a:tr>
              <a:tr h="1264510">
                <a:tc>
                  <a:txBody>
                    <a:bodyPr/>
                    <a:lstStyle/>
                    <a:p>
                      <a:r>
                        <a:rPr lang="en-US" sz="1600" dirty="0"/>
                        <a:t>Content</a:t>
                      </a:r>
                    </a:p>
                  </a:txBody>
                  <a:tcPr vert="vert270" anchor="ctr" anchorCtr="1"/>
                </a:tc>
                <a:tc>
                  <a:txBody>
                    <a:bodyPr/>
                    <a:lstStyle/>
                    <a:p>
                      <a:pPr marL="98425" indent="-98425">
                        <a:buFont typeface="Arial" panose="020B0604020202020204" pitchFamily="34" charset="0"/>
                        <a:buChar char="•"/>
                        <a:tabLst/>
                      </a:pPr>
                      <a:r>
                        <a:rPr lang="en-US" sz="1100" dirty="0"/>
                        <a:t>100% Compliance</a:t>
                      </a:r>
                    </a:p>
                    <a:p>
                      <a:pPr marL="98425" indent="-98425">
                        <a:buFont typeface="Arial" panose="020B0604020202020204" pitchFamily="34" charset="0"/>
                        <a:buChar char="•"/>
                        <a:tabLst/>
                      </a:pPr>
                      <a:r>
                        <a:rPr lang="en-US" sz="1100" dirty="0"/>
                        <a:t>Future of Customer Experience</a:t>
                      </a:r>
                    </a:p>
                    <a:p>
                      <a:pPr marL="98425" indent="-98425">
                        <a:buFont typeface="Arial" panose="020B0604020202020204" pitchFamily="34" charset="0"/>
                        <a:buChar char="•"/>
                        <a:tabLst/>
                      </a:pPr>
                      <a:r>
                        <a:rPr lang="en-US" sz="1100" dirty="0"/>
                        <a:t>Moving from Contact Centre and Customer Service Centre</a:t>
                      </a:r>
                    </a:p>
                    <a:p>
                      <a:pPr marL="98425" indent="-98425">
                        <a:buFont typeface="Arial" panose="020B0604020202020204" pitchFamily="34" charset="0"/>
                        <a:buChar char="•"/>
                        <a:tabLst/>
                      </a:pPr>
                      <a:r>
                        <a:rPr lang="en-US" sz="1100" dirty="0"/>
                        <a:t>How AI can drive and omnichannel approach</a:t>
                      </a:r>
                    </a:p>
                    <a:p>
                      <a:pPr marL="98425" indent="-98425">
                        <a:buFont typeface="Arial" panose="020B0604020202020204" pitchFamily="34" charset="0"/>
                        <a:buChar char="•"/>
                        <a:tabLst/>
                      </a:pPr>
                      <a:r>
                        <a:rPr lang="en-US" sz="1100" dirty="0"/>
                        <a:t>Driving costs down with AI</a:t>
                      </a:r>
                    </a:p>
                  </a:txBody>
                  <a:tcPr/>
                </a:tc>
                <a:tc>
                  <a:txBody>
                    <a:bodyPr/>
                    <a:lstStyle/>
                    <a:p>
                      <a:pPr marL="98425" indent="-98425">
                        <a:buFont typeface="Arial" panose="020B0604020202020204" pitchFamily="34" charset="0"/>
                        <a:buChar char="•"/>
                        <a:tabLst/>
                      </a:pPr>
                      <a:r>
                        <a:rPr lang="en-US" sz="1100" dirty="0"/>
                        <a:t>100% Performance</a:t>
                      </a:r>
                    </a:p>
                    <a:p>
                      <a:pPr marL="98425" indent="-98425">
                        <a:buFont typeface="Arial" panose="020B0604020202020204" pitchFamily="34" charset="0"/>
                        <a:buChar char="•"/>
                        <a:tabLst/>
                      </a:pPr>
                      <a:r>
                        <a:rPr lang="en-US" sz="1100" dirty="0"/>
                        <a:t>How AI makes every agent your best agent</a:t>
                      </a:r>
                    </a:p>
                    <a:p>
                      <a:pPr marL="98425" indent="-98425">
                        <a:buFont typeface="Arial" panose="020B0604020202020204" pitchFamily="34" charset="0"/>
                        <a:buChar char="•"/>
                        <a:tabLst/>
                      </a:pPr>
                      <a:r>
                        <a:rPr lang="en-US" sz="1100" dirty="0"/>
                        <a:t>How AI delivers a consistent customer experience</a:t>
                      </a:r>
                    </a:p>
                    <a:p>
                      <a:pPr marL="98425" indent="-98425">
                        <a:buFont typeface="Arial" panose="020B0604020202020204" pitchFamily="34" charset="0"/>
                        <a:buChar char="•"/>
                        <a:tabLst/>
                      </a:pPr>
                      <a:r>
                        <a:rPr lang="en-US" sz="1100" dirty="0"/>
                        <a:t>Contact </a:t>
                      </a:r>
                      <a:r>
                        <a:rPr lang="en-US" sz="1100" dirty="0" err="1"/>
                        <a:t>centre</a:t>
                      </a:r>
                      <a:r>
                        <a:rPr lang="en-US" sz="1100" dirty="0"/>
                        <a:t> as a brand driver</a:t>
                      </a:r>
                    </a:p>
                    <a:p>
                      <a:pPr marL="98425" indent="-98425">
                        <a:buFont typeface="Arial" panose="020B0604020202020204" pitchFamily="34" charset="0"/>
                        <a:buChar char="•"/>
                        <a:tabLst/>
                      </a:pPr>
                      <a:endParaRPr lang="en-US" sz="1100" dirty="0"/>
                    </a:p>
                  </a:txBody>
                  <a:tcPr/>
                </a:tc>
                <a:tc>
                  <a:txBody>
                    <a:bodyPr/>
                    <a:lstStyle/>
                    <a:p>
                      <a:pPr marL="98425" indent="-98425">
                        <a:buFont typeface="Arial" panose="020B0604020202020204" pitchFamily="34" charset="0"/>
                        <a:buChar char="•"/>
                        <a:tabLst/>
                      </a:pPr>
                      <a:r>
                        <a:rPr lang="en-US" sz="1100" dirty="0"/>
                        <a:t>100% Experience</a:t>
                      </a:r>
                    </a:p>
                    <a:p>
                      <a:pPr marL="98425" indent="-98425">
                        <a:buFont typeface="Arial" panose="020B0604020202020204" pitchFamily="34" charset="0"/>
                        <a:buChar char="•"/>
                        <a:tabLst/>
                      </a:pPr>
                      <a:r>
                        <a:rPr lang="en-US" sz="1100" dirty="0"/>
                        <a:t>Raising the customer experience bar</a:t>
                      </a:r>
                    </a:p>
                    <a:p>
                      <a:pPr marL="98425" indent="-98425">
                        <a:buFont typeface="Arial" panose="020B0604020202020204" pitchFamily="34" charset="0"/>
                        <a:buChar char="•"/>
                        <a:tabLst/>
                      </a:pPr>
                      <a:r>
                        <a:rPr lang="en-US" sz="1100" dirty="0"/>
                        <a:t>How to configure </a:t>
                      </a:r>
                      <a:r>
                        <a:rPr lang="en-US" sz="1100" dirty="0" err="1"/>
                        <a:t>Ekko</a:t>
                      </a:r>
                      <a:r>
                        <a:rPr lang="en-US" sz="1100" dirty="0"/>
                        <a:t> for world class performance</a:t>
                      </a:r>
                    </a:p>
                    <a:p>
                      <a:pPr marL="98425" indent="-98425">
                        <a:buFont typeface="Arial" panose="020B0604020202020204" pitchFamily="34" charset="0"/>
                        <a:buChar char="•"/>
                        <a:tabLst/>
                      </a:pPr>
                      <a:r>
                        <a:rPr lang="en-US" sz="1100" dirty="0"/>
                        <a:t>The future is now: the AI driven customer service </a:t>
                      </a:r>
                      <a:r>
                        <a:rPr lang="en-US" sz="1100" dirty="0" err="1"/>
                        <a:t>centre</a:t>
                      </a:r>
                      <a:endParaRPr lang="en-US" sz="1100" dirty="0"/>
                    </a:p>
                    <a:p>
                      <a:endParaRPr lang="en-US" sz="1100" dirty="0"/>
                    </a:p>
                  </a:txBody>
                  <a:tcPr/>
                </a:tc>
                <a:extLst>
                  <a:ext uri="{0D108BD9-81ED-4DB2-BD59-A6C34878D82A}">
                    <a16:rowId xmlns:a16="http://schemas.microsoft.com/office/drawing/2014/main" val="1824618714"/>
                  </a:ext>
                </a:extLst>
              </a:tr>
            </a:tbl>
          </a:graphicData>
        </a:graphic>
      </p:graphicFrame>
    </p:spTree>
    <p:extLst>
      <p:ext uri="{BB962C8B-B14F-4D97-AF65-F5344CB8AC3E}">
        <p14:creationId xmlns:p14="http://schemas.microsoft.com/office/powerpoint/2010/main" val="2106482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052452" cy="1466349"/>
          </a:xfrm>
        </p:spPr>
        <p:txBody>
          <a:bodyPr/>
          <a:lstStyle/>
          <a:p>
            <a:r>
              <a:rPr lang="en-US" dirty="0"/>
              <a:t>Naming Structure: Foundation Principles</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12924"/>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sp>
        <p:nvSpPr>
          <p:cNvPr id="5" name="Rectangle 3">
            <a:extLst>
              <a:ext uri="{FF2B5EF4-FFF2-40B4-BE49-F238E27FC236}">
                <a16:creationId xmlns:a16="http://schemas.microsoft.com/office/drawing/2014/main" id="{D5DFAB96-16A2-5E4C-B77F-12A12E416626}"/>
              </a:ext>
            </a:extLst>
          </p:cNvPr>
          <p:cNvSpPr txBox="1">
            <a:spLocks noChangeArrowheads="1"/>
          </p:cNvSpPr>
          <p:nvPr/>
        </p:nvSpPr>
        <p:spPr>
          <a:xfrm>
            <a:off x="741095" y="1400979"/>
            <a:ext cx="8543925" cy="435133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000" kern="12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buFont typeface="+mj-lt"/>
              <a:buAutoNum type="arabicPeriod"/>
            </a:pPr>
            <a:r>
              <a:rPr lang="en-GB" altLang="en-GB" sz="1800" dirty="0">
                <a:latin typeface="+mn-lt"/>
              </a:rPr>
              <a:t>The </a:t>
            </a:r>
            <a:r>
              <a:rPr lang="en-GB" altLang="en-GB" sz="1800" dirty="0" err="1">
                <a:latin typeface="+mn-lt"/>
              </a:rPr>
              <a:t>masterbrand</a:t>
            </a:r>
            <a:r>
              <a:rPr lang="en-GB" altLang="en-GB" sz="1800" dirty="0">
                <a:latin typeface="+mn-lt"/>
              </a:rPr>
              <a:t> communicates the brand values </a:t>
            </a:r>
          </a:p>
          <a:p>
            <a:pPr marL="800100" lvl="1" indent="-342900" algn="l">
              <a:buFont typeface="Arial" panose="020B0604020202020204" pitchFamily="34" charset="0"/>
              <a:buChar char="•"/>
            </a:pPr>
            <a:r>
              <a:rPr lang="en-GB" altLang="en-GB" sz="1800" dirty="0"/>
              <a:t>Therefore creating uniqueness vs competition</a:t>
            </a:r>
          </a:p>
          <a:p>
            <a:pPr marL="800100" lvl="1" indent="-342900" algn="l">
              <a:buFont typeface="Arial" panose="020B0604020202020204" pitchFamily="34" charset="0"/>
              <a:buChar char="•"/>
            </a:pPr>
            <a:r>
              <a:rPr lang="en-GB" altLang="en-GB" sz="1800" dirty="0"/>
              <a:t>If an idea’s uniqueness can be explained by overall brand, a separate name is not needed</a:t>
            </a:r>
          </a:p>
          <a:p>
            <a:pPr lvl="1" algn="l">
              <a:lnSpc>
                <a:spcPct val="70000"/>
              </a:lnSpc>
            </a:pPr>
            <a:r>
              <a:rPr lang="en-GB" altLang="en-GB" sz="1800" dirty="0"/>
              <a:t> </a:t>
            </a:r>
          </a:p>
          <a:p>
            <a:pPr marL="342900" indent="-342900">
              <a:buFont typeface="+mj-lt"/>
              <a:buAutoNum type="arabicPeriod"/>
            </a:pPr>
            <a:r>
              <a:rPr lang="en-GB" altLang="en-GB" sz="1800" dirty="0">
                <a:latin typeface="+mn-lt"/>
              </a:rPr>
              <a:t>The naming Architecture beneath that should aim for </a:t>
            </a:r>
          </a:p>
          <a:p>
            <a:pPr marL="742950" lvl="1" indent="-285750" algn="l">
              <a:buFont typeface="Arial" panose="020B0604020202020204" pitchFamily="34" charset="0"/>
              <a:buChar char="•"/>
            </a:pPr>
            <a:r>
              <a:rPr lang="en-GB" altLang="en-GB" sz="1800" dirty="0"/>
              <a:t>Clarity (one clear simple language to all Divisions and customers)</a:t>
            </a:r>
          </a:p>
          <a:p>
            <a:pPr marL="742950" lvl="1" indent="-285750" algn="l">
              <a:buFont typeface="Arial" panose="020B0604020202020204" pitchFamily="34" charset="0"/>
              <a:buChar char="•"/>
            </a:pPr>
            <a:r>
              <a:rPr lang="en-GB" altLang="en-GB" sz="1800" dirty="0"/>
              <a:t>Conversation ease (easy ‘labels’ that summarise ideas / options etc)</a:t>
            </a:r>
          </a:p>
          <a:p>
            <a:pPr marL="742950" lvl="1" indent="-285750" algn="l">
              <a:buFont typeface="Arial" panose="020B0604020202020204" pitchFamily="34" charset="0"/>
              <a:buChar char="•"/>
            </a:pPr>
            <a:r>
              <a:rPr lang="en-GB" altLang="en-GB" sz="1800" dirty="0"/>
              <a:t>Navigation ease (‘labels’ create comparability and transparency in the product range)</a:t>
            </a:r>
          </a:p>
          <a:p>
            <a:pPr lvl="1" algn="l">
              <a:lnSpc>
                <a:spcPct val="50000"/>
              </a:lnSpc>
            </a:pPr>
            <a:endParaRPr lang="en-GB" altLang="en-GB" sz="1800" dirty="0"/>
          </a:p>
          <a:p>
            <a:pPr marL="342900" indent="-342900">
              <a:buFont typeface="+mj-lt"/>
              <a:buAutoNum type="arabicPeriod"/>
            </a:pPr>
            <a:r>
              <a:rPr lang="en-GB" altLang="en-GB" sz="1800" dirty="0">
                <a:latin typeface="+mn-lt"/>
              </a:rPr>
              <a:t>The </a:t>
            </a:r>
            <a:r>
              <a:rPr lang="en-GB" altLang="en-GB" sz="1800" dirty="0" err="1">
                <a:latin typeface="+mn-lt"/>
              </a:rPr>
              <a:t>startpoint</a:t>
            </a:r>
            <a:r>
              <a:rPr lang="en-GB" altLang="en-GB" sz="1800" dirty="0">
                <a:latin typeface="+mn-lt"/>
              </a:rPr>
              <a:t> to create such a hierarchy, and use it effectively is the customer:</a:t>
            </a:r>
          </a:p>
          <a:p>
            <a:pPr marL="742950" lvl="1" indent="-285750" algn="l">
              <a:buFont typeface="Arial" panose="020B0604020202020204" pitchFamily="34" charset="0"/>
              <a:buChar char="•"/>
            </a:pPr>
            <a:r>
              <a:rPr lang="en-GB" altLang="en-GB" sz="1800" dirty="0"/>
              <a:t>Use customer language wherever available </a:t>
            </a:r>
          </a:p>
          <a:p>
            <a:pPr marL="742950" lvl="1" indent="-285750" algn="l">
              <a:buFont typeface="Arial" panose="020B0604020202020204" pitchFamily="34" charset="0"/>
              <a:buChar char="•"/>
            </a:pPr>
            <a:r>
              <a:rPr lang="en-GB" altLang="en-GB" sz="1800" dirty="0"/>
              <a:t>Use labels to simplify concepts, not make them more complicated </a:t>
            </a:r>
          </a:p>
          <a:p>
            <a:pPr marL="742950" lvl="1" indent="-285750" algn="l">
              <a:buFont typeface="Arial" panose="020B0604020202020204" pitchFamily="34" charset="0"/>
              <a:buChar char="•"/>
            </a:pPr>
            <a:r>
              <a:rPr lang="en-GB" altLang="en-GB" sz="1800" dirty="0"/>
              <a:t>Drive labels &amp; ideas that allow replicability between customers </a:t>
            </a:r>
          </a:p>
        </p:txBody>
      </p:sp>
    </p:spTree>
    <p:extLst>
      <p:ext uri="{BB962C8B-B14F-4D97-AF65-F5344CB8AC3E}">
        <p14:creationId xmlns:p14="http://schemas.microsoft.com/office/powerpoint/2010/main" val="3668396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5BAE3-F177-4A80-940A-160C822280FB}"/>
              </a:ext>
            </a:extLst>
          </p:cNvPr>
          <p:cNvSpPr>
            <a:spLocks noGrp="1"/>
          </p:cNvSpPr>
          <p:nvPr>
            <p:ph type="ctrTitle"/>
          </p:nvPr>
        </p:nvSpPr>
        <p:spPr>
          <a:xfrm>
            <a:off x="704850" y="336673"/>
            <a:ext cx="4248150" cy="898740"/>
          </a:xfrm>
        </p:spPr>
        <p:txBody>
          <a:bodyPr>
            <a:noAutofit/>
          </a:bodyPr>
          <a:lstStyle/>
          <a:p>
            <a:pPr>
              <a:lnSpc>
                <a:spcPct val="90000"/>
              </a:lnSpc>
              <a:defRPr/>
            </a:pPr>
            <a:r>
              <a:rPr lang="en-AU" dirty="0">
                <a:solidFill>
                  <a:srgbClr val="4B2682"/>
                </a:solidFill>
                <a:latin typeface="Montserrat Light" charset="0"/>
                <a:ea typeface="Montserrat Light" charset="0"/>
                <a:cs typeface="Montserrat Light" charset="0"/>
                <a:sym typeface="Bebas Neue" charset="0"/>
              </a:rPr>
              <a:t>Naming Structure</a:t>
            </a:r>
            <a:endParaRPr lang="en-US" dirty="0">
              <a:solidFill>
                <a:srgbClr val="4B2682"/>
              </a:solidFill>
              <a:latin typeface="Montserrat Light" charset="0"/>
              <a:ea typeface="Montserrat Light" charset="0"/>
              <a:cs typeface="Montserrat Light" charset="0"/>
              <a:sym typeface="Bebas Neue" charset="0"/>
            </a:endParaRPr>
          </a:p>
        </p:txBody>
      </p:sp>
      <p:sp>
        <p:nvSpPr>
          <p:cNvPr id="20" name="Rounded Rectangle 33">
            <a:extLst>
              <a:ext uri="{FF2B5EF4-FFF2-40B4-BE49-F238E27FC236}">
                <a16:creationId xmlns:a16="http://schemas.microsoft.com/office/drawing/2014/main" id="{80C0D051-B24D-41F6-9F0B-FF64B99C624D}"/>
              </a:ext>
            </a:extLst>
          </p:cNvPr>
          <p:cNvSpPr/>
          <p:nvPr/>
        </p:nvSpPr>
        <p:spPr>
          <a:xfrm flipV="1">
            <a:off x="704850" y="702853"/>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graphicFrame>
        <p:nvGraphicFramePr>
          <p:cNvPr id="3" name="Diagram 2">
            <a:extLst>
              <a:ext uri="{FF2B5EF4-FFF2-40B4-BE49-F238E27FC236}">
                <a16:creationId xmlns:a16="http://schemas.microsoft.com/office/drawing/2014/main" id="{CE79B5B5-5BF5-FA4F-B49B-2EDACCAA0E64}"/>
              </a:ext>
            </a:extLst>
          </p:cNvPr>
          <p:cNvGraphicFramePr/>
          <p:nvPr>
            <p:extLst/>
          </p:nvPr>
        </p:nvGraphicFramePr>
        <p:xfrm>
          <a:off x="758013" y="882503"/>
          <a:ext cx="7550150" cy="49228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Connector 4">
            <a:extLst>
              <a:ext uri="{FF2B5EF4-FFF2-40B4-BE49-F238E27FC236}">
                <a16:creationId xmlns:a16="http://schemas.microsoft.com/office/drawing/2014/main" id="{C87B3595-954A-F446-9DEF-FB083B67928B}"/>
              </a:ext>
            </a:extLst>
          </p:cNvPr>
          <p:cNvCxnSpPr/>
          <p:nvPr/>
        </p:nvCxnSpPr>
        <p:spPr>
          <a:xfrm>
            <a:off x="457200" y="1703042"/>
            <a:ext cx="880375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E2F0E7-22E4-C04D-8D90-786237AA7C53}"/>
              </a:ext>
            </a:extLst>
          </p:cNvPr>
          <p:cNvCxnSpPr/>
          <p:nvPr/>
        </p:nvCxnSpPr>
        <p:spPr>
          <a:xfrm>
            <a:off x="457200" y="2450088"/>
            <a:ext cx="880375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A181A42-294F-1040-AA44-AFED09980E03}"/>
              </a:ext>
            </a:extLst>
          </p:cNvPr>
          <p:cNvCxnSpPr/>
          <p:nvPr/>
        </p:nvCxnSpPr>
        <p:spPr>
          <a:xfrm>
            <a:off x="457200" y="3333896"/>
            <a:ext cx="880375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92405FB-F625-6E46-BC03-377C792B3FB9}"/>
              </a:ext>
            </a:extLst>
          </p:cNvPr>
          <p:cNvCxnSpPr/>
          <p:nvPr/>
        </p:nvCxnSpPr>
        <p:spPr>
          <a:xfrm>
            <a:off x="457200" y="4244470"/>
            <a:ext cx="880375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E98C545-8B80-084E-B3B9-B303CC1EEA30}"/>
              </a:ext>
            </a:extLst>
          </p:cNvPr>
          <p:cNvSpPr txBox="1"/>
          <p:nvPr/>
        </p:nvSpPr>
        <p:spPr>
          <a:xfrm>
            <a:off x="8207456" y="1837849"/>
            <a:ext cx="1005958" cy="461665"/>
          </a:xfrm>
          <a:prstGeom prst="rect">
            <a:avLst/>
          </a:prstGeom>
          <a:noFill/>
        </p:spPr>
        <p:txBody>
          <a:bodyPr wrap="square" rtlCol="0">
            <a:spAutoFit/>
          </a:bodyPr>
          <a:lstStyle/>
          <a:p>
            <a:r>
              <a:rPr lang="en-US" sz="1200" dirty="0"/>
              <a:t>Why you need it</a:t>
            </a:r>
          </a:p>
        </p:txBody>
      </p:sp>
      <p:sp>
        <p:nvSpPr>
          <p:cNvPr id="27" name="TextBox 26">
            <a:extLst>
              <a:ext uri="{FF2B5EF4-FFF2-40B4-BE49-F238E27FC236}">
                <a16:creationId xmlns:a16="http://schemas.microsoft.com/office/drawing/2014/main" id="{4EF37407-B7B7-BD47-9120-DCCBFD868611}"/>
              </a:ext>
            </a:extLst>
          </p:cNvPr>
          <p:cNvSpPr txBox="1"/>
          <p:nvPr/>
        </p:nvSpPr>
        <p:spPr>
          <a:xfrm>
            <a:off x="8207456" y="2663358"/>
            <a:ext cx="818116" cy="461665"/>
          </a:xfrm>
          <a:prstGeom prst="rect">
            <a:avLst/>
          </a:prstGeom>
          <a:noFill/>
        </p:spPr>
        <p:txBody>
          <a:bodyPr wrap="square" rtlCol="0">
            <a:spAutoFit/>
          </a:bodyPr>
          <a:lstStyle/>
          <a:p>
            <a:r>
              <a:rPr lang="en-US" sz="1200" dirty="0"/>
              <a:t>How it does it</a:t>
            </a:r>
          </a:p>
        </p:txBody>
      </p:sp>
      <p:sp>
        <p:nvSpPr>
          <p:cNvPr id="28" name="TextBox 27">
            <a:extLst>
              <a:ext uri="{FF2B5EF4-FFF2-40B4-BE49-F238E27FC236}">
                <a16:creationId xmlns:a16="http://schemas.microsoft.com/office/drawing/2014/main" id="{1D4CFC68-0D4B-964A-81E4-0369DE0B505B}"/>
              </a:ext>
            </a:extLst>
          </p:cNvPr>
          <p:cNvSpPr txBox="1"/>
          <p:nvPr/>
        </p:nvSpPr>
        <p:spPr>
          <a:xfrm>
            <a:off x="8207456" y="3528347"/>
            <a:ext cx="818116" cy="461665"/>
          </a:xfrm>
          <a:prstGeom prst="rect">
            <a:avLst/>
          </a:prstGeom>
          <a:noFill/>
        </p:spPr>
        <p:txBody>
          <a:bodyPr wrap="square" rtlCol="0">
            <a:spAutoFit/>
          </a:bodyPr>
          <a:lstStyle/>
          <a:p>
            <a:r>
              <a:rPr lang="en-US" sz="1200" dirty="0"/>
              <a:t>What it does</a:t>
            </a:r>
          </a:p>
        </p:txBody>
      </p:sp>
      <p:sp>
        <p:nvSpPr>
          <p:cNvPr id="29" name="TextBox 28">
            <a:extLst>
              <a:ext uri="{FF2B5EF4-FFF2-40B4-BE49-F238E27FC236}">
                <a16:creationId xmlns:a16="http://schemas.microsoft.com/office/drawing/2014/main" id="{1E251073-D835-3F41-8C73-F26A8F1DC2A9}"/>
              </a:ext>
            </a:extLst>
          </p:cNvPr>
          <p:cNvSpPr txBox="1"/>
          <p:nvPr/>
        </p:nvSpPr>
        <p:spPr>
          <a:xfrm>
            <a:off x="8207456" y="4701758"/>
            <a:ext cx="1331779" cy="646331"/>
          </a:xfrm>
          <a:prstGeom prst="rect">
            <a:avLst/>
          </a:prstGeom>
          <a:noFill/>
        </p:spPr>
        <p:txBody>
          <a:bodyPr wrap="square" rtlCol="0">
            <a:spAutoFit/>
          </a:bodyPr>
          <a:lstStyle/>
          <a:p>
            <a:r>
              <a:rPr lang="en-US" sz="1200" dirty="0"/>
              <a:t>Variant:</a:t>
            </a:r>
            <a:br>
              <a:rPr lang="en-US" sz="1200" dirty="0"/>
            </a:br>
            <a:r>
              <a:rPr lang="en-US" sz="1200" dirty="0" err="1"/>
              <a:t>ie.Level</a:t>
            </a:r>
            <a:r>
              <a:rPr lang="en-US" sz="1200" dirty="0"/>
              <a:t> of Sophistication</a:t>
            </a:r>
          </a:p>
        </p:txBody>
      </p:sp>
    </p:spTree>
    <p:extLst>
      <p:ext uri="{BB962C8B-B14F-4D97-AF65-F5344CB8AC3E}">
        <p14:creationId xmlns:p14="http://schemas.microsoft.com/office/powerpoint/2010/main" val="112774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5E54-BA16-7C49-B3D9-F31066E24E6C}"/>
              </a:ext>
            </a:extLst>
          </p:cNvPr>
          <p:cNvSpPr>
            <a:spLocks noGrp="1"/>
          </p:cNvSpPr>
          <p:nvPr>
            <p:ph type="ctrTitle"/>
          </p:nvPr>
        </p:nvSpPr>
        <p:spPr>
          <a:xfrm>
            <a:off x="663927" y="197227"/>
            <a:ext cx="4052452" cy="1466349"/>
          </a:xfrm>
        </p:spPr>
        <p:txBody>
          <a:bodyPr/>
          <a:lstStyle/>
          <a:p>
            <a:r>
              <a:rPr lang="en-US" dirty="0"/>
              <a:t>Product or Engine ? </a:t>
            </a:r>
            <a:br>
              <a:rPr lang="en-US" dirty="0"/>
            </a:br>
            <a:r>
              <a:rPr lang="en-US" dirty="0" err="1"/>
              <a:t>Ekko</a:t>
            </a:r>
            <a:r>
              <a:rPr lang="en-US" dirty="0"/>
              <a:t> Variants</a:t>
            </a:r>
          </a:p>
        </p:txBody>
      </p:sp>
      <p:sp>
        <p:nvSpPr>
          <p:cNvPr id="4" name="Rounded Rectangle 3">
            <a:extLst>
              <a:ext uri="{FF2B5EF4-FFF2-40B4-BE49-F238E27FC236}">
                <a16:creationId xmlns:a16="http://schemas.microsoft.com/office/drawing/2014/main" id="{A6F90B7D-1515-2E41-A098-4802DC021DCA}"/>
              </a:ext>
            </a:extLst>
          </p:cNvPr>
          <p:cNvSpPr/>
          <p:nvPr/>
        </p:nvSpPr>
        <p:spPr>
          <a:xfrm flipV="1">
            <a:off x="741095" y="1041420"/>
            <a:ext cx="532638" cy="298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43"/>
              <a:t> </a:t>
            </a:r>
          </a:p>
        </p:txBody>
      </p:sp>
    </p:spTree>
    <p:extLst>
      <p:ext uri="{BB962C8B-B14F-4D97-AF65-F5344CB8AC3E}">
        <p14:creationId xmlns:p14="http://schemas.microsoft.com/office/powerpoint/2010/main" val="880774937"/>
      </p:ext>
    </p:extLst>
  </p:cSld>
  <p:clrMapOvr>
    <a:masterClrMapping/>
  </p:clrMapOvr>
</p:sld>
</file>

<file path=ppt/theme/theme1.xml><?xml version="1.0" encoding="utf-8"?>
<a:theme xmlns:a="http://schemas.openxmlformats.org/drawingml/2006/main" name="Default Theme">
  <a:themeElements>
    <a:clrScheme name="Custom 1">
      <a:dk1>
        <a:srgbClr val="999999"/>
      </a:dk1>
      <a:lt1>
        <a:srgbClr val="FFFFFF"/>
      </a:lt1>
      <a:dk2>
        <a:srgbClr val="494949"/>
      </a:dk2>
      <a:lt2>
        <a:srgbClr val="FFFFFF"/>
      </a:lt2>
      <a:accent1>
        <a:srgbClr val="4C2682"/>
      </a:accent1>
      <a:accent2>
        <a:srgbClr val="60C48A"/>
      </a:accent2>
      <a:accent3>
        <a:srgbClr val="3C7BA6"/>
      </a:accent3>
      <a:accent4>
        <a:srgbClr val="0899B0"/>
      </a:accent4>
      <a:accent5>
        <a:srgbClr val="41505D"/>
      </a:accent5>
      <a:accent6>
        <a:srgbClr val="DBDBDB"/>
      </a:accent6>
      <a:hlink>
        <a:srgbClr val="60C48A"/>
      </a:hlink>
      <a:folHlink>
        <a:srgbClr val="FFC00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efault Theme">
  <a:themeElements>
    <a:clrScheme name="Custom 1">
      <a:dk1>
        <a:srgbClr val="999999"/>
      </a:dk1>
      <a:lt1>
        <a:srgbClr val="FFFFFF"/>
      </a:lt1>
      <a:dk2>
        <a:srgbClr val="494949"/>
      </a:dk2>
      <a:lt2>
        <a:srgbClr val="FFFFFF"/>
      </a:lt2>
      <a:accent1>
        <a:srgbClr val="4C2682"/>
      </a:accent1>
      <a:accent2>
        <a:srgbClr val="60C48A"/>
      </a:accent2>
      <a:accent3>
        <a:srgbClr val="3C7BA6"/>
      </a:accent3>
      <a:accent4>
        <a:srgbClr val="0899B0"/>
      </a:accent4>
      <a:accent5>
        <a:srgbClr val="41505D"/>
      </a:accent5>
      <a:accent6>
        <a:srgbClr val="DBDBDB"/>
      </a:accent6>
      <a:hlink>
        <a:srgbClr val="60C48A"/>
      </a:hlink>
      <a:folHlink>
        <a:srgbClr val="FFC000"/>
      </a:folHlink>
    </a:clrScheme>
    <a:fontScheme name="Custom 50">
      <a:majorFont>
        <a:latin typeface="Montserrat Light"/>
        <a:ea typeface=""/>
        <a:cs typeface=""/>
      </a:majorFont>
      <a:minorFont>
        <a:latin typeface="Open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43135</TotalTime>
  <Words>1661</Words>
  <Application>Microsoft Macintosh PowerPoint</Application>
  <PresentationFormat>A4 Paper (210x297 mm)</PresentationFormat>
  <Paragraphs>745</Paragraphs>
  <Slides>23</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23</vt:i4>
      </vt:variant>
    </vt:vector>
  </HeadingPairs>
  <TitlesOfParts>
    <vt:vector size="33" baseType="lpstr">
      <vt:lpstr>Arial</vt:lpstr>
      <vt:lpstr>Bebas Neue</vt:lpstr>
      <vt:lpstr>Calibri</vt:lpstr>
      <vt:lpstr>Calibri Light</vt:lpstr>
      <vt:lpstr>Montserrat Light</vt:lpstr>
      <vt:lpstr>Open Sans</vt:lpstr>
      <vt:lpstr>Webdings</vt:lpstr>
      <vt:lpstr>Default Theme</vt:lpstr>
      <vt:lpstr>Custom Design</vt:lpstr>
      <vt:lpstr>1_Default Theme</vt:lpstr>
      <vt:lpstr>PowerPoint Presentation</vt:lpstr>
      <vt:lpstr>PowerPoint Presentation</vt:lpstr>
      <vt:lpstr>Principles</vt:lpstr>
      <vt:lpstr>The current proposition</vt:lpstr>
      <vt:lpstr>Benefits</vt:lpstr>
      <vt:lpstr>Strategic Options</vt:lpstr>
      <vt:lpstr>Current Strategic assumptions</vt:lpstr>
      <vt:lpstr>We’ve developed a list of features</vt:lpstr>
      <vt:lpstr>…which we’ve bundled according to 3 main applications</vt:lpstr>
      <vt:lpstr>…but do these bundles make sense ?</vt:lpstr>
      <vt:lpstr>Features do vary in their sophistication</vt:lpstr>
      <vt:lpstr>Perhaps we bundle by sophistication…</vt:lpstr>
      <vt:lpstr>…or develop a version of each feature for each level</vt:lpstr>
      <vt:lpstr>So we combine the two to create different packages</vt:lpstr>
      <vt:lpstr>Price by feature so customers put together their own package</vt:lpstr>
      <vt:lpstr>…or we express the bundles with labels which enable customers to self identify</vt:lpstr>
      <vt:lpstr>…or we assume sophistication correlates with size </vt:lpstr>
      <vt:lpstr>Applying this to segments by size &amp; level</vt:lpstr>
      <vt:lpstr>…or build propositions for each segment</vt:lpstr>
      <vt:lpstr>Ancilliary services should build customer success &amp; upsell</vt:lpstr>
      <vt:lpstr>Naming Structure: Foundation Principles</vt:lpstr>
      <vt:lpstr>Naming Structure</vt:lpstr>
      <vt:lpstr>Product or Engine ?  Ekko Variants</vt:lpstr>
    </vt:vector>
  </TitlesOfParts>
  <Manager/>
  <Company/>
  <LinksUpToDate>false</LinksUpToDate>
  <SharedDoc>false</SharedDoc>
  <HyperlinkBase/>
  <HyperlinksChanged>false</HyperlinksChanged>
  <AppVersion>16.0012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Slidesmash Slides</dc:title>
  <dc:subject/>
  <dc:creator>slidesmash</dc:creator>
  <cp:keywords/>
  <dc:description/>
  <cp:lastModifiedBy>Ben Dunn</cp:lastModifiedBy>
  <cp:revision>5140</cp:revision>
  <cp:lastPrinted>2018-03-20T21:57:22Z</cp:lastPrinted>
  <dcterms:created xsi:type="dcterms:W3CDTF">2014-11-12T21:47:38Z</dcterms:created>
  <dcterms:modified xsi:type="dcterms:W3CDTF">2018-05-14T02:55:29Z</dcterms:modified>
  <cp:category/>
</cp:coreProperties>
</file>